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-197" y="-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24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29999" y="6429374"/>
                </a:moveTo>
                <a:lnTo>
                  <a:pt x="0" y="642937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293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03554" y="801020"/>
            <a:ext cx="2022891" cy="318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7466" y="3118643"/>
            <a:ext cx="4649470" cy="2378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9124" y="1685924"/>
            <a:ext cx="1828800" cy="352425"/>
            <a:chOff x="619124" y="1685924"/>
            <a:chExt cx="1828800" cy="352425"/>
          </a:xfrm>
        </p:grpSpPr>
        <p:sp>
          <p:nvSpPr>
            <p:cNvPr id="3" name="object 3"/>
            <p:cNvSpPr/>
            <p:nvPr/>
          </p:nvSpPr>
          <p:spPr>
            <a:xfrm>
              <a:off x="623887" y="1690687"/>
              <a:ext cx="1819275" cy="342900"/>
            </a:xfrm>
            <a:custGeom>
              <a:avLst/>
              <a:gdLst/>
              <a:ahLst/>
              <a:cxnLst/>
              <a:rect l="l" t="t" r="r" b="b"/>
              <a:pathLst>
                <a:path w="1819275" h="342900">
                  <a:moveTo>
                    <a:pt x="0" y="298043"/>
                  </a:moveTo>
                  <a:lnTo>
                    <a:pt x="0" y="44856"/>
                  </a:lnTo>
                  <a:lnTo>
                    <a:pt x="0" y="38907"/>
                  </a:lnTo>
                  <a:lnTo>
                    <a:pt x="1138" y="33185"/>
                  </a:lnTo>
                  <a:lnTo>
                    <a:pt x="3414" y="27690"/>
                  </a:lnTo>
                  <a:lnTo>
                    <a:pt x="5690" y="22194"/>
                  </a:lnTo>
                  <a:lnTo>
                    <a:pt x="8931" y="17343"/>
                  </a:lnTo>
                  <a:lnTo>
                    <a:pt x="13138" y="13137"/>
                  </a:lnTo>
                  <a:lnTo>
                    <a:pt x="17344" y="8931"/>
                  </a:lnTo>
                  <a:lnTo>
                    <a:pt x="22194" y="5690"/>
                  </a:lnTo>
                  <a:lnTo>
                    <a:pt x="27690" y="3414"/>
                  </a:lnTo>
                  <a:lnTo>
                    <a:pt x="33185" y="1138"/>
                  </a:lnTo>
                  <a:lnTo>
                    <a:pt x="38907" y="0"/>
                  </a:lnTo>
                  <a:lnTo>
                    <a:pt x="44856" y="0"/>
                  </a:lnTo>
                  <a:lnTo>
                    <a:pt x="1774418" y="0"/>
                  </a:lnTo>
                  <a:lnTo>
                    <a:pt x="1780367" y="0"/>
                  </a:lnTo>
                  <a:lnTo>
                    <a:pt x="1786088" y="1138"/>
                  </a:lnTo>
                  <a:lnTo>
                    <a:pt x="1791584" y="3414"/>
                  </a:lnTo>
                  <a:lnTo>
                    <a:pt x="1797079" y="5690"/>
                  </a:lnTo>
                  <a:lnTo>
                    <a:pt x="1801930" y="8931"/>
                  </a:lnTo>
                  <a:lnTo>
                    <a:pt x="1806136" y="13137"/>
                  </a:lnTo>
                  <a:lnTo>
                    <a:pt x="1810342" y="17343"/>
                  </a:lnTo>
                  <a:lnTo>
                    <a:pt x="1819274" y="44856"/>
                  </a:lnTo>
                  <a:lnTo>
                    <a:pt x="1819274" y="298043"/>
                  </a:lnTo>
                  <a:lnTo>
                    <a:pt x="1801930" y="333967"/>
                  </a:lnTo>
                  <a:lnTo>
                    <a:pt x="1791584" y="339485"/>
                  </a:lnTo>
                  <a:lnTo>
                    <a:pt x="1786088" y="341761"/>
                  </a:lnTo>
                  <a:lnTo>
                    <a:pt x="1780367" y="342899"/>
                  </a:lnTo>
                  <a:lnTo>
                    <a:pt x="1774418" y="342899"/>
                  </a:lnTo>
                  <a:lnTo>
                    <a:pt x="44856" y="342899"/>
                  </a:lnTo>
                  <a:lnTo>
                    <a:pt x="38907" y="342899"/>
                  </a:lnTo>
                  <a:lnTo>
                    <a:pt x="33185" y="341761"/>
                  </a:lnTo>
                  <a:lnTo>
                    <a:pt x="27690" y="339485"/>
                  </a:lnTo>
                  <a:lnTo>
                    <a:pt x="22194" y="337209"/>
                  </a:lnTo>
                  <a:lnTo>
                    <a:pt x="3414" y="315209"/>
                  </a:lnTo>
                  <a:lnTo>
                    <a:pt x="1138" y="309713"/>
                  </a:lnTo>
                  <a:lnTo>
                    <a:pt x="0" y="303992"/>
                  </a:lnTo>
                  <a:lnTo>
                    <a:pt x="0" y="298043"/>
                  </a:lnTo>
                  <a:close/>
                </a:path>
              </a:pathLst>
            </a:custGeom>
            <a:ln w="9524">
              <a:solidFill>
                <a:srgbClr val="494F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0286" y="1798575"/>
              <a:ext cx="147961" cy="125933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935781" y="1741042"/>
            <a:ext cx="141160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45" dirty="0">
                <a:solidFill>
                  <a:srgbClr val="494FBC"/>
                </a:solidFill>
                <a:latin typeface="Tahoma"/>
                <a:cs typeface="Tahoma"/>
              </a:rPr>
              <a:t>ACADEMIC</a:t>
            </a:r>
            <a:r>
              <a:rPr sz="1100" spc="-60" dirty="0">
                <a:solidFill>
                  <a:srgbClr val="494FBC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494FBC"/>
                </a:solidFill>
                <a:latin typeface="Tahoma"/>
                <a:cs typeface="Tahoma"/>
              </a:rPr>
              <a:t>PROJECT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34220" y="2087467"/>
            <a:ext cx="5974715" cy="557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450" spc="-135" dirty="0"/>
              <a:t>Fake</a:t>
            </a:r>
            <a:r>
              <a:rPr sz="3450" spc="-350" dirty="0"/>
              <a:t> </a:t>
            </a:r>
            <a:r>
              <a:rPr sz="3450" spc="-90" dirty="0"/>
              <a:t>News</a:t>
            </a:r>
            <a:r>
              <a:rPr sz="3450" spc="-345" dirty="0"/>
              <a:t> </a:t>
            </a:r>
            <a:r>
              <a:rPr sz="3450" spc="-145" dirty="0"/>
              <a:t>Detection</a:t>
            </a:r>
            <a:r>
              <a:rPr sz="3450" spc="-345" dirty="0"/>
              <a:t> </a:t>
            </a:r>
            <a:r>
              <a:rPr sz="3450" spc="-35" dirty="0"/>
              <a:t>System</a:t>
            </a:r>
            <a:endParaRPr sz="3450"/>
          </a:p>
        </p:txBody>
      </p:sp>
      <p:sp>
        <p:nvSpPr>
          <p:cNvPr id="7" name="object 7"/>
          <p:cNvSpPr txBox="1"/>
          <p:nvPr/>
        </p:nvSpPr>
        <p:spPr>
          <a:xfrm>
            <a:off x="2850008" y="2947193"/>
            <a:ext cx="573341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65" dirty="0">
                <a:solidFill>
                  <a:srgbClr val="FFFFFF"/>
                </a:solidFill>
                <a:latin typeface="Tahoma"/>
                <a:cs typeface="Tahoma"/>
              </a:rPr>
              <a:t>Using</a:t>
            </a:r>
            <a:r>
              <a:rPr sz="175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FFFFFF"/>
                </a:solidFill>
                <a:latin typeface="Tahoma"/>
                <a:cs typeface="Tahoma"/>
              </a:rPr>
              <a:t>Machine</a:t>
            </a:r>
            <a:r>
              <a:rPr sz="175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FFFFFF"/>
                </a:solidFill>
                <a:latin typeface="Tahoma"/>
                <a:cs typeface="Tahoma"/>
              </a:rPr>
              <a:t>Learning</a:t>
            </a:r>
            <a:r>
              <a:rPr sz="175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50" spc="-65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75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FFFFFF"/>
                </a:solidFill>
                <a:latin typeface="Tahoma"/>
                <a:cs typeface="Tahoma"/>
              </a:rPr>
              <a:t>Natural</a:t>
            </a:r>
            <a:r>
              <a:rPr sz="175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FFFFFF"/>
                </a:solidFill>
                <a:latin typeface="Tahoma"/>
                <a:cs typeface="Tahoma"/>
              </a:rPr>
              <a:t>Language</a:t>
            </a:r>
            <a:r>
              <a:rPr sz="175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FFFFFF"/>
                </a:solidFill>
                <a:latin typeface="Tahoma"/>
                <a:cs typeface="Tahoma"/>
              </a:rPr>
              <a:t>Processing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9124" y="3568552"/>
            <a:ext cx="10191750" cy="28575"/>
            <a:chOff x="619124" y="3568552"/>
            <a:chExt cx="10191750" cy="28575"/>
          </a:xfrm>
        </p:grpSpPr>
        <p:sp>
          <p:nvSpPr>
            <p:cNvPr id="9" name="object 9"/>
            <p:cNvSpPr/>
            <p:nvPr/>
          </p:nvSpPr>
          <p:spPr>
            <a:xfrm>
              <a:off x="619124" y="3568552"/>
              <a:ext cx="10191750" cy="28575"/>
            </a:xfrm>
            <a:custGeom>
              <a:avLst/>
              <a:gdLst/>
              <a:ahLst/>
              <a:cxnLst/>
              <a:rect l="l" t="t" r="r" b="b"/>
              <a:pathLst>
                <a:path w="10191750" h="28575">
                  <a:moveTo>
                    <a:pt x="10191749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10191749" y="0"/>
                  </a:lnTo>
                  <a:lnTo>
                    <a:pt x="10191749" y="28574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9124" y="3587602"/>
              <a:ext cx="10191750" cy="9525"/>
            </a:xfrm>
            <a:custGeom>
              <a:avLst/>
              <a:gdLst/>
              <a:ahLst/>
              <a:cxnLst/>
              <a:rect l="l" t="t" r="r" b="b"/>
              <a:pathLst>
                <a:path w="10191750" h="9525">
                  <a:moveTo>
                    <a:pt x="101917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0191749" y="0"/>
                  </a:lnTo>
                  <a:lnTo>
                    <a:pt x="10191749" y="9524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19124" y="3800474"/>
            <a:ext cx="2419350" cy="952500"/>
            <a:chOff x="619124" y="3800474"/>
            <a:chExt cx="2419350" cy="952500"/>
          </a:xfrm>
        </p:grpSpPr>
        <p:sp>
          <p:nvSpPr>
            <p:cNvPr id="12" name="object 12"/>
            <p:cNvSpPr/>
            <p:nvPr/>
          </p:nvSpPr>
          <p:spPr>
            <a:xfrm>
              <a:off x="628649" y="3809999"/>
              <a:ext cx="2400300" cy="933450"/>
            </a:xfrm>
            <a:custGeom>
              <a:avLst/>
              <a:gdLst/>
              <a:ahLst/>
              <a:cxnLst/>
              <a:rect l="l" t="t" r="r" b="b"/>
              <a:pathLst>
                <a:path w="2400300" h="933450">
                  <a:moveTo>
                    <a:pt x="2351248" y="933449"/>
                  </a:moveTo>
                  <a:lnTo>
                    <a:pt x="49051" y="933449"/>
                  </a:lnTo>
                  <a:lnTo>
                    <a:pt x="45637" y="933113"/>
                  </a:lnTo>
                  <a:lnTo>
                    <a:pt x="10762" y="912983"/>
                  </a:lnTo>
                  <a:lnTo>
                    <a:pt x="0" y="884398"/>
                  </a:lnTo>
                  <a:lnTo>
                    <a:pt x="0" y="880951"/>
                  </a:lnTo>
                  <a:lnTo>
                    <a:pt x="0" y="49051"/>
                  </a:lnTo>
                  <a:lnTo>
                    <a:pt x="17813" y="12938"/>
                  </a:lnTo>
                  <a:lnTo>
                    <a:pt x="49051" y="0"/>
                  </a:lnTo>
                  <a:lnTo>
                    <a:pt x="2351248" y="0"/>
                  </a:lnTo>
                  <a:lnTo>
                    <a:pt x="2387360" y="17813"/>
                  </a:lnTo>
                  <a:lnTo>
                    <a:pt x="2400299" y="49051"/>
                  </a:lnTo>
                  <a:lnTo>
                    <a:pt x="2400299" y="884398"/>
                  </a:lnTo>
                  <a:lnTo>
                    <a:pt x="2382485" y="920510"/>
                  </a:lnTo>
                  <a:lnTo>
                    <a:pt x="2354662" y="933113"/>
                  </a:lnTo>
                  <a:lnTo>
                    <a:pt x="2351248" y="9334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8649" y="3809999"/>
              <a:ext cx="2400300" cy="933450"/>
            </a:xfrm>
            <a:custGeom>
              <a:avLst/>
              <a:gdLst/>
              <a:ahLst/>
              <a:cxnLst/>
              <a:rect l="l" t="t" r="r" b="b"/>
              <a:pathLst>
                <a:path w="2400300" h="933450">
                  <a:moveTo>
                    <a:pt x="0" y="880951"/>
                  </a:moveTo>
                  <a:lnTo>
                    <a:pt x="0" y="52498"/>
                  </a:lnTo>
                  <a:lnTo>
                    <a:pt x="0" y="49051"/>
                  </a:lnTo>
                  <a:lnTo>
                    <a:pt x="336" y="45637"/>
                  </a:lnTo>
                  <a:lnTo>
                    <a:pt x="15376" y="15376"/>
                  </a:lnTo>
                  <a:lnTo>
                    <a:pt x="17813" y="12938"/>
                  </a:lnTo>
                  <a:lnTo>
                    <a:pt x="42256" y="1008"/>
                  </a:lnTo>
                  <a:lnTo>
                    <a:pt x="45637" y="336"/>
                  </a:lnTo>
                  <a:lnTo>
                    <a:pt x="49051" y="0"/>
                  </a:lnTo>
                  <a:lnTo>
                    <a:pt x="52498" y="0"/>
                  </a:lnTo>
                  <a:lnTo>
                    <a:pt x="2347801" y="0"/>
                  </a:lnTo>
                  <a:lnTo>
                    <a:pt x="2351248" y="0"/>
                  </a:lnTo>
                  <a:lnTo>
                    <a:pt x="2354662" y="336"/>
                  </a:lnTo>
                  <a:lnTo>
                    <a:pt x="2376967" y="8847"/>
                  </a:lnTo>
                  <a:lnTo>
                    <a:pt x="2379833" y="10762"/>
                  </a:lnTo>
                  <a:lnTo>
                    <a:pt x="2399290" y="42256"/>
                  </a:lnTo>
                  <a:lnTo>
                    <a:pt x="2399963" y="45637"/>
                  </a:lnTo>
                  <a:lnTo>
                    <a:pt x="2400299" y="49051"/>
                  </a:lnTo>
                  <a:lnTo>
                    <a:pt x="2400299" y="52498"/>
                  </a:lnTo>
                  <a:lnTo>
                    <a:pt x="2400299" y="880951"/>
                  </a:lnTo>
                  <a:lnTo>
                    <a:pt x="2400299" y="884398"/>
                  </a:lnTo>
                  <a:lnTo>
                    <a:pt x="2399963" y="887812"/>
                  </a:lnTo>
                  <a:lnTo>
                    <a:pt x="2399290" y="891193"/>
                  </a:lnTo>
                  <a:lnTo>
                    <a:pt x="2398618" y="894574"/>
                  </a:lnTo>
                  <a:lnTo>
                    <a:pt x="2391451" y="910117"/>
                  </a:lnTo>
                  <a:lnTo>
                    <a:pt x="2389536" y="912983"/>
                  </a:lnTo>
                  <a:lnTo>
                    <a:pt x="2376967" y="924601"/>
                  </a:lnTo>
                  <a:lnTo>
                    <a:pt x="2374101" y="926517"/>
                  </a:lnTo>
                  <a:lnTo>
                    <a:pt x="2371075" y="928134"/>
                  </a:lnTo>
                  <a:lnTo>
                    <a:pt x="2367891" y="929453"/>
                  </a:lnTo>
                  <a:lnTo>
                    <a:pt x="2364706" y="930772"/>
                  </a:lnTo>
                  <a:lnTo>
                    <a:pt x="2361424" y="931768"/>
                  </a:lnTo>
                  <a:lnTo>
                    <a:pt x="2358043" y="932440"/>
                  </a:lnTo>
                  <a:lnTo>
                    <a:pt x="2354662" y="933113"/>
                  </a:lnTo>
                  <a:lnTo>
                    <a:pt x="2351248" y="933449"/>
                  </a:lnTo>
                  <a:lnTo>
                    <a:pt x="2347801" y="933449"/>
                  </a:lnTo>
                  <a:lnTo>
                    <a:pt x="52498" y="933449"/>
                  </a:lnTo>
                  <a:lnTo>
                    <a:pt x="49051" y="933449"/>
                  </a:lnTo>
                  <a:lnTo>
                    <a:pt x="45637" y="933113"/>
                  </a:lnTo>
                  <a:lnTo>
                    <a:pt x="42256" y="932440"/>
                  </a:lnTo>
                  <a:lnTo>
                    <a:pt x="38875" y="931768"/>
                  </a:lnTo>
                  <a:lnTo>
                    <a:pt x="35592" y="930772"/>
                  </a:lnTo>
                  <a:lnTo>
                    <a:pt x="32407" y="929453"/>
                  </a:lnTo>
                  <a:lnTo>
                    <a:pt x="29223" y="928134"/>
                  </a:lnTo>
                  <a:lnTo>
                    <a:pt x="26197" y="926517"/>
                  </a:lnTo>
                  <a:lnTo>
                    <a:pt x="23331" y="924601"/>
                  </a:lnTo>
                  <a:lnTo>
                    <a:pt x="20465" y="922686"/>
                  </a:lnTo>
                  <a:lnTo>
                    <a:pt x="336" y="887812"/>
                  </a:lnTo>
                  <a:lnTo>
                    <a:pt x="0" y="884398"/>
                  </a:lnTo>
                  <a:lnTo>
                    <a:pt x="0" y="880951"/>
                  </a:lnTo>
                  <a:close/>
                </a:path>
              </a:pathLst>
            </a:custGeom>
            <a:ln w="19049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03622" y="3927982"/>
            <a:ext cx="1761489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100"/>
              </a:spcBef>
            </a:pPr>
            <a:r>
              <a:rPr sz="1400" b="1" spc="-75" dirty="0">
                <a:solidFill>
                  <a:srgbClr val="FFFFFF"/>
                </a:solidFill>
                <a:latin typeface="Tahoma"/>
                <a:cs typeface="Tahoma"/>
              </a:rPr>
              <a:t>Submitted</a:t>
            </a:r>
            <a:r>
              <a:rPr sz="14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Tahoma"/>
                <a:cs typeface="Tahoma"/>
              </a:rPr>
              <a:t>By:</a:t>
            </a:r>
            <a:r>
              <a:rPr sz="14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Krunal Goswami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209924" y="3800474"/>
            <a:ext cx="2419350" cy="952500"/>
            <a:chOff x="3209924" y="3800474"/>
            <a:chExt cx="2419350" cy="952500"/>
          </a:xfrm>
        </p:grpSpPr>
        <p:sp>
          <p:nvSpPr>
            <p:cNvPr id="16" name="object 16"/>
            <p:cNvSpPr/>
            <p:nvPr/>
          </p:nvSpPr>
          <p:spPr>
            <a:xfrm>
              <a:off x="3219449" y="3809999"/>
              <a:ext cx="2400300" cy="933450"/>
            </a:xfrm>
            <a:custGeom>
              <a:avLst/>
              <a:gdLst/>
              <a:ahLst/>
              <a:cxnLst/>
              <a:rect l="l" t="t" r="r" b="b"/>
              <a:pathLst>
                <a:path w="2400300" h="933450">
                  <a:moveTo>
                    <a:pt x="2351248" y="933449"/>
                  </a:moveTo>
                  <a:lnTo>
                    <a:pt x="49051" y="933449"/>
                  </a:lnTo>
                  <a:lnTo>
                    <a:pt x="45637" y="933113"/>
                  </a:lnTo>
                  <a:lnTo>
                    <a:pt x="10762" y="912983"/>
                  </a:lnTo>
                  <a:lnTo>
                    <a:pt x="0" y="884398"/>
                  </a:lnTo>
                  <a:lnTo>
                    <a:pt x="0" y="880951"/>
                  </a:lnTo>
                  <a:lnTo>
                    <a:pt x="0" y="49051"/>
                  </a:lnTo>
                  <a:lnTo>
                    <a:pt x="17813" y="12938"/>
                  </a:lnTo>
                  <a:lnTo>
                    <a:pt x="49051" y="0"/>
                  </a:lnTo>
                  <a:lnTo>
                    <a:pt x="2351248" y="0"/>
                  </a:lnTo>
                  <a:lnTo>
                    <a:pt x="2387360" y="17813"/>
                  </a:lnTo>
                  <a:lnTo>
                    <a:pt x="2400300" y="49051"/>
                  </a:lnTo>
                  <a:lnTo>
                    <a:pt x="2400300" y="884398"/>
                  </a:lnTo>
                  <a:lnTo>
                    <a:pt x="2382485" y="920510"/>
                  </a:lnTo>
                  <a:lnTo>
                    <a:pt x="2354662" y="933113"/>
                  </a:lnTo>
                  <a:lnTo>
                    <a:pt x="2351248" y="9334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19449" y="3809999"/>
              <a:ext cx="2400300" cy="933450"/>
            </a:xfrm>
            <a:custGeom>
              <a:avLst/>
              <a:gdLst/>
              <a:ahLst/>
              <a:cxnLst/>
              <a:rect l="l" t="t" r="r" b="b"/>
              <a:pathLst>
                <a:path w="2400300" h="933450">
                  <a:moveTo>
                    <a:pt x="0" y="880951"/>
                  </a:moveTo>
                  <a:lnTo>
                    <a:pt x="0" y="52498"/>
                  </a:lnTo>
                  <a:lnTo>
                    <a:pt x="0" y="49051"/>
                  </a:lnTo>
                  <a:lnTo>
                    <a:pt x="336" y="45637"/>
                  </a:lnTo>
                  <a:lnTo>
                    <a:pt x="1008" y="42256"/>
                  </a:lnTo>
                  <a:lnTo>
                    <a:pt x="1681" y="38875"/>
                  </a:lnTo>
                  <a:lnTo>
                    <a:pt x="2677" y="35592"/>
                  </a:lnTo>
                  <a:lnTo>
                    <a:pt x="3996" y="32407"/>
                  </a:lnTo>
                  <a:lnTo>
                    <a:pt x="5315" y="29222"/>
                  </a:lnTo>
                  <a:lnTo>
                    <a:pt x="15376" y="15376"/>
                  </a:lnTo>
                  <a:lnTo>
                    <a:pt x="17813" y="12938"/>
                  </a:lnTo>
                  <a:lnTo>
                    <a:pt x="42256" y="1008"/>
                  </a:lnTo>
                  <a:lnTo>
                    <a:pt x="45637" y="336"/>
                  </a:lnTo>
                  <a:lnTo>
                    <a:pt x="49051" y="0"/>
                  </a:lnTo>
                  <a:lnTo>
                    <a:pt x="52498" y="0"/>
                  </a:lnTo>
                  <a:lnTo>
                    <a:pt x="2347801" y="0"/>
                  </a:lnTo>
                  <a:lnTo>
                    <a:pt x="2351248" y="0"/>
                  </a:lnTo>
                  <a:lnTo>
                    <a:pt x="2354662" y="336"/>
                  </a:lnTo>
                  <a:lnTo>
                    <a:pt x="2389536" y="20465"/>
                  </a:lnTo>
                  <a:lnTo>
                    <a:pt x="2399290" y="42256"/>
                  </a:lnTo>
                  <a:lnTo>
                    <a:pt x="2399963" y="45637"/>
                  </a:lnTo>
                  <a:lnTo>
                    <a:pt x="2400300" y="49051"/>
                  </a:lnTo>
                  <a:lnTo>
                    <a:pt x="2400300" y="52498"/>
                  </a:lnTo>
                  <a:lnTo>
                    <a:pt x="2400300" y="880951"/>
                  </a:lnTo>
                  <a:lnTo>
                    <a:pt x="2400300" y="884398"/>
                  </a:lnTo>
                  <a:lnTo>
                    <a:pt x="2399963" y="887812"/>
                  </a:lnTo>
                  <a:lnTo>
                    <a:pt x="2399290" y="891193"/>
                  </a:lnTo>
                  <a:lnTo>
                    <a:pt x="2398618" y="894574"/>
                  </a:lnTo>
                  <a:lnTo>
                    <a:pt x="2397622" y="897856"/>
                  </a:lnTo>
                  <a:lnTo>
                    <a:pt x="2396303" y="901041"/>
                  </a:lnTo>
                  <a:lnTo>
                    <a:pt x="2394984" y="904226"/>
                  </a:lnTo>
                  <a:lnTo>
                    <a:pt x="2376967" y="924601"/>
                  </a:lnTo>
                  <a:lnTo>
                    <a:pt x="2374101" y="926517"/>
                  </a:lnTo>
                  <a:lnTo>
                    <a:pt x="2371075" y="928134"/>
                  </a:lnTo>
                  <a:lnTo>
                    <a:pt x="2367890" y="929453"/>
                  </a:lnTo>
                  <a:lnTo>
                    <a:pt x="2364705" y="930772"/>
                  </a:lnTo>
                  <a:lnTo>
                    <a:pt x="2361423" y="931768"/>
                  </a:lnTo>
                  <a:lnTo>
                    <a:pt x="2358042" y="932440"/>
                  </a:lnTo>
                  <a:lnTo>
                    <a:pt x="2354662" y="933113"/>
                  </a:lnTo>
                  <a:lnTo>
                    <a:pt x="2351248" y="933449"/>
                  </a:lnTo>
                  <a:lnTo>
                    <a:pt x="2347801" y="933449"/>
                  </a:lnTo>
                  <a:lnTo>
                    <a:pt x="52498" y="933449"/>
                  </a:lnTo>
                  <a:lnTo>
                    <a:pt x="49051" y="933449"/>
                  </a:lnTo>
                  <a:lnTo>
                    <a:pt x="45637" y="933113"/>
                  </a:lnTo>
                  <a:lnTo>
                    <a:pt x="42256" y="932440"/>
                  </a:lnTo>
                  <a:lnTo>
                    <a:pt x="38875" y="931768"/>
                  </a:lnTo>
                  <a:lnTo>
                    <a:pt x="35592" y="930772"/>
                  </a:lnTo>
                  <a:lnTo>
                    <a:pt x="32408" y="929453"/>
                  </a:lnTo>
                  <a:lnTo>
                    <a:pt x="29223" y="928134"/>
                  </a:lnTo>
                  <a:lnTo>
                    <a:pt x="26198" y="926517"/>
                  </a:lnTo>
                  <a:lnTo>
                    <a:pt x="23331" y="924601"/>
                  </a:lnTo>
                  <a:lnTo>
                    <a:pt x="20465" y="922686"/>
                  </a:lnTo>
                  <a:lnTo>
                    <a:pt x="3996" y="901041"/>
                  </a:lnTo>
                  <a:lnTo>
                    <a:pt x="2677" y="897856"/>
                  </a:lnTo>
                  <a:lnTo>
                    <a:pt x="1681" y="894574"/>
                  </a:lnTo>
                  <a:lnTo>
                    <a:pt x="1008" y="891193"/>
                  </a:lnTo>
                  <a:lnTo>
                    <a:pt x="336" y="887812"/>
                  </a:lnTo>
                  <a:lnTo>
                    <a:pt x="0" y="884398"/>
                  </a:lnTo>
                  <a:lnTo>
                    <a:pt x="0" y="880951"/>
                  </a:lnTo>
                  <a:close/>
                </a:path>
              </a:pathLst>
            </a:custGeom>
            <a:ln w="19049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395315" y="3927982"/>
            <a:ext cx="142811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100"/>
              </a:spcBef>
            </a:pPr>
            <a:r>
              <a:rPr sz="1400" b="1" spc="-30" dirty="0">
                <a:solidFill>
                  <a:srgbClr val="FFFFFF"/>
                </a:solidFill>
                <a:latin typeface="Tahoma"/>
                <a:cs typeface="Tahoma"/>
              </a:rPr>
              <a:t>Course:</a:t>
            </a:r>
            <a:r>
              <a:rPr sz="14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Tahoma"/>
                <a:cs typeface="Tahoma"/>
              </a:rPr>
              <a:t>Machine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Learning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00724" y="3800474"/>
            <a:ext cx="2419350" cy="952500"/>
            <a:chOff x="5800724" y="3800474"/>
            <a:chExt cx="2419350" cy="952500"/>
          </a:xfrm>
        </p:grpSpPr>
        <p:sp>
          <p:nvSpPr>
            <p:cNvPr id="20" name="object 20"/>
            <p:cNvSpPr/>
            <p:nvPr/>
          </p:nvSpPr>
          <p:spPr>
            <a:xfrm>
              <a:off x="5810249" y="3809999"/>
              <a:ext cx="2400300" cy="933450"/>
            </a:xfrm>
            <a:custGeom>
              <a:avLst/>
              <a:gdLst/>
              <a:ahLst/>
              <a:cxnLst/>
              <a:rect l="l" t="t" r="r" b="b"/>
              <a:pathLst>
                <a:path w="2400300" h="933450">
                  <a:moveTo>
                    <a:pt x="2351248" y="933449"/>
                  </a:moveTo>
                  <a:lnTo>
                    <a:pt x="49051" y="933449"/>
                  </a:lnTo>
                  <a:lnTo>
                    <a:pt x="45636" y="933113"/>
                  </a:lnTo>
                  <a:lnTo>
                    <a:pt x="10762" y="912983"/>
                  </a:lnTo>
                  <a:lnTo>
                    <a:pt x="0" y="884398"/>
                  </a:lnTo>
                  <a:lnTo>
                    <a:pt x="0" y="880951"/>
                  </a:lnTo>
                  <a:lnTo>
                    <a:pt x="0" y="49051"/>
                  </a:lnTo>
                  <a:lnTo>
                    <a:pt x="17813" y="12938"/>
                  </a:lnTo>
                  <a:lnTo>
                    <a:pt x="49051" y="0"/>
                  </a:lnTo>
                  <a:lnTo>
                    <a:pt x="2351248" y="0"/>
                  </a:lnTo>
                  <a:lnTo>
                    <a:pt x="2387360" y="17813"/>
                  </a:lnTo>
                  <a:lnTo>
                    <a:pt x="2400299" y="49051"/>
                  </a:lnTo>
                  <a:lnTo>
                    <a:pt x="2400299" y="884398"/>
                  </a:lnTo>
                  <a:lnTo>
                    <a:pt x="2382485" y="920510"/>
                  </a:lnTo>
                  <a:lnTo>
                    <a:pt x="2354661" y="933113"/>
                  </a:lnTo>
                  <a:lnTo>
                    <a:pt x="2351248" y="9334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10249" y="3809999"/>
              <a:ext cx="2400300" cy="933450"/>
            </a:xfrm>
            <a:custGeom>
              <a:avLst/>
              <a:gdLst/>
              <a:ahLst/>
              <a:cxnLst/>
              <a:rect l="l" t="t" r="r" b="b"/>
              <a:pathLst>
                <a:path w="2400300" h="933450">
                  <a:moveTo>
                    <a:pt x="0" y="880951"/>
                  </a:moveTo>
                  <a:lnTo>
                    <a:pt x="0" y="52498"/>
                  </a:lnTo>
                  <a:lnTo>
                    <a:pt x="0" y="49051"/>
                  </a:lnTo>
                  <a:lnTo>
                    <a:pt x="336" y="45637"/>
                  </a:lnTo>
                  <a:lnTo>
                    <a:pt x="1008" y="42256"/>
                  </a:lnTo>
                  <a:lnTo>
                    <a:pt x="1680" y="38875"/>
                  </a:lnTo>
                  <a:lnTo>
                    <a:pt x="2676" y="35592"/>
                  </a:lnTo>
                  <a:lnTo>
                    <a:pt x="29222" y="5314"/>
                  </a:lnTo>
                  <a:lnTo>
                    <a:pt x="42256" y="1008"/>
                  </a:lnTo>
                  <a:lnTo>
                    <a:pt x="45636" y="336"/>
                  </a:lnTo>
                  <a:lnTo>
                    <a:pt x="49051" y="0"/>
                  </a:lnTo>
                  <a:lnTo>
                    <a:pt x="52498" y="0"/>
                  </a:lnTo>
                  <a:lnTo>
                    <a:pt x="2347801" y="0"/>
                  </a:lnTo>
                  <a:lnTo>
                    <a:pt x="2351248" y="0"/>
                  </a:lnTo>
                  <a:lnTo>
                    <a:pt x="2354661" y="336"/>
                  </a:lnTo>
                  <a:lnTo>
                    <a:pt x="2358042" y="1008"/>
                  </a:lnTo>
                  <a:lnTo>
                    <a:pt x="2361423" y="1680"/>
                  </a:lnTo>
                  <a:lnTo>
                    <a:pt x="2364706" y="2676"/>
                  </a:lnTo>
                  <a:lnTo>
                    <a:pt x="2367890" y="3995"/>
                  </a:lnTo>
                  <a:lnTo>
                    <a:pt x="2371075" y="5314"/>
                  </a:lnTo>
                  <a:lnTo>
                    <a:pt x="2374100" y="6931"/>
                  </a:lnTo>
                  <a:lnTo>
                    <a:pt x="2376966" y="8847"/>
                  </a:lnTo>
                  <a:lnTo>
                    <a:pt x="2379833" y="10762"/>
                  </a:lnTo>
                  <a:lnTo>
                    <a:pt x="2391450" y="23331"/>
                  </a:lnTo>
                  <a:lnTo>
                    <a:pt x="2393366" y="26197"/>
                  </a:lnTo>
                  <a:lnTo>
                    <a:pt x="2399290" y="42256"/>
                  </a:lnTo>
                  <a:lnTo>
                    <a:pt x="2399963" y="45637"/>
                  </a:lnTo>
                  <a:lnTo>
                    <a:pt x="2400299" y="49051"/>
                  </a:lnTo>
                  <a:lnTo>
                    <a:pt x="2400299" y="52498"/>
                  </a:lnTo>
                  <a:lnTo>
                    <a:pt x="2400299" y="880951"/>
                  </a:lnTo>
                  <a:lnTo>
                    <a:pt x="2400299" y="884398"/>
                  </a:lnTo>
                  <a:lnTo>
                    <a:pt x="2399963" y="887812"/>
                  </a:lnTo>
                  <a:lnTo>
                    <a:pt x="2399290" y="891193"/>
                  </a:lnTo>
                  <a:lnTo>
                    <a:pt x="2398617" y="894574"/>
                  </a:lnTo>
                  <a:lnTo>
                    <a:pt x="2391451" y="910117"/>
                  </a:lnTo>
                  <a:lnTo>
                    <a:pt x="2389536" y="912983"/>
                  </a:lnTo>
                  <a:lnTo>
                    <a:pt x="2376966" y="924601"/>
                  </a:lnTo>
                  <a:lnTo>
                    <a:pt x="2374100" y="926517"/>
                  </a:lnTo>
                  <a:lnTo>
                    <a:pt x="2371075" y="928134"/>
                  </a:lnTo>
                  <a:lnTo>
                    <a:pt x="2367890" y="929453"/>
                  </a:lnTo>
                  <a:lnTo>
                    <a:pt x="2364706" y="930772"/>
                  </a:lnTo>
                  <a:lnTo>
                    <a:pt x="2361423" y="931768"/>
                  </a:lnTo>
                  <a:lnTo>
                    <a:pt x="2358041" y="932440"/>
                  </a:lnTo>
                  <a:lnTo>
                    <a:pt x="2354661" y="933113"/>
                  </a:lnTo>
                  <a:lnTo>
                    <a:pt x="2351248" y="933449"/>
                  </a:lnTo>
                  <a:lnTo>
                    <a:pt x="2347801" y="933449"/>
                  </a:lnTo>
                  <a:lnTo>
                    <a:pt x="52498" y="933449"/>
                  </a:lnTo>
                  <a:lnTo>
                    <a:pt x="49051" y="933449"/>
                  </a:lnTo>
                  <a:lnTo>
                    <a:pt x="45636" y="933113"/>
                  </a:lnTo>
                  <a:lnTo>
                    <a:pt x="42256" y="932440"/>
                  </a:lnTo>
                  <a:lnTo>
                    <a:pt x="38875" y="931768"/>
                  </a:lnTo>
                  <a:lnTo>
                    <a:pt x="35592" y="930772"/>
                  </a:lnTo>
                  <a:lnTo>
                    <a:pt x="32407" y="929453"/>
                  </a:lnTo>
                  <a:lnTo>
                    <a:pt x="29222" y="928134"/>
                  </a:lnTo>
                  <a:lnTo>
                    <a:pt x="26197" y="926517"/>
                  </a:lnTo>
                  <a:lnTo>
                    <a:pt x="23331" y="924601"/>
                  </a:lnTo>
                  <a:lnTo>
                    <a:pt x="20465" y="922686"/>
                  </a:lnTo>
                  <a:lnTo>
                    <a:pt x="1008" y="891193"/>
                  </a:lnTo>
                  <a:lnTo>
                    <a:pt x="336" y="887812"/>
                  </a:lnTo>
                  <a:lnTo>
                    <a:pt x="0" y="884398"/>
                  </a:lnTo>
                  <a:lnTo>
                    <a:pt x="0" y="880951"/>
                  </a:lnTo>
                  <a:close/>
                </a:path>
              </a:pathLst>
            </a:custGeom>
            <a:ln w="19049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987007" y="3927982"/>
            <a:ext cx="192786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100"/>
              </a:spcBef>
            </a:pPr>
            <a:r>
              <a:rPr sz="1400" b="1" spc="-75" dirty="0">
                <a:solidFill>
                  <a:srgbClr val="FFFFFF"/>
                </a:solidFill>
                <a:latin typeface="Tahoma"/>
                <a:cs typeface="Tahoma"/>
              </a:rPr>
              <a:t>Submitted</a:t>
            </a:r>
            <a:r>
              <a:rPr sz="1400" b="1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To:</a:t>
            </a:r>
            <a:r>
              <a:rPr sz="14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(Digvijay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Dinkar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Bhosale)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391523" y="3800474"/>
            <a:ext cx="2419350" cy="952500"/>
            <a:chOff x="8391523" y="3800474"/>
            <a:chExt cx="2419350" cy="952500"/>
          </a:xfrm>
        </p:grpSpPr>
        <p:sp>
          <p:nvSpPr>
            <p:cNvPr id="24" name="object 24"/>
            <p:cNvSpPr/>
            <p:nvPr/>
          </p:nvSpPr>
          <p:spPr>
            <a:xfrm>
              <a:off x="8401048" y="3809999"/>
              <a:ext cx="2400300" cy="933450"/>
            </a:xfrm>
            <a:custGeom>
              <a:avLst/>
              <a:gdLst/>
              <a:ahLst/>
              <a:cxnLst/>
              <a:rect l="l" t="t" r="r" b="b"/>
              <a:pathLst>
                <a:path w="2400300" h="933450">
                  <a:moveTo>
                    <a:pt x="2351249" y="933449"/>
                  </a:moveTo>
                  <a:lnTo>
                    <a:pt x="49052" y="933449"/>
                  </a:lnTo>
                  <a:lnTo>
                    <a:pt x="45637" y="933113"/>
                  </a:lnTo>
                  <a:lnTo>
                    <a:pt x="10762" y="912983"/>
                  </a:lnTo>
                  <a:lnTo>
                    <a:pt x="0" y="884398"/>
                  </a:lnTo>
                  <a:lnTo>
                    <a:pt x="0" y="880951"/>
                  </a:lnTo>
                  <a:lnTo>
                    <a:pt x="0" y="49051"/>
                  </a:lnTo>
                  <a:lnTo>
                    <a:pt x="17814" y="12938"/>
                  </a:lnTo>
                  <a:lnTo>
                    <a:pt x="49052" y="0"/>
                  </a:lnTo>
                  <a:lnTo>
                    <a:pt x="2351249" y="0"/>
                  </a:lnTo>
                  <a:lnTo>
                    <a:pt x="2387360" y="17813"/>
                  </a:lnTo>
                  <a:lnTo>
                    <a:pt x="2400300" y="49051"/>
                  </a:lnTo>
                  <a:lnTo>
                    <a:pt x="2400300" y="884398"/>
                  </a:lnTo>
                  <a:lnTo>
                    <a:pt x="2382485" y="920510"/>
                  </a:lnTo>
                  <a:lnTo>
                    <a:pt x="2354662" y="933113"/>
                  </a:lnTo>
                  <a:lnTo>
                    <a:pt x="2351249" y="9334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01048" y="3809999"/>
              <a:ext cx="2400300" cy="933450"/>
            </a:xfrm>
            <a:custGeom>
              <a:avLst/>
              <a:gdLst/>
              <a:ahLst/>
              <a:cxnLst/>
              <a:rect l="l" t="t" r="r" b="b"/>
              <a:pathLst>
                <a:path w="2400300" h="933450">
                  <a:moveTo>
                    <a:pt x="0" y="880951"/>
                  </a:moveTo>
                  <a:lnTo>
                    <a:pt x="0" y="52498"/>
                  </a:lnTo>
                  <a:lnTo>
                    <a:pt x="0" y="49051"/>
                  </a:lnTo>
                  <a:lnTo>
                    <a:pt x="336" y="45637"/>
                  </a:lnTo>
                  <a:lnTo>
                    <a:pt x="1008" y="42256"/>
                  </a:lnTo>
                  <a:lnTo>
                    <a:pt x="1680" y="38875"/>
                  </a:lnTo>
                  <a:lnTo>
                    <a:pt x="2676" y="35592"/>
                  </a:lnTo>
                  <a:lnTo>
                    <a:pt x="3995" y="32407"/>
                  </a:lnTo>
                  <a:lnTo>
                    <a:pt x="5314" y="29222"/>
                  </a:lnTo>
                  <a:lnTo>
                    <a:pt x="15376" y="15376"/>
                  </a:lnTo>
                  <a:lnTo>
                    <a:pt x="17814" y="12938"/>
                  </a:lnTo>
                  <a:lnTo>
                    <a:pt x="42256" y="1008"/>
                  </a:lnTo>
                  <a:lnTo>
                    <a:pt x="45637" y="336"/>
                  </a:lnTo>
                  <a:lnTo>
                    <a:pt x="49052" y="0"/>
                  </a:lnTo>
                  <a:lnTo>
                    <a:pt x="52499" y="0"/>
                  </a:lnTo>
                  <a:lnTo>
                    <a:pt x="2347802" y="0"/>
                  </a:lnTo>
                  <a:lnTo>
                    <a:pt x="2351249" y="0"/>
                  </a:lnTo>
                  <a:lnTo>
                    <a:pt x="2354663" y="336"/>
                  </a:lnTo>
                  <a:lnTo>
                    <a:pt x="2389537" y="20465"/>
                  </a:lnTo>
                  <a:lnTo>
                    <a:pt x="2396304" y="32407"/>
                  </a:lnTo>
                  <a:lnTo>
                    <a:pt x="2397623" y="35592"/>
                  </a:lnTo>
                  <a:lnTo>
                    <a:pt x="2398619" y="38875"/>
                  </a:lnTo>
                  <a:lnTo>
                    <a:pt x="2399291" y="42256"/>
                  </a:lnTo>
                  <a:lnTo>
                    <a:pt x="2399964" y="45637"/>
                  </a:lnTo>
                  <a:lnTo>
                    <a:pt x="2400300" y="49051"/>
                  </a:lnTo>
                  <a:lnTo>
                    <a:pt x="2400300" y="52498"/>
                  </a:lnTo>
                  <a:lnTo>
                    <a:pt x="2400300" y="880951"/>
                  </a:lnTo>
                  <a:lnTo>
                    <a:pt x="2400300" y="884398"/>
                  </a:lnTo>
                  <a:lnTo>
                    <a:pt x="2399964" y="887812"/>
                  </a:lnTo>
                  <a:lnTo>
                    <a:pt x="2399291" y="891193"/>
                  </a:lnTo>
                  <a:lnTo>
                    <a:pt x="2398619" y="894574"/>
                  </a:lnTo>
                  <a:lnTo>
                    <a:pt x="2397623" y="897856"/>
                  </a:lnTo>
                  <a:lnTo>
                    <a:pt x="2396304" y="901041"/>
                  </a:lnTo>
                  <a:lnTo>
                    <a:pt x="2394984" y="904226"/>
                  </a:lnTo>
                  <a:lnTo>
                    <a:pt x="2393367" y="907251"/>
                  </a:lnTo>
                  <a:lnTo>
                    <a:pt x="2391452" y="910117"/>
                  </a:lnTo>
                  <a:lnTo>
                    <a:pt x="2389537" y="912983"/>
                  </a:lnTo>
                  <a:lnTo>
                    <a:pt x="2367890" y="929453"/>
                  </a:lnTo>
                  <a:lnTo>
                    <a:pt x="2364706" y="930772"/>
                  </a:lnTo>
                  <a:lnTo>
                    <a:pt x="2361423" y="931768"/>
                  </a:lnTo>
                  <a:lnTo>
                    <a:pt x="2358042" y="932440"/>
                  </a:lnTo>
                  <a:lnTo>
                    <a:pt x="2354662" y="933113"/>
                  </a:lnTo>
                  <a:lnTo>
                    <a:pt x="2351249" y="933449"/>
                  </a:lnTo>
                  <a:lnTo>
                    <a:pt x="2347802" y="933449"/>
                  </a:lnTo>
                  <a:lnTo>
                    <a:pt x="52499" y="933449"/>
                  </a:lnTo>
                  <a:lnTo>
                    <a:pt x="49052" y="933449"/>
                  </a:lnTo>
                  <a:lnTo>
                    <a:pt x="45637" y="933113"/>
                  </a:lnTo>
                  <a:lnTo>
                    <a:pt x="42256" y="932440"/>
                  </a:lnTo>
                  <a:lnTo>
                    <a:pt x="38875" y="931768"/>
                  </a:lnTo>
                  <a:lnTo>
                    <a:pt x="35592" y="930772"/>
                  </a:lnTo>
                  <a:lnTo>
                    <a:pt x="32407" y="929453"/>
                  </a:lnTo>
                  <a:lnTo>
                    <a:pt x="29222" y="928134"/>
                  </a:lnTo>
                  <a:lnTo>
                    <a:pt x="26197" y="926517"/>
                  </a:lnTo>
                  <a:lnTo>
                    <a:pt x="23331" y="924601"/>
                  </a:lnTo>
                  <a:lnTo>
                    <a:pt x="20465" y="922686"/>
                  </a:lnTo>
                  <a:lnTo>
                    <a:pt x="17813" y="920510"/>
                  </a:lnTo>
                  <a:lnTo>
                    <a:pt x="15376" y="918073"/>
                  </a:lnTo>
                  <a:lnTo>
                    <a:pt x="12938" y="915635"/>
                  </a:lnTo>
                  <a:lnTo>
                    <a:pt x="10762" y="912983"/>
                  </a:lnTo>
                  <a:lnTo>
                    <a:pt x="8847" y="910117"/>
                  </a:lnTo>
                  <a:lnTo>
                    <a:pt x="6931" y="907251"/>
                  </a:lnTo>
                  <a:lnTo>
                    <a:pt x="5314" y="904226"/>
                  </a:lnTo>
                  <a:lnTo>
                    <a:pt x="3995" y="901041"/>
                  </a:lnTo>
                  <a:lnTo>
                    <a:pt x="2676" y="897856"/>
                  </a:lnTo>
                  <a:lnTo>
                    <a:pt x="1680" y="894574"/>
                  </a:lnTo>
                  <a:lnTo>
                    <a:pt x="1008" y="891193"/>
                  </a:lnTo>
                  <a:lnTo>
                    <a:pt x="336" y="887812"/>
                  </a:lnTo>
                  <a:lnTo>
                    <a:pt x="0" y="884398"/>
                  </a:lnTo>
                  <a:lnTo>
                    <a:pt x="0" y="880951"/>
                  </a:lnTo>
                  <a:close/>
                </a:path>
              </a:pathLst>
            </a:custGeom>
            <a:ln w="19049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578701" y="4001134"/>
            <a:ext cx="175768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75" dirty="0">
                <a:solidFill>
                  <a:srgbClr val="FFFFFF"/>
                </a:solidFill>
                <a:latin typeface="Tahoma"/>
                <a:cs typeface="Tahoma"/>
              </a:rPr>
              <a:t>Date:</a:t>
            </a: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Tahoma"/>
                <a:cs typeface="Tahoma"/>
              </a:rPr>
              <a:t>30</a:t>
            </a:r>
            <a:r>
              <a:rPr sz="14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Tahoma"/>
                <a:cs typeface="Tahoma"/>
              </a:rPr>
              <a:t>March</a:t>
            </a:r>
            <a:r>
              <a:rPr sz="14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ahoma"/>
                <a:cs typeface="Tahoma"/>
              </a:rPr>
              <a:t>2026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5"/>
            <a:ext cx="4286250" cy="642937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19125" y="952499"/>
            <a:ext cx="1828800" cy="352425"/>
            <a:chOff x="619125" y="952499"/>
            <a:chExt cx="1828800" cy="352425"/>
          </a:xfrm>
        </p:grpSpPr>
        <p:sp>
          <p:nvSpPr>
            <p:cNvPr id="5" name="object 5"/>
            <p:cNvSpPr/>
            <p:nvPr/>
          </p:nvSpPr>
          <p:spPr>
            <a:xfrm>
              <a:off x="623887" y="957262"/>
              <a:ext cx="1819275" cy="342900"/>
            </a:xfrm>
            <a:custGeom>
              <a:avLst/>
              <a:gdLst/>
              <a:ahLst/>
              <a:cxnLst/>
              <a:rect l="l" t="t" r="r" b="b"/>
              <a:pathLst>
                <a:path w="1819275" h="342900">
                  <a:moveTo>
                    <a:pt x="0" y="298043"/>
                  </a:moveTo>
                  <a:lnTo>
                    <a:pt x="0" y="44856"/>
                  </a:lnTo>
                  <a:lnTo>
                    <a:pt x="0" y="38900"/>
                  </a:lnTo>
                  <a:lnTo>
                    <a:pt x="1136" y="33185"/>
                  </a:lnTo>
                  <a:lnTo>
                    <a:pt x="27692" y="3416"/>
                  </a:lnTo>
                  <a:lnTo>
                    <a:pt x="33183" y="1143"/>
                  </a:lnTo>
                  <a:lnTo>
                    <a:pt x="38908" y="0"/>
                  </a:lnTo>
                  <a:lnTo>
                    <a:pt x="44856" y="0"/>
                  </a:lnTo>
                  <a:lnTo>
                    <a:pt x="1774418" y="0"/>
                  </a:lnTo>
                  <a:lnTo>
                    <a:pt x="1780362" y="0"/>
                  </a:lnTo>
                  <a:lnTo>
                    <a:pt x="1786089" y="1143"/>
                  </a:lnTo>
                  <a:lnTo>
                    <a:pt x="1815858" y="27686"/>
                  </a:lnTo>
                  <a:lnTo>
                    <a:pt x="1819275" y="38900"/>
                  </a:lnTo>
                  <a:lnTo>
                    <a:pt x="1819275" y="44856"/>
                  </a:lnTo>
                  <a:lnTo>
                    <a:pt x="1819275" y="298043"/>
                  </a:lnTo>
                  <a:lnTo>
                    <a:pt x="1819275" y="303987"/>
                  </a:lnTo>
                  <a:lnTo>
                    <a:pt x="1818144" y="309714"/>
                  </a:lnTo>
                  <a:lnTo>
                    <a:pt x="1815858" y="315214"/>
                  </a:lnTo>
                  <a:lnTo>
                    <a:pt x="1813585" y="320700"/>
                  </a:lnTo>
                  <a:lnTo>
                    <a:pt x="1780362" y="342900"/>
                  </a:lnTo>
                  <a:lnTo>
                    <a:pt x="1774418" y="342900"/>
                  </a:lnTo>
                  <a:lnTo>
                    <a:pt x="44856" y="342900"/>
                  </a:lnTo>
                  <a:lnTo>
                    <a:pt x="38908" y="342900"/>
                  </a:lnTo>
                  <a:lnTo>
                    <a:pt x="33183" y="341757"/>
                  </a:lnTo>
                  <a:lnTo>
                    <a:pt x="27692" y="339483"/>
                  </a:lnTo>
                  <a:lnTo>
                    <a:pt x="22195" y="337210"/>
                  </a:lnTo>
                  <a:lnTo>
                    <a:pt x="17343" y="333971"/>
                  </a:lnTo>
                  <a:lnTo>
                    <a:pt x="13136" y="329755"/>
                  </a:lnTo>
                  <a:lnTo>
                    <a:pt x="8929" y="325551"/>
                  </a:lnTo>
                  <a:lnTo>
                    <a:pt x="5689" y="320700"/>
                  </a:lnTo>
                  <a:lnTo>
                    <a:pt x="3413" y="315214"/>
                  </a:lnTo>
                  <a:lnTo>
                    <a:pt x="1136" y="309714"/>
                  </a:lnTo>
                  <a:lnTo>
                    <a:pt x="0" y="303987"/>
                  </a:lnTo>
                  <a:lnTo>
                    <a:pt x="0" y="298043"/>
                  </a:lnTo>
                  <a:close/>
                </a:path>
              </a:pathLst>
            </a:custGeom>
            <a:ln w="9525">
              <a:solidFill>
                <a:srgbClr val="494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0286" y="1074672"/>
              <a:ext cx="147961" cy="12593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35781" y="1017142"/>
            <a:ext cx="141160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45" dirty="0">
                <a:solidFill>
                  <a:srgbClr val="494FBB"/>
                </a:solidFill>
                <a:latin typeface="Tahoma"/>
                <a:cs typeface="Tahoma"/>
              </a:rPr>
              <a:t>ACADEMIC</a:t>
            </a:r>
            <a:r>
              <a:rPr sz="1100" spc="-60" dirty="0">
                <a:solidFill>
                  <a:srgbClr val="494FBB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494FBB"/>
                </a:solidFill>
                <a:latin typeface="Tahoma"/>
                <a:cs typeface="Tahoma"/>
              </a:rPr>
              <a:t>PROJECT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07466" y="1363567"/>
            <a:ext cx="2527935" cy="557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450" spc="-190" dirty="0"/>
              <a:t>Introduction</a:t>
            </a:r>
            <a:endParaRPr sz="3450"/>
          </a:p>
        </p:txBody>
      </p:sp>
      <p:sp>
        <p:nvSpPr>
          <p:cNvPr id="9" name="object 9"/>
          <p:cNvSpPr/>
          <p:nvPr/>
        </p:nvSpPr>
        <p:spPr>
          <a:xfrm>
            <a:off x="647700" y="36480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47700" y="39909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47700" y="43338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7700" y="46863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7700" y="50292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07466" y="2137282"/>
            <a:ext cx="5786120" cy="3311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208279" algn="just">
              <a:lnSpc>
                <a:spcPct val="132400"/>
              </a:lnSpc>
              <a:spcBef>
                <a:spcPts val="125"/>
              </a:spcBef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Fake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refers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false</a:t>
            </a: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misleading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information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presented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real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news.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4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4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todayʼs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digital world,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Tahoma"/>
                <a:cs typeface="Tahoma"/>
              </a:rPr>
              <a:t>spreads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 rapidly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through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social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media,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messaging</a:t>
            </a: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apps,</a:t>
            </a: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online</a:t>
            </a: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platforms,</a:t>
            </a: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making</a:t>
            </a: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harder</a:t>
            </a: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distinguish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facts</a:t>
            </a: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14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fiction.</a:t>
            </a:r>
            <a:endParaRPr sz="1400">
              <a:latin typeface="Tahoma"/>
              <a:cs typeface="Tahoma"/>
            </a:endParaRPr>
          </a:p>
          <a:p>
            <a:pPr marL="295910" marR="588645">
              <a:lnSpc>
                <a:spcPct val="160700"/>
              </a:lnSpc>
              <a:spcBef>
                <a:spcPts val="1125"/>
              </a:spcBef>
            </a:pPr>
            <a:r>
              <a:rPr sz="1400" spc="-9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4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influences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Tahoma"/>
                <a:cs typeface="Tahoma"/>
              </a:rPr>
              <a:t>society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shaping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beliefs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public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behavior.</a:t>
            </a:r>
            <a:r>
              <a:rPr sz="1400" spc="5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4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affects</a:t>
            </a:r>
            <a:r>
              <a:rPr sz="14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politics</a:t>
            </a:r>
            <a:r>
              <a:rPr sz="14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ahoma"/>
                <a:cs typeface="Tahoma"/>
              </a:rPr>
              <a:t>by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spreading</a:t>
            </a:r>
            <a:r>
              <a:rPr sz="14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propaganda</a:t>
            </a:r>
            <a:r>
              <a:rPr sz="14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manipulation.</a:t>
            </a:r>
            <a:endParaRPr sz="1400">
              <a:latin typeface="Tahoma"/>
              <a:cs typeface="Tahoma"/>
            </a:endParaRPr>
          </a:p>
          <a:p>
            <a:pPr marL="295910" marR="326390">
              <a:lnSpc>
                <a:spcPts val="2780"/>
              </a:lnSpc>
              <a:spcBef>
                <a:spcPts val="195"/>
              </a:spcBef>
            </a:pPr>
            <a:r>
              <a:rPr sz="1400" spc="-9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distort</a:t>
            </a: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public</a:t>
            </a: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opinion</a:t>
            </a: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reduce</a:t>
            </a: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trust</a:t>
            </a: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credible</a:t>
            </a: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sources. </a:t>
            </a:r>
            <a:r>
              <a:rPr sz="1400" spc="-9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4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creates</a:t>
            </a:r>
            <a:r>
              <a:rPr sz="14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4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strong</a:t>
            </a:r>
            <a:r>
              <a:rPr sz="14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need</a:t>
            </a:r>
            <a:r>
              <a:rPr sz="14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4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automated</a:t>
            </a:r>
            <a:r>
              <a:rPr sz="14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r>
              <a:rPr sz="14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systems.</a:t>
            </a:r>
            <a:endParaRPr sz="1400">
              <a:latin typeface="Tahoma"/>
              <a:cs typeface="Tahoma"/>
            </a:endParaRPr>
          </a:p>
          <a:p>
            <a:pPr marL="295910" marR="5080">
              <a:lnSpc>
                <a:spcPct val="133900"/>
              </a:lnSpc>
              <a:spcBef>
                <a:spcPts val="170"/>
              </a:spcBef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14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Tahoma"/>
                <a:cs typeface="Tahoma"/>
              </a:rPr>
              <a:t>uses</a:t>
            </a:r>
            <a:r>
              <a:rPr sz="14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machine</a:t>
            </a: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learning</a:t>
            </a:r>
            <a:r>
              <a:rPr sz="14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natural</a:t>
            </a: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language</a:t>
            </a:r>
            <a:r>
              <a:rPr sz="14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processing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identify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fake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efficiently.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9124" y="619124"/>
            <a:ext cx="1647825" cy="314325"/>
            <a:chOff x="619124" y="619124"/>
            <a:chExt cx="1647825" cy="314325"/>
          </a:xfrm>
        </p:grpSpPr>
        <p:sp>
          <p:nvSpPr>
            <p:cNvPr id="3" name="object 3"/>
            <p:cNvSpPr/>
            <p:nvPr/>
          </p:nvSpPr>
          <p:spPr>
            <a:xfrm>
              <a:off x="623887" y="623887"/>
              <a:ext cx="1638300" cy="304800"/>
            </a:xfrm>
            <a:custGeom>
              <a:avLst/>
              <a:gdLst/>
              <a:ahLst/>
              <a:cxnLst/>
              <a:rect l="l" t="t" r="r" b="b"/>
              <a:pathLst>
                <a:path w="1638300" h="304800">
                  <a:moveTo>
                    <a:pt x="0" y="264905"/>
                  </a:moveTo>
                  <a:lnTo>
                    <a:pt x="0" y="39894"/>
                  </a:lnTo>
                  <a:lnTo>
                    <a:pt x="0" y="34603"/>
                  </a:lnTo>
                  <a:lnTo>
                    <a:pt x="1012" y="29514"/>
                  </a:lnTo>
                  <a:lnTo>
                    <a:pt x="3036" y="24627"/>
                  </a:lnTo>
                  <a:lnTo>
                    <a:pt x="5061" y="19739"/>
                  </a:lnTo>
                  <a:lnTo>
                    <a:pt x="7943" y="15425"/>
                  </a:lnTo>
                  <a:lnTo>
                    <a:pt x="11684" y="11684"/>
                  </a:lnTo>
                  <a:lnTo>
                    <a:pt x="15425" y="7943"/>
                  </a:lnTo>
                  <a:lnTo>
                    <a:pt x="19739" y="5061"/>
                  </a:lnTo>
                  <a:lnTo>
                    <a:pt x="24627" y="3036"/>
                  </a:lnTo>
                  <a:lnTo>
                    <a:pt x="29514" y="1012"/>
                  </a:lnTo>
                  <a:lnTo>
                    <a:pt x="34603" y="0"/>
                  </a:lnTo>
                  <a:lnTo>
                    <a:pt x="39894" y="0"/>
                  </a:lnTo>
                  <a:lnTo>
                    <a:pt x="1598405" y="0"/>
                  </a:lnTo>
                  <a:lnTo>
                    <a:pt x="1603695" y="0"/>
                  </a:lnTo>
                  <a:lnTo>
                    <a:pt x="1608784" y="1012"/>
                  </a:lnTo>
                  <a:lnTo>
                    <a:pt x="1613672" y="3036"/>
                  </a:lnTo>
                  <a:lnTo>
                    <a:pt x="1618559" y="5061"/>
                  </a:lnTo>
                  <a:lnTo>
                    <a:pt x="1635262" y="24627"/>
                  </a:lnTo>
                  <a:lnTo>
                    <a:pt x="1637287" y="29514"/>
                  </a:lnTo>
                  <a:lnTo>
                    <a:pt x="1638299" y="34603"/>
                  </a:lnTo>
                  <a:lnTo>
                    <a:pt x="1638299" y="39894"/>
                  </a:lnTo>
                  <a:lnTo>
                    <a:pt x="1638299" y="264905"/>
                  </a:lnTo>
                  <a:lnTo>
                    <a:pt x="1638299" y="270195"/>
                  </a:lnTo>
                  <a:lnTo>
                    <a:pt x="1637287" y="275284"/>
                  </a:lnTo>
                  <a:lnTo>
                    <a:pt x="1635262" y="280172"/>
                  </a:lnTo>
                  <a:lnTo>
                    <a:pt x="1633238" y="285060"/>
                  </a:lnTo>
                  <a:lnTo>
                    <a:pt x="1613672" y="301763"/>
                  </a:lnTo>
                  <a:lnTo>
                    <a:pt x="1608784" y="303787"/>
                  </a:lnTo>
                  <a:lnTo>
                    <a:pt x="1603695" y="304799"/>
                  </a:lnTo>
                  <a:lnTo>
                    <a:pt x="1598405" y="304799"/>
                  </a:lnTo>
                  <a:lnTo>
                    <a:pt x="39894" y="304799"/>
                  </a:lnTo>
                  <a:lnTo>
                    <a:pt x="5061" y="285060"/>
                  </a:lnTo>
                  <a:lnTo>
                    <a:pt x="0" y="270195"/>
                  </a:lnTo>
                  <a:lnTo>
                    <a:pt x="0" y="264905"/>
                  </a:lnTo>
                  <a:close/>
                </a:path>
              </a:pathLst>
            </a:custGeom>
            <a:ln w="9524">
              <a:solidFill>
                <a:srgbClr val="494F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074" y="721464"/>
              <a:ext cx="133196" cy="11336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903783" y="678910"/>
            <a:ext cx="127190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10" dirty="0">
                <a:solidFill>
                  <a:srgbClr val="494FBC"/>
                </a:solidFill>
                <a:latin typeface="Tahoma"/>
                <a:cs typeface="Tahoma"/>
              </a:rPr>
              <a:t>ACADEMIC</a:t>
            </a:r>
            <a:r>
              <a:rPr sz="1000" spc="120" dirty="0">
                <a:solidFill>
                  <a:srgbClr val="494FBC"/>
                </a:solidFill>
                <a:latin typeface="Tahoma"/>
                <a:cs typeface="Tahoma"/>
              </a:rPr>
              <a:t> </a:t>
            </a:r>
            <a:r>
              <a:rPr sz="1000" spc="40" dirty="0">
                <a:solidFill>
                  <a:srgbClr val="494FBC"/>
                </a:solidFill>
                <a:latin typeface="Tahoma"/>
                <a:cs typeface="Tahoma"/>
              </a:rPr>
              <a:t>PROJECT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40621" y="969708"/>
            <a:ext cx="3560445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140" dirty="0"/>
              <a:t>Problem</a:t>
            </a:r>
            <a:r>
              <a:rPr sz="3100" spc="-295" dirty="0"/>
              <a:t> </a:t>
            </a:r>
            <a:r>
              <a:rPr sz="3100" spc="-120" dirty="0"/>
              <a:t>Statement</a:t>
            </a:r>
            <a:endParaRPr sz="3100"/>
          </a:p>
        </p:txBody>
      </p:sp>
      <p:sp>
        <p:nvSpPr>
          <p:cNvPr id="7" name="object 7"/>
          <p:cNvSpPr txBox="1"/>
          <p:nvPr/>
        </p:nvSpPr>
        <p:spPr>
          <a:xfrm>
            <a:off x="2061517" y="1711991"/>
            <a:ext cx="7310120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dirty="0">
                <a:solidFill>
                  <a:srgbClr val="FFFFFF"/>
                </a:solidFill>
                <a:latin typeface="Tahoma"/>
                <a:cs typeface="Tahoma"/>
              </a:rPr>
              <a:t>Identifying the critical </a:t>
            </a:r>
            <a:r>
              <a:rPr sz="1550" spc="55" dirty="0">
                <a:solidFill>
                  <a:srgbClr val="FFFFFF"/>
                </a:solidFill>
                <a:latin typeface="Tahoma"/>
                <a:cs typeface="Tahoma"/>
              </a:rPr>
              <a:t>challenges</a:t>
            </a:r>
            <a:r>
              <a:rPr sz="155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FFFFFF"/>
                </a:solidFill>
                <a:latin typeface="Tahoma"/>
                <a:cs typeface="Tahoma"/>
              </a:rPr>
              <a:t>fake </a:t>
            </a:r>
            <a:r>
              <a:rPr sz="1550" spc="75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15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spc="50" dirty="0">
                <a:solidFill>
                  <a:srgbClr val="FFFFFF"/>
                </a:solidFill>
                <a:latin typeface="Tahoma"/>
                <a:cs typeface="Tahoma"/>
              </a:rPr>
              <a:t>presents</a:t>
            </a:r>
            <a:r>
              <a:rPr sz="155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z="1550" spc="70" dirty="0">
                <a:solidFill>
                  <a:srgbClr val="FFFFFF"/>
                </a:solidFill>
                <a:latin typeface="Tahoma"/>
                <a:cs typeface="Tahoma"/>
              </a:rPr>
              <a:t>society</a:t>
            </a:r>
            <a:r>
              <a:rPr sz="15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spc="5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5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Tahoma"/>
                <a:cs typeface="Tahoma"/>
              </a:rPr>
              <a:t>technology.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9124" y="2240146"/>
            <a:ext cx="10191750" cy="38100"/>
            <a:chOff x="619124" y="2240146"/>
            <a:chExt cx="10191750" cy="38100"/>
          </a:xfrm>
        </p:grpSpPr>
        <p:sp>
          <p:nvSpPr>
            <p:cNvPr id="9" name="object 9"/>
            <p:cNvSpPr/>
            <p:nvPr/>
          </p:nvSpPr>
          <p:spPr>
            <a:xfrm>
              <a:off x="619124" y="2240146"/>
              <a:ext cx="10191750" cy="38100"/>
            </a:xfrm>
            <a:custGeom>
              <a:avLst/>
              <a:gdLst/>
              <a:ahLst/>
              <a:cxnLst/>
              <a:rect l="l" t="t" r="r" b="b"/>
              <a:pathLst>
                <a:path w="10191750" h="38100">
                  <a:moveTo>
                    <a:pt x="1019174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0191749" y="0"/>
                  </a:lnTo>
                  <a:lnTo>
                    <a:pt x="10191749" y="38099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9124" y="2268721"/>
              <a:ext cx="10191750" cy="9525"/>
            </a:xfrm>
            <a:custGeom>
              <a:avLst/>
              <a:gdLst/>
              <a:ahLst/>
              <a:cxnLst/>
              <a:rect l="l" t="t" r="r" b="b"/>
              <a:pathLst>
                <a:path w="10191750" h="9525">
                  <a:moveTo>
                    <a:pt x="101917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0191749" y="0"/>
                  </a:lnTo>
                  <a:lnTo>
                    <a:pt x="10191749" y="9524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623945" y="2438400"/>
            <a:ext cx="389255" cy="398780"/>
          </a:xfrm>
          <a:custGeom>
            <a:avLst/>
            <a:gdLst/>
            <a:ahLst/>
            <a:cxnLst/>
            <a:rect l="l" t="t" r="r" b="b"/>
            <a:pathLst>
              <a:path w="389255" h="398780">
                <a:moveTo>
                  <a:pt x="152824" y="101360"/>
                </a:moveTo>
                <a:lnTo>
                  <a:pt x="129697" y="133488"/>
                </a:lnTo>
                <a:lnTo>
                  <a:pt x="125197" y="160169"/>
                </a:lnTo>
                <a:lnTo>
                  <a:pt x="125584" y="167074"/>
                </a:lnTo>
                <a:lnTo>
                  <a:pt x="141316" y="204895"/>
                </a:lnTo>
                <a:lnTo>
                  <a:pt x="173189" y="226667"/>
                </a:lnTo>
                <a:lnTo>
                  <a:pt x="193579" y="229888"/>
                </a:lnTo>
                <a:lnTo>
                  <a:pt x="199398" y="229653"/>
                </a:lnTo>
                <a:lnTo>
                  <a:pt x="236498" y="214333"/>
                </a:lnTo>
                <a:lnTo>
                  <a:pt x="259457" y="180160"/>
                </a:lnTo>
                <a:lnTo>
                  <a:pt x="262565" y="158649"/>
                </a:lnTo>
                <a:lnTo>
                  <a:pt x="262248" y="151095"/>
                </a:lnTo>
                <a:lnTo>
                  <a:pt x="246661" y="112275"/>
                </a:lnTo>
                <a:lnTo>
                  <a:pt x="211372" y="89001"/>
                </a:lnTo>
                <a:lnTo>
                  <a:pt x="197678" y="86799"/>
                </a:lnTo>
                <a:lnTo>
                  <a:pt x="191137" y="86812"/>
                </a:lnTo>
                <a:lnTo>
                  <a:pt x="152824" y="101360"/>
                </a:lnTo>
              </a:path>
              <a:path w="389255" h="398780">
                <a:moveTo>
                  <a:pt x="321140" y="393972"/>
                </a:moveTo>
                <a:lnTo>
                  <a:pt x="302932" y="398690"/>
                </a:lnTo>
                <a:lnTo>
                  <a:pt x="289316" y="398710"/>
                </a:lnTo>
              </a:path>
              <a:path w="389255" h="398780">
                <a:moveTo>
                  <a:pt x="82608" y="398662"/>
                </a:moveTo>
                <a:lnTo>
                  <a:pt x="65268" y="374305"/>
                </a:lnTo>
                <a:lnTo>
                  <a:pt x="65365" y="363885"/>
                </a:lnTo>
                <a:lnTo>
                  <a:pt x="74346" y="324920"/>
                </a:lnTo>
                <a:lnTo>
                  <a:pt x="76749" y="320061"/>
                </a:lnTo>
              </a:path>
              <a:path w="389255" h="398780">
                <a:moveTo>
                  <a:pt x="217" y="145590"/>
                </a:moveTo>
                <a:lnTo>
                  <a:pt x="4" y="138250"/>
                </a:lnTo>
                <a:lnTo>
                  <a:pt x="0" y="130829"/>
                </a:lnTo>
                <a:lnTo>
                  <a:pt x="207" y="123218"/>
                </a:lnTo>
                <a:lnTo>
                  <a:pt x="6240" y="85272"/>
                </a:lnTo>
                <a:lnTo>
                  <a:pt x="24467" y="43349"/>
                </a:lnTo>
                <a:lnTo>
                  <a:pt x="51768" y="7460"/>
                </a:lnTo>
                <a:lnTo>
                  <a:pt x="59636" y="0"/>
                </a:lnTo>
              </a:path>
              <a:path w="389255" h="398780">
                <a:moveTo>
                  <a:pt x="203513" y="261592"/>
                </a:moveTo>
                <a:lnTo>
                  <a:pt x="246251" y="269864"/>
                </a:lnTo>
                <a:lnTo>
                  <a:pt x="287427" y="292133"/>
                </a:lnTo>
                <a:lnTo>
                  <a:pt x="313476" y="325199"/>
                </a:lnTo>
                <a:lnTo>
                  <a:pt x="322906" y="369428"/>
                </a:lnTo>
                <a:lnTo>
                  <a:pt x="323153" y="385728"/>
                </a:lnTo>
                <a:lnTo>
                  <a:pt x="322276" y="392534"/>
                </a:lnTo>
              </a:path>
              <a:path w="389255" h="398780">
                <a:moveTo>
                  <a:pt x="57685" y="266512"/>
                </a:moveTo>
                <a:lnTo>
                  <a:pt x="25506" y="226718"/>
                </a:lnTo>
                <a:lnTo>
                  <a:pt x="5633" y="179386"/>
                </a:lnTo>
                <a:lnTo>
                  <a:pt x="2106" y="162695"/>
                </a:lnTo>
                <a:lnTo>
                  <a:pt x="149" y="145594"/>
                </a:lnTo>
              </a:path>
              <a:path w="389255" h="398780">
                <a:moveTo>
                  <a:pt x="329741" y="275"/>
                </a:moveTo>
                <a:lnTo>
                  <a:pt x="334390" y="4482"/>
                </a:lnTo>
                <a:lnTo>
                  <a:pt x="338807" y="8919"/>
                </a:lnTo>
                <a:lnTo>
                  <a:pt x="342994" y="13586"/>
                </a:lnTo>
                <a:lnTo>
                  <a:pt x="347180" y="18254"/>
                </a:lnTo>
                <a:lnTo>
                  <a:pt x="351112" y="23126"/>
                </a:lnTo>
                <a:lnTo>
                  <a:pt x="354790" y="28204"/>
                </a:lnTo>
                <a:lnTo>
                  <a:pt x="358468" y="33281"/>
                </a:lnTo>
                <a:lnTo>
                  <a:pt x="373521" y="60709"/>
                </a:lnTo>
                <a:lnTo>
                  <a:pt x="376069" y="66438"/>
                </a:lnTo>
                <a:lnTo>
                  <a:pt x="385123" y="96386"/>
                </a:lnTo>
                <a:lnTo>
                  <a:pt x="386431" y="102518"/>
                </a:lnTo>
                <a:lnTo>
                  <a:pt x="387417" y="108701"/>
                </a:lnTo>
                <a:lnTo>
                  <a:pt x="388080" y="114936"/>
                </a:lnTo>
                <a:lnTo>
                  <a:pt x="388744" y="121170"/>
                </a:lnTo>
                <a:lnTo>
                  <a:pt x="389082" y="127422"/>
                </a:lnTo>
                <a:lnTo>
                  <a:pt x="389093" y="133692"/>
                </a:lnTo>
                <a:lnTo>
                  <a:pt x="389105" y="139962"/>
                </a:lnTo>
                <a:lnTo>
                  <a:pt x="385261" y="171012"/>
                </a:lnTo>
                <a:lnTo>
                  <a:pt x="383976" y="177148"/>
                </a:lnTo>
                <a:lnTo>
                  <a:pt x="373792" y="206732"/>
                </a:lnTo>
                <a:lnTo>
                  <a:pt x="371265" y="212470"/>
                </a:lnTo>
                <a:lnTo>
                  <a:pt x="368446" y="218060"/>
                </a:lnTo>
                <a:lnTo>
                  <a:pt x="365336" y="223504"/>
                </a:lnTo>
                <a:lnTo>
                  <a:pt x="362226" y="228948"/>
                </a:lnTo>
                <a:lnTo>
                  <a:pt x="358842" y="234216"/>
                </a:lnTo>
                <a:lnTo>
                  <a:pt x="355182" y="239307"/>
                </a:lnTo>
                <a:lnTo>
                  <a:pt x="351523" y="244398"/>
                </a:lnTo>
                <a:lnTo>
                  <a:pt x="347609" y="249285"/>
                </a:lnTo>
                <a:lnTo>
                  <a:pt x="343440" y="253968"/>
                </a:lnTo>
                <a:lnTo>
                  <a:pt x="339271" y="258650"/>
                </a:lnTo>
                <a:lnTo>
                  <a:pt x="334870" y="263104"/>
                </a:lnTo>
                <a:lnTo>
                  <a:pt x="330237" y="267328"/>
                </a:lnTo>
              </a:path>
              <a:path w="389255" h="398780">
                <a:moveTo>
                  <a:pt x="95066" y="228496"/>
                </a:moveTo>
                <a:lnTo>
                  <a:pt x="70153" y="197100"/>
                </a:lnTo>
                <a:lnTo>
                  <a:pt x="56198" y="159529"/>
                </a:lnTo>
                <a:lnTo>
                  <a:pt x="53707" y="132865"/>
                </a:lnTo>
                <a:lnTo>
                  <a:pt x="53962" y="126153"/>
                </a:lnTo>
                <a:lnTo>
                  <a:pt x="62777" y="87074"/>
                </a:lnTo>
                <a:lnTo>
                  <a:pt x="83286" y="52619"/>
                </a:lnTo>
                <a:lnTo>
                  <a:pt x="92383" y="42793"/>
                </a:lnTo>
                <a:lnTo>
                  <a:pt x="97320" y="38239"/>
                </a:lnTo>
              </a:path>
              <a:path w="389255" h="398780">
                <a:moveTo>
                  <a:pt x="291551" y="39212"/>
                </a:moveTo>
                <a:lnTo>
                  <a:pt x="317182" y="69986"/>
                </a:lnTo>
                <a:lnTo>
                  <a:pt x="331970" y="107206"/>
                </a:lnTo>
                <a:lnTo>
                  <a:pt x="335034" y="133791"/>
                </a:lnTo>
                <a:lnTo>
                  <a:pt x="334921" y="140502"/>
                </a:lnTo>
                <a:lnTo>
                  <a:pt x="326911" y="179723"/>
                </a:lnTo>
                <a:lnTo>
                  <a:pt x="307085" y="214542"/>
                </a:lnTo>
                <a:lnTo>
                  <a:pt x="298177" y="224528"/>
                </a:lnTo>
                <a:lnTo>
                  <a:pt x="293328" y="229167"/>
                </a:lnTo>
              </a:path>
              <a:path w="389255" h="398780">
                <a:moveTo>
                  <a:pt x="321140" y="393972"/>
                </a:moveTo>
                <a:lnTo>
                  <a:pt x="322276" y="392534"/>
                </a:lnTo>
              </a:path>
              <a:path w="389255" h="398780">
                <a:moveTo>
                  <a:pt x="76466" y="319891"/>
                </a:moveTo>
                <a:lnTo>
                  <a:pt x="103466" y="289504"/>
                </a:lnTo>
                <a:lnTo>
                  <a:pt x="129926" y="274294"/>
                </a:lnTo>
                <a:lnTo>
                  <a:pt x="139614" y="270912"/>
                </a:lnTo>
              </a:path>
              <a:path w="389255" h="398780">
                <a:moveTo>
                  <a:pt x="289316" y="398710"/>
                </a:moveTo>
                <a:lnTo>
                  <a:pt x="82608" y="398662"/>
                </a:lnTo>
              </a:path>
              <a:path w="389255" h="398780">
                <a:moveTo>
                  <a:pt x="139524" y="270611"/>
                </a:moveTo>
                <a:lnTo>
                  <a:pt x="157053" y="265592"/>
                </a:lnTo>
                <a:lnTo>
                  <a:pt x="172901" y="262705"/>
                </a:lnTo>
                <a:lnTo>
                  <a:pt x="188058" y="261516"/>
                </a:lnTo>
                <a:lnTo>
                  <a:pt x="203513" y="261592"/>
                </a:lnTo>
              </a:path>
            </a:pathLst>
          </a:custGeom>
          <a:ln w="18011">
            <a:solidFill>
              <a:srgbClr val="6A6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07466" y="2952889"/>
            <a:ext cx="3174365" cy="1006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28299"/>
              </a:lnSpc>
              <a:spcBef>
                <a:spcPts val="125"/>
              </a:spcBef>
            </a:pP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25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50" dirty="0">
                <a:solidFill>
                  <a:srgbClr val="FFFFFF"/>
                </a:solidFill>
                <a:latin typeface="Tahoma"/>
                <a:cs typeface="Tahoma"/>
              </a:rPr>
              <a:t>rapid</a:t>
            </a:r>
            <a:r>
              <a:rPr sz="125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30" dirty="0">
                <a:solidFill>
                  <a:srgbClr val="FFFFFF"/>
                </a:solidFill>
                <a:latin typeface="Tahoma"/>
                <a:cs typeface="Tahoma"/>
              </a:rPr>
              <a:t>spread</a:t>
            </a:r>
            <a:r>
              <a:rPr sz="125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250" b="1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55" dirty="0">
                <a:solidFill>
                  <a:srgbClr val="FFFFFF"/>
                </a:solidFill>
                <a:latin typeface="Tahoma"/>
                <a:cs typeface="Tahoma"/>
              </a:rPr>
              <a:t>misinformation</a:t>
            </a:r>
            <a:r>
              <a:rPr sz="125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40" dirty="0">
                <a:solidFill>
                  <a:srgbClr val="FFFFFF"/>
                </a:solidFill>
                <a:latin typeface="Tahoma"/>
                <a:cs typeface="Tahoma"/>
              </a:rPr>
              <a:t>across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social</a:t>
            </a:r>
            <a:r>
              <a:rPr sz="125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media</a:t>
            </a:r>
            <a:r>
              <a:rPr sz="125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platforms</a:t>
            </a:r>
            <a:r>
              <a:rPr sz="125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makes</a:t>
            </a:r>
            <a:r>
              <a:rPr sz="125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25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difficult</a:t>
            </a:r>
            <a:r>
              <a:rPr sz="125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Tahoma"/>
                <a:cs typeface="Tahoma"/>
              </a:rPr>
              <a:t>for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individuals</a:t>
            </a:r>
            <a:r>
              <a:rPr sz="125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25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discern</a:t>
            </a:r>
            <a:r>
              <a:rPr sz="125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Tahoma"/>
                <a:cs typeface="Tahoma"/>
              </a:rPr>
              <a:t>truth</a:t>
            </a:r>
            <a:r>
              <a:rPr sz="125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125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Tahoma"/>
                <a:cs typeface="Tahoma"/>
              </a:rPr>
              <a:t>falsehood,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eroding</a:t>
            </a:r>
            <a:r>
              <a:rPr sz="125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public</a:t>
            </a:r>
            <a:r>
              <a:rPr sz="125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Tahoma"/>
                <a:cs typeface="Tahoma"/>
              </a:rPr>
              <a:t>trust.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76703" y="2441155"/>
            <a:ext cx="398780" cy="393700"/>
          </a:xfrm>
          <a:custGeom>
            <a:avLst/>
            <a:gdLst/>
            <a:ahLst/>
            <a:cxnLst/>
            <a:rect l="l" t="t" r="r" b="b"/>
            <a:pathLst>
              <a:path w="398779" h="393700">
                <a:moveTo>
                  <a:pt x="276432" y="189798"/>
                </a:moveTo>
                <a:lnTo>
                  <a:pt x="285106" y="147140"/>
                </a:lnTo>
                <a:lnTo>
                  <a:pt x="285220" y="141027"/>
                </a:lnTo>
                <a:lnTo>
                  <a:pt x="285146" y="134860"/>
                </a:lnTo>
                <a:lnTo>
                  <a:pt x="277417" y="95572"/>
                </a:lnTo>
                <a:lnTo>
                  <a:pt x="266720" y="71946"/>
                </a:lnTo>
                <a:lnTo>
                  <a:pt x="262514" y="64687"/>
                </a:lnTo>
              </a:path>
              <a:path w="398779" h="393700">
                <a:moveTo>
                  <a:pt x="128622" y="0"/>
                </a:moveTo>
                <a:lnTo>
                  <a:pt x="87543" y="9375"/>
                </a:lnTo>
                <a:lnTo>
                  <a:pt x="52144" y="30128"/>
                </a:lnTo>
                <a:lnTo>
                  <a:pt x="25902" y="58571"/>
                </a:lnTo>
                <a:lnTo>
                  <a:pt x="7237" y="95723"/>
                </a:lnTo>
                <a:lnTo>
                  <a:pt x="80" y="134164"/>
                </a:lnTo>
                <a:lnTo>
                  <a:pt x="0" y="140527"/>
                </a:lnTo>
                <a:lnTo>
                  <a:pt x="160" y="146941"/>
                </a:lnTo>
                <a:lnTo>
                  <a:pt x="7871" y="187312"/>
                </a:lnTo>
                <a:lnTo>
                  <a:pt x="27545" y="224844"/>
                </a:lnTo>
                <a:lnTo>
                  <a:pt x="59330" y="255941"/>
                </a:lnTo>
                <a:lnTo>
                  <a:pt x="95113" y="274876"/>
                </a:lnTo>
                <a:lnTo>
                  <a:pt x="137983" y="283707"/>
                </a:lnTo>
                <a:lnTo>
                  <a:pt x="144696" y="283685"/>
                </a:lnTo>
                <a:lnTo>
                  <a:pt x="186714" y="276685"/>
                </a:lnTo>
                <a:lnTo>
                  <a:pt x="224337" y="256464"/>
                </a:lnTo>
                <a:lnTo>
                  <a:pt x="234181" y="248981"/>
                </a:lnTo>
                <a:lnTo>
                  <a:pt x="245128" y="240012"/>
                </a:lnTo>
              </a:path>
              <a:path w="398779" h="393700">
                <a:moveTo>
                  <a:pt x="245739" y="239355"/>
                </a:moveTo>
                <a:lnTo>
                  <a:pt x="255354" y="228167"/>
                </a:lnTo>
                <a:lnTo>
                  <a:pt x="263690" y="216184"/>
                </a:lnTo>
                <a:lnTo>
                  <a:pt x="270747" y="203406"/>
                </a:lnTo>
                <a:lnTo>
                  <a:pt x="276525" y="189832"/>
                </a:lnTo>
              </a:path>
              <a:path w="398779" h="393700">
                <a:moveTo>
                  <a:pt x="398707" y="393198"/>
                </a:moveTo>
                <a:lnTo>
                  <a:pt x="245215" y="240099"/>
                </a:lnTo>
              </a:path>
              <a:path w="398779" h="393700">
                <a:moveTo>
                  <a:pt x="262600" y="64635"/>
                </a:moveTo>
                <a:lnTo>
                  <a:pt x="235472" y="32693"/>
                </a:lnTo>
                <a:lnTo>
                  <a:pt x="199714" y="10535"/>
                </a:lnTo>
                <a:lnTo>
                  <a:pt x="186570" y="5804"/>
                </a:lnTo>
                <a:lnTo>
                  <a:pt x="172856" y="2430"/>
                </a:lnTo>
              </a:path>
              <a:path w="398779" h="393700">
                <a:moveTo>
                  <a:pt x="172871" y="2349"/>
                </a:moveTo>
                <a:lnTo>
                  <a:pt x="128622" y="0"/>
                </a:lnTo>
              </a:path>
            </a:pathLst>
          </a:custGeom>
          <a:ln w="17669">
            <a:solidFill>
              <a:srgbClr val="6A6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063702" y="2952889"/>
            <a:ext cx="3272790" cy="1006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28299"/>
              </a:lnSpc>
              <a:spcBef>
                <a:spcPts val="125"/>
              </a:spcBef>
            </a:pPr>
            <a:r>
              <a:rPr sz="1250" b="1" spc="-45" dirty="0">
                <a:solidFill>
                  <a:srgbClr val="FFFFFF"/>
                </a:solidFill>
                <a:latin typeface="Tahoma"/>
                <a:cs typeface="Tahoma"/>
              </a:rPr>
              <a:t>Manual</a:t>
            </a:r>
            <a:r>
              <a:rPr sz="1250" b="1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45" dirty="0">
                <a:solidFill>
                  <a:srgbClr val="FFFFFF"/>
                </a:solidFill>
                <a:latin typeface="Tahoma"/>
                <a:cs typeface="Tahoma"/>
              </a:rPr>
              <a:t>verification</a:t>
            </a:r>
            <a:r>
              <a:rPr sz="1250" b="1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250" b="1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35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1250" b="1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35" dirty="0">
                <a:solidFill>
                  <a:srgbClr val="FFFFFF"/>
                </a:solidFill>
                <a:latin typeface="Tahoma"/>
                <a:cs typeface="Tahoma"/>
              </a:rPr>
              <a:t>articles</a:t>
            </a:r>
            <a:r>
              <a:rPr sz="125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25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Tahoma"/>
                <a:cs typeface="Tahoma"/>
              </a:rPr>
              <a:t>time- </a:t>
            </a:r>
            <a:r>
              <a:rPr sz="1250" spc="10" dirty="0">
                <a:solidFill>
                  <a:srgbClr val="FFFFFF"/>
                </a:solidFill>
                <a:latin typeface="Tahoma"/>
                <a:cs typeface="Tahoma"/>
              </a:rPr>
              <a:t>consuming</a:t>
            </a:r>
            <a:r>
              <a:rPr sz="12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2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Tahoma"/>
                <a:cs typeface="Tahoma"/>
              </a:rPr>
              <a:t>often</a:t>
            </a:r>
            <a:r>
              <a:rPr sz="12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Tahoma"/>
                <a:cs typeface="Tahoma"/>
              </a:rPr>
              <a:t>impractical</a:t>
            </a:r>
            <a:r>
              <a:rPr sz="12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Tahoma"/>
                <a:cs typeface="Tahoma"/>
              </a:rPr>
              <a:t>given</a:t>
            </a:r>
            <a:r>
              <a:rPr sz="12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sheer</a:t>
            </a:r>
            <a:r>
              <a:rPr sz="125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volume</a:t>
            </a:r>
            <a:r>
              <a:rPr sz="125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5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25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content,</a:t>
            </a:r>
            <a:r>
              <a:rPr sz="125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leading</a:t>
            </a:r>
            <a:r>
              <a:rPr sz="125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25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delays</a:t>
            </a:r>
            <a:r>
              <a:rPr sz="125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Tahoma"/>
                <a:cs typeface="Tahoma"/>
              </a:rPr>
              <a:t>in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countering</a:t>
            </a:r>
            <a:r>
              <a:rPr sz="125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false</a:t>
            </a:r>
            <a:r>
              <a:rPr sz="125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Tahoma"/>
                <a:cs typeface="Tahoma"/>
              </a:rPr>
              <a:t>narratives.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6898" y="2438399"/>
            <a:ext cx="373463" cy="40754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520086" y="2952889"/>
            <a:ext cx="3173095" cy="1006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28299"/>
              </a:lnSpc>
              <a:spcBef>
                <a:spcPts val="125"/>
              </a:spcBef>
            </a:pP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There</a:t>
            </a:r>
            <a:r>
              <a:rPr sz="12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2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5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significant</a:t>
            </a:r>
            <a:r>
              <a:rPr sz="12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30" dirty="0">
                <a:solidFill>
                  <a:srgbClr val="FFFFFF"/>
                </a:solidFill>
                <a:latin typeface="Tahoma"/>
                <a:cs typeface="Tahoma"/>
              </a:rPr>
              <a:t>lack</a:t>
            </a:r>
            <a:r>
              <a:rPr sz="125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250" b="1" spc="-50" dirty="0">
                <a:solidFill>
                  <a:srgbClr val="FFFFFF"/>
                </a:solidFill>
                <a:latin typeface="Tahoma"/>
                <a:cs typeface="Tahoma"/>
              </a:rPr>
              <a:t> robust </a:t>
            </a:r>
            <a:r>
              <a:rPr sz="1250" b="1" spc="-25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250" b="1" spc="-55" dirty="0">
                <a:solidFill>
                  <a:srgbClr val="FFFFFF"/>
                </a:solidFill>
                <a:latin typeface="Tahoma"/>
                <a:cs typeface="Tahoma"/>
              </a:rPr>
              <a:t>reliable </a:t>
            </a:r>
            <a:r>
              <a:rPr sz="1250" b="1" spc="-65" dirty="0">
                <a:solidFill>
                  <a:srgbClr val="FFFFFF"/>
                </a:solidFill>
                <a:latin typeface="Tahoma"/>
                <a:cs typeface="Tahoma"/>
              </a:rPr>
              <a:t>automated</a:t>
            </a:r>
            <a:r>
              <a:rPr sz="1250" b="1" spc="-50" dirty="0">
                <a:solidFill>
                  <a:srgbClr val="FFFFFF"/>
                </a:solidFill>
                <a:latin typeface="Tahoma"/>
                <a:cs typeface="Tahoma"/>
              </a:rPr>
              <a:t> detection </a:t>
            </a:r>
            <a:r>
              <a:rPr sz="1250" b="1" spc="-10" dirty="0">
                <a:solidFill>
                  <a:srgbClr val="FFFFFF"/>
                </a:solidFill>
                <a:latin typeface="Tahoma"/>
                <a:cs typeface="Tahoma"/>
              </a:rPr>
              <a:t>systems </a:t>
            </a:r>
            <a:r>
              <a:rPr sz="1250" spc="45" dirty="0">
                <a:solidFill>
                  <a:srgbClr val="FFFFFF"/>
                </a:solidFill>
                <a:latin typeface="Tahoma"/>
                <a:cs typeface="Tahoma"/>
              </a:rPr>
              <a:t>capable</a:t>
            </a:r>
            <a:r>
              <a:rPr sz="125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5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2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Tahoma"/>
                <a:cs typeface="Tahoma"/>
              </a:rPr>
              <a:t>accurately</a:t>
            </a:r>
            <a:r>
              <a:rPr sz="12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Tahoma"/>
                <a:cs typeface="Tahoma"/>
              </a:rPr>
              <a:t>identifying</a:t>
            </a:r>
            <a:r>
              <a:rPr sz="12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Tahoma"/>
                <a:cs typeface="Tahoma"/>
              </a:rPr>
              <a:t>fake</a:t>
            </a:r>
            <a:r>
              <a:rPr sz="12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Tahoma"/>
                <a:cs typeface="Tahoma"/>
              </a:rPr>
              <a:t>news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at scale, requiring </a:t>
            </a:r>
            <a:r>
              <a:rPr sz="1250" spc="45" dirty="0">
                <a:solidFill>
                  <a:srgbClr val="FFFFFF"/>
                </a:solidFill>
                <a:latin typeface="Tahoma"/>
                <a:cs typeface="Tahoma"/>
              </a:rPr>
              <a:t>advanced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Tahoma"/>
                <a:cs typeface="Tahoma"/>
              </a:rPr>
              <a:t>AI.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9125" y="4267640"/>
            <a:ext cx="398780" cy="398145"/>
          </a:xfrm>
          <a:custGeom>
            <a:avLst/>
            <a:gdLst/>
            <a:ahLst/>
            <a:cxnLst/>
            <a:rect l="l" t="t" r="r" b="b"/>
            <a:pathLst>
              <a:path w="398780" h="398145">
                <a:moveTo>
                  <a:pt x="177158" y="1400"/>
                </a:moveTo>
                <a:lnTo>
                  <a:pt x="147244" y="38787"/>
                </a:lnTo>
                <a:lnTo>
                  <a:pt x="120442" y="110029"/>
                </a:lnTo>
                <a:lnTo>
                  <a:pt x="111984" y="154278"/>
                </a:lnTo>
                <a:lnTo>
                  <a:pt x="108834" y="202111"/>
                </a:lnTo>
                <a:lnTo>
                  <a:pt x="112504" y="251899"/>
                </a:lnTo>
                <a:lnTo>
                  <a:pt x="124504" y="302018"/>
                </a:lnTo>
                <a:lnTo>
                  <a:pt x="146344" y="350839"/>
                </a:lnTo>
                <a:lnTo>
                  <a:pt x="179534" y="396737"/>
                </a:lnTo>
              </a:path>
              <a:path w="398780" h="398145">
                <a:moveTo>
                  <a:pt x="214879" y="599"/>
                </a:moveTo>
                <a:lnTo>
                  <a:pt x="244899" y="38133"/>
                </a:lnTo>
                <a:lnTo>
                  <a:pt x="271956" y="109724"/>
                </a:lnTo>
                <a:lnTo>
                  <a:pt x="280567" y="154181"/>
                </a:lnTo>
                <a:lnTo>
                  <a:pt x="283868" y="202222"/>
                </a:lnTo>
                <a:lnTo>
                  <a:pt x="280337" y="252202"/>
                </a:lnTo>
                <a:lnTo>
                  <a:pt x="268453" y="302478"/>
                </a:lnTo>
                <a:lnTo>
                  <a:pt x="246691" y="351406"/>
                </a:lnTo>
                <a:lnTo>
                  <a:pt x="213529" y="397343"/>
                </a:lnTo>
              </a:path>
              <a:path w="398780" h="398145">
                <a:moveTo>
                  <a:pt x="0" y="210089"/>
                </a:moveTo>
                <a:lnTo>
                  <a:pt x="397304" y="210089"/>
                </a:lnTo>
              </a:path>
              <a:path w="398780" h="398145">
                <a:moveTo>
                  <a:pt x="398710" y="198914"/>
                </a:moveTo>
                <a:lnTo>
                  <a:pt x="393457" y="244523"/>
                </a:lnTo>
                <a:lnTo>
                  <a:pt x="378492" y="286392"/>
                </a:lnTo>
                <a:lnTo>
                  <a:pt x="355011" y="323325"/>
                </a:lnTo>
                <a:lnTo>
                  <a:pt x="324206" y="354129"/>
                </a:lnTo>
                <a:lnTo>
                  <a:pt x="287273" y="377611"/>
                </a:lnTo>
                <a:lnTo>
                  <a:pt x="245405" y="392575"/>
                </a:lnTo>
                <a:lnTo>
                  <a:pt x="199795" y="397829"/>
                </a:lnTo>
                <a:lnTo>
                  <a:pt x="154186" y="392575"/>
                </a:lnTo>
                <a:lnTo>
                  <a:pt x="112318" y="377611"/>
                </a:lnTo>
                <a:lnTo>
                  <a:pt x="75384" y="354129"/>
                </a:lnTo>
                <a:lnTo>
                  <a:pt x="44580" y="323325"/>
                </a:lnTo>
                <a:lnTo>
                  <a:pt x="21099" y="286392"/>
                </a:lnTo>
                <a:lnTo>
                  <a:pt x="6134" y="244523"/>
                </a:lnTo>
                <a:lnTo>
                  <a:pt x="881" y="198914"/>
                </a:lnTo>
                <a:lnTo>
                  <a:pt x="6134" y="153305"/>
                </a:lnTo>
                <a:lnTo>
                  <a:pt x="21099" y="111436"/>
                </a:lnTo>
                <a:lnTo>
                  <a:pt x="44580" y="74503"/>
                </a:lnTo>
                <a:lnTo>
                  <a:pt x="75384" y="43699"/>
                </a:lnTo>
                <a:lnTo>
                  <a:pt x="112318" y="20217"/>
                </a:lnTo>
                <a:lnTo>
                  <a:pt x="154186" y="5253"/>
                </a:lnTo>
                <a:lnTo>
                  <a:pt x="199795" y="0"/>
                </a:lnTo>
                <a:lnTo>
                  <a:pt x="245405" y="5253"/>
                </a:lnTo>
                <a:lnTo>
                  <a:pt x="287273" y="20217"/>
                </a:lnTo>
                <a:lnTo>
                  <a:pt x="324206" y="43699"/>
                </a:lnTo>
                <a:lnTo>
                  <a:pt x="355011" y="74503"/>
                </a:lnTo>
                <a:lnTo>
                  <a:pt x="378492" y="111436"/>
                </a:lnTo>
                <a:lnTo>
                  <a:pt x="393457" y="153305"/>
                </a:lnTo>
                <a:lnTo>
                  <a:pt x="398710" y="198914"/>
                </a:lnTo>
                <a:close/>
              </a:path>
            </a:pathLst>
          </a:custGeom>
          <a:ln w="17482">
            <a:solidFill>
              <a:srgbClr val="6A6F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07466" y="4800739"/>
            <a:ext cx="2980690" cy="9874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26699"/>
              </a:lnSpc>
              <a:spcBef>
                <a:spcPts val="70"/>
              </a:spcBef>
            </a:pP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Fake</a:t>
            </a:r>
            <a:r>
              <a:rPr sz="125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125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Tahoma"/>
                <a:cs typeface="Tahoma"/>
              </a:rPr>
              <a:t>poses</a:t>
            </a:r>
            <a:r>
              <a:rPr sz="125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severe</a:t>
            </a:r>
            <a:r>
              <a:rPr sz="125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30" dirty="0">
                <a:solidFill>
                  <a:srgbClr val="FFFFFF"/>
                </a:solidFill>
                <a:latin typeface="Tahoma"/>
                <a:cs typeface="Tahoma"/>
              </a:rPr>
              <a:t>economic</a:t>
            </a:r>
            <a:r>
              <a:rPr sz="1250" b="1" spc="-25" dirty="0">
                <a:solidFill>
                  <a:srgbClr val="FFFFFF"/>
                </a:solidFill>
                <a:latin typeface="Tahoma"/>
                <a:cs typeface="Tahoma"/>
              </a:rPr>
              <a:t> and social </a:t>
            </a:r>
            <a:r>
              <a:rPr sz="1250" b="1" spc="-40" dirty="0">
                <a:solidFill>
                  <a:srgbClr val="FFFFFF"/>
                </a:solidFill>
                <a:latin typeface="Tahoma"/>
                <a:cs typeface="Tahoma"/>
              </a:rPr>
              <a:t>impacts</a:t>
            </a:r>
            <a:r>
              <a:rPr sz="1250" spc="-40" dirty="0">
                <a:solidFill>
                  <a:srgbClr val="FFFFFF"/>
                </a:solidFill>
                <a:latin typeface="Tahoma"/>
                <a:cs typeface="Tahoma"/>
              </a:rPr>
              <a:t>,</a:t>
            </a:r>
            <a:r>
              <a:rPr sz="125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influencing</a:t>
            </a:r>
            <a:r>
              <a:rPr sz="125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Tahoma"/>
                <a:cs typeface="Tahoma"/>
              </a:rPr>
              <a:t>elections,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damaging</a:t>
            </a:r>
            <a:r>
              <a:rPr sz="125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reputations,</a:t>
            </a:r>
            <a:r>
              <a:rPr sz="125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25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inciting</a:t>
            </a:r>
            <a:r>
              <a:rPr sz="125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Tahoma"/>
                <a:cs typeface="Tahoma"/>
              </a:rPr>
              <a:t>social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unrest</a:t>
            </a:r>
            <a:r>
              <a:rPr sz="12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Tahoma"/>
                <a:cs typeface="Tahoma"/>
              </a:rPr>
              <a:t>globally.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067817" y="4277263"/>
            <a:ext cx="416559" cy="379095"/>
            <a:chOff x="4067817" y="4277263"/>
            <a:chExt cx="416559" cy="379095"/>
          </a:xfrm>
        </p:grpSpPr>
        <p:sp>
          <p:nvSpPr>
            <p:cNvPr id="20" name="object 20"/>
            <p:cNvSpPr/>
            <p:nvPr/>
          </p:nvSpPr>
          <p:spPr>
            <a:xfrm>
              <a:off x="4076699" y="4286145"/>
              <a:ext cx="398780" cy="361315"/>
            </a:xfrm>
            <a:custGeom>
              <a:avLst/>
              <a:gdLst/>
              <a:ahLst/>
              <a:cxnLst/>
              <a:rect l="l" t="t" r="r" b="b"/>
              <a:pathLst>
                <a:path w="398779" h="361314">
                  <a:moveTo>
                    <a:pt x="0" y="0"/>
                  </a:moveTo>
                  <a:lnTo>
                    <a:pt x="22" y="360818"/>
                  </a:lnTo>
                  <a:lnTo>
                    <a:pt x="398710" y="360811"/>
                  </a:lnTo>
                </a:path>
              </a:pathLst>
            </a:custGeom>
            <a:ln w="17763">
              <a:solidFill>
                <a:srgbClr val="6A6F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4741" y="4316812"/>
              <a:ext cx="351775" cy="26502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063702" y="4800739"/>
            <a:ext cx="3281045" cy="9874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26699"/>
              </a:lnSpc>
              <a:spcBef>
                <a:spcPts val="70"/>
              </a:spcBef>
            </a:pP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There</a:t>
            </a:r>
            <a:r>
              <a:rPr sz="125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25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25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urgent</a:t>
            </a:r>
            <a:r>
              <a:rPr sz="125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30" dirty="0">
                <a:solidFill>
                  <a:srgbClr val="FFFFFF"/>
                </a:solidFill>
                <a:latin typeface="Tahoma"/>
                <a:cs typeface="Tahoma"/>
              </a:rPr>
              <a:t>need</a:t>
            </a:r>
            <a:r>
              <a:rPr sz="125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4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25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30" dirty="0">
                <a:solidFill>
                  <a:srgbClr val="FFFFFF"/>
                </a:solidFill>
                <a:latin typeface="Tahoma"/>
                <a:cs typeface="Tahoma"/>
              </a:rPr>
              <a:t>scalable</a:t>
            </a:r>
            <a:r>
              <a:rPr sz="125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25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250" b="1" spc="-50" dirty="0">
                <a:solidFill>
                  <a:srgbClr val="FFFFFF"/>
                </a:solidFill>
                <a:latin typeface="Tahoma"/>
                <a:cs typeface="Tahoma"/>
              </a:rPr>
              <a:t>adaptable</a:t>
            </a:r>
            <a:r>
              <a:rPr sz="125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40" dirty="0">
                <a:solidFill>
                  <a:srgbClr val="FFFFFF"/>
                </a:solidFill>
                <a:latin typeface="Tahoma"/>
                <a:cs typeface="Tahoma"/>
              </a:rPr>
              <a:t>solutions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2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6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2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Tahoma"/>
                <a:cs typeface="Tahoma"/>
              </a:rPr>
              <a:t>effectively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combat</a:t>
            </a:r>
            <a:r>
              <a:rPr sz="125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25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evolving</a:t>
            </a:r>
            <a:r>
              <a:rPr sz="125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nature</a:t>
            </a:r>
            <a:r>
              <a:rPr sz="125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5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25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fake</a:t>
            </a:r>
            <a:r>
              <a:rPr sz="125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125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its</a:t>
            </a:r>
            <a:r>
              <a:rPr sz="125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FFFFFF"/>
                </a:solidFill>
                <a:latin typeface="Tahoma"/>
                <a:cs typeface="Tahoma"/>
              </a:rPr>
              <a:t>dissemination</a:t>
            </a:r>
            <a:r>
              <a:rPr sz="125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Tahoma"/>
                <a:cs typeface="Tahoma"/>
              </a:rPr>
              <a:t>methods.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9124" y="638174"/>
            <a:ext cx="1466850" cy="266700"/>
            <a:chOff x="619124" y="638174"/>
            <a:chExt cx="1466850" cy="266700"/>
          </a:xfrm>
        </p:grpSpPr>
        <p:sp>
          <p:nvSpPr>
            <p:cNvPr id="3" name="object 3"/>
            <p:cNvSpPr/>
            <p:nvPr/>
          </p:nvSpPr>
          <p:spPr>
            <a:xfrm>
              <a:off x="623887" y="642937"/>
              <a:ext cx="1457325" cy="257175"/>
            </a:xfrm>
            <a:custGeom>
              <a:avLst/>
              <a:gdLst/>
              <a:ahLst/>
              <a:cxnLst/>
              <a:rect l="l" t="t" r="r" b="b"/>
              <a:pathLst>
                <a:path w="1457325" h="257175">
                  <a:moveTo>
                    <a:pt x="0" y="222242"/>
                  </a:moveTo>
                  <a:lnTo>
                    <a:pt x="0" y="34932"/>
                  </a:lnTo>
                  <a:lnTo>
                    <a:pt x="0" y="30300"/>
                  </a:lnTo>
                  <a:lnTo>
                    <a:pt x="886" y="25843"/>
                  </a:lnTo>
                  <a:lnTo>
                    <a:pt x="2658" y="21564"/>
                  </a:lnTo>
                  <a:lnTo>
                    <a:pt x="4431" y="17284"/>
                  </a:lnTo>
                  <a:lnTo>
                    <a:pt x="6955" y="13506"/>
                  </a:lnTo>
                  <a:lnTo>
                    <a:pt x="10231" y="10231"/>
                  </a:lnTo>
                  <a:lnTo>
                    <a:pt x="13507" y="6955"/>
                  </a:lnTo>
                  <a:lnTo>
                    <a:pt x="17284" y="4431"/>
                  </a:lnTo>
                  <a:lnTo>
                    <a:pt x="21564" y="2658"/>
                  </a:lnTo>
                  <a:lnTo>
                    <a:pt x="25844" y="886"/>
                  </a:lnTo>
                  <a:lnTo>
                    <a:pt x="30300" y="0"/>
                  </a:lnTo>
                  <a:lnTo>
                    <a:pt x="34932" y="0"/>
                  </a:lnTo>
                  <a:lnTo>
                    <a:pt x="1422392" y="0"/>
                  </a:lnTo>
                  <a:lnTo>
                    <a:pt x="1427024" y="0"/>
                  </a:lnTo>
                  <a:lnTo>
                    <a:pt x="1431480" y="886"/>
                  </a:lnTo>
                  <a:lnTo>
                    <a:pt x="1454665" y="21564"/>
                  </a:lnTo>
                  <a:lnTo>
                    <a:pt x="1456438" y="25843"/>
                  </a:lnTo>
                  <a:lnTo>
                    <a:pt x="1457324" y="30300"/>
                  </a:lnTo>
                  <a:lnTo>
                    <a:pt x="1457324" y="34932"/>
                  </a:lnTo>
                  <a:lnTo>
                    <a:pt x="1457324" y="222242"/>
                  </a:lnTo>
                  <a:lnTo>
                    <a:pt x="1457324" y="226874"/>
                  </a:lnTo>
                  <a:lnTo>
                    <a:pt x="1456438" y="231330"/>
                  </a:lnTo>
                  <a:lnTo>
                    <a:pt x="1454665" y="235610"/>
                  </a:lnTo>
                  <a:lnTo>
                    <a:pt x="1452892" y="239890"/>
                  </a:lnTo>
                  <a:lnTo>
                    <a:pt x="1435760" y="254515"/>
                  </a:lnTo>
                  <a:lnTo>
                    <a:pt x="1431480" y="256288"/>
                  </a:lnTo>
                  <a:lnTo>
                    <a:pt x="1427024" y="257174"/>
                  </a:lnTo>
                  <a:lnTo>
                    <a:pt x="1422392" y="257174"/>
                  </a:lnTo>
                  <a:lnTo>
                    <a:pt x="34932" y="257174"/>
                  </a:lnTo>
                  <a:lnTo>
                    <a:pt x="30300" y="257174"/>
                  </a:lnTo>
                  <a:lnTo>
                    <a:pt x="25844" y="256288"/>
                  </a:lnTo>
                  <a:lnTo>
                    <a:pt x="21564" y="254515"/>
                  </a:lnTo>
                  <a:lnTo>
                    <a:pt x="17284" y="252743"/>
                  </a:lnTo>
                  <a:lnTo>
                    <a:pt x="2659" y="235610"/>
                  </a:lnTo>
                  <a:lnTo>
                    <a:pt x="886" y="231330"/>
                  </a:lnTo>
                  <a:lnTo>
                    <a:pt x="0" y="226874"/>
                  </a:lnTo>
                  <a:lnTo>
                    <a:pt x="0" y="222242"/>
                  </a:lnTo>
                  <a:close/>
                </a:path>
              </a:pathLst>
            </a:custGeom>
            <a:ln w="9524">
              <a:solidFill>
                <a:srgbClr val="494F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862" y="720678"/>
              <a:ext cx="118431" cy="1007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72083" y="683577"/>
            <a:ext cx="1133475" cy="161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spc="10" dirty="0">
                <a:solidFill>
                  <a:srgbClr val="494FBC"/>
                </a:solidFill>
                <a:latin typeface="Tahoma"/>
                <a:cs typeface="Tahoma"/>
              </a:rPr>
              <a:t>ACADEMIC</a:t>
            </a:r>
            <a:r>
              <a:rPr sz="900" spc="75" dirty="0">
                <a:solidFill>
                  <a:srgbClr val="494FBC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494FBC"/>
                </a:solidFill>
                <a:latin typeface="Tahoma"/>
                <a:cs typeface="Tahoma"/>
              </a:rPr>
              <a:t>PROJECT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828976" y="928369"/>
            <a:ext cx="1783080" cy="4508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750" spc="-70" dirty="0"/>
              <a:t>Objectives</a:t>
            </a:r>
            <a:endParaRPr sz="2750"/>
          </a:p>
        </p:txBody>
      </p:sp>
      <p:sp>
        <p:nvSpPr>
          <p:cNvPr id="7" name="object 7"/>
          <p:cNvSpPr txBox="1"/>
          <p:nvPr/>
        </p:nvSpPr>
        <p:spPr>
          <a:xfrm>
            <a:off x="3244849" y="1562735"/>
            <a:ext cx="494347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Our</a:t>
            </a:r>
            <a:r>
              <a:rPr sz="14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goals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building</a:t>
            </a:r>
            <a:r>
              <a:rPr sz="14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robust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Fake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14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System.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9124" y="2016641"/>
            <a:ext cx="10191750" cy="28575"/>
            <a:chOff x="619124" y="2016641"/>
            <a:chExt cx="10191750" cy="28575"/>
          </a:xfrm>
        </p:grpSpPr>
        <p:sp>
          <p:nvSpPr>
            <p:cNvPr id="9" name="object 9"/>
            <p:cNvSpPr/>
            <p:nvPr/>
          </p:nvSpPr>
          <p:spPr>
            <a:xfrm>
              <a:off x="619124" y="2016641"/>
              <a:ext cx="10191750" cy="28575"/>
            </a:xfrm>
            <a:custGeom>
              <a:avLst/>
              <a:gdLst/>
              <a:ahLst/>
              <a:cxnLst/>
              <a:rect l="l" t="t" r="r" b="b"/>
              <a:pathLst>
                <a:path w="10191750" h="28575">
                  <a:moveTo>
                    <a:pt x="10191749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10191749" y="0"/>
                  </a:lnTo>
                  <a:lnTo>
                    <a:pt x="10191749" y="28574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9124" y="2035691"/>
              <a:ext cx="10191750" cy="9525"/>
            </a:xfrm>
            <a:custGeom>
              <a:avLst/>
              <a:gdLst/>
              <a:ahLst/>
              <a:cxnLst/>
              <a:rect l="l" t="t" r="r" b="b"/>
              <a:pathLst>
                <a:path w="10191750" h="9525">
                  <a:moveTo>
                    <a:pt x="101917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0191749" y="0"/>
                  </a:lnTo>
                  <a:lnTo>
                    <a:pt x="10191749" y="9524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744" y="2187590"/>
            <a:ext cx="140468" cy="147981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619124" y="2390774"/>
            <a:ext cx="5038725" cy="19050"/>
          </a:xfrm>
          <a:custGeom>
            <a:avLst/>
            <a:gdLst/>
            <a:ahLst/>
            <a:cxnLst/>
            <a:rect l="l" t="t" r="r" b="b"/>
            <a:pathLst>
              <a:path w="5038725" h="19050">
                <a:moveTo>
                  <a:pt x="5038724" y="19049"/>
                </a:moveTo>
                <a:lnTo>
                  <a:pt x="0" y="19049"/>
                </a:lnTo>
                <a:lnTo>
                  <a:pt x="0" y="0"/>
                </a:lnTo>
                <a:lnTo>
                  <a:pt x="5038724" y="0"/>
                </a:lnTo>
                <a:lnTo>
                  <a:pt x="5038724" y="19049"/>
                </a:lnTo>
                <a:close/>
              </a:path>
            </a:pathLst>
          </a:custGeom>
          <a:solidFill>
            <a:srgbClr val="494F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07466" y="2386647"/>
            <a:ext cx="4990465" cy="78867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Develop</a:t>
            </a:r>
            <a:r>
              <a:rPr sz="1400" b="1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400" b="1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5" dirty="0">
                <a:solidFill>
                  <a:srgbClr val="FFFFFF"/>
                </a:solidFill>
                <a:latin typeface="Tahoma"/>
                <a:cs typeface="Tahoma"/>
              </a:rPr>
              <a:t>Intelligent</a:t>
            </a:r>
            <a:r>
              <a:rPr sz="1400" b="1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r>
              <a:rPr sz="1400" b="1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19300"/>
              </a:lnSpc>
              <a:spcBef>
                <a:spcPts val="390"/>
              </a:spcBef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automatically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identify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flag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fake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articles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using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45" dirty="0">
                <a:solidFill>
                  <a:srgbClr val="FFFFFF"/>
                </a:solidFill>
                <a:latin typeface="Tahoma"/>
                <a:cs typeface="Tahoma"/>
              </a:rPr>
              <a:t>advanced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machine learning.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73375" y="2190749"/>
            <a:ext cx="142407" cy="14485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5772149" y="2390774"/>
            <a:ext cx="5038725" cy="19050"/>
          </a:xfrm>
          <a:custGeom>
            <a:avLst/>
            <a:gdLst/>
            <a:ahLst/>
            <a:cxnLst/>
            <a:rect l="l" t="t" r="r" b="b"/>
            <a:pathLst>
              <a:path w="5038725" h="19050">
                <a:moveTo>
                  <a:pt x="5038724" y="19049"/>
                </a:moveTo>
                <a:lnTo>
                  <a:pt x="0" y="19049"/>
                </a:lnTo>
                <a:lnTo>
                  <a:pt x="0" y="0"/>
                </a:lnTo>
                <a:lnTo>
                  <a:pt x="5038724" y="0"/>
                </a:lnTo>
                <a:lnTo>
                  <a:pt x="5038724" y="19049"/>
                </a:lnTo>
                <a:close/>
              </a:path>
            </a:pathLst>
          </a:custGeom>
          <a:solidFill>
            <a:srgbClr val="494F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759003" y="2386647"/>
            <a:ext cx="4994275" cy="78867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400" b="1" spc="-45" dirty="0">
                <a:solidFill>
                  <a:srgbClr val="FFFFFF"/>
                </a:solidFill>
                <a:latin typeface="Tahoma"/>
                <a:cs typeface="Tahoma"/>
              </a:rPr>
              <a:t>Achieve</a:t>
            </a:r>
            <a:r>
              <a:rPr sz="140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FFFFFF"/>
                </a:solidFill>
                <a:latin typeface="Tahoma"/>
                <a:cs typeface="Tahoma"/>
              </a:rPr>
              <a:t>High</a:t>
            </a:r>
            <a:r>
              <a:rPr sz="140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55" dirty="0">
                <a:solidFill>
                  <a:srgbClr val="FFFFFF"/>
                </a:solidFill>
                <a:latin typeface="Tahoma"/>
                <a:cs typeface="Tahoma"/>
              </a:rPr>
              <a:t>Classification</a:t>
            </a:r>
            <a:r>
              <a:rPr sz="140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Accuracy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19300"/>
              </a:lnSpc>
              <a:spcBef>
                <a:spcPts val="390"/>
              </a:spcBef>
            </a:pP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Ensuring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reliable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distinction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between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real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fake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content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minimal errors.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9125" y="3456209"/>
            <a:ext cx="144818" cy="106315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619124" y="3638549"/>
            <a:ext cx="5038725" cy="19050"/>
          </a:xfrm>
          <a:custGeom>
            <a:avLst/>
            <a:gdLst/>
            <a:ahLst/>
            <a:cxnLst/>
            <a:rect l="l" t="t" r="r" b="b"/>
            <a:pathLst>
              <a:path w="5038725" h="19050">
                <a:moveTo>
                  <a:pt x="5038724" y="19049"/>
                </a:moveTo>
                <a:lnTo>
                  <a:pt x="0" y="19049"/>
                </a:lnTo>
                <a:lnTo>
                  <a:pt x="0" y="0"/>
                </a:lnTo>
                <a:lnTo>
                  <a:pt x="5038724" y="0"/>
                </a:lnTo>
                <a:lnTo>
                  <a:pt x="5038724" y="19049"/>
                </a:lnTo>
                <a:close/>
              </a:path>
            </a:pathLst>
          </a:custGeom>
          <a:solidFill>
            <a:srgbClr val="494F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07466" y="3634422"/>
            <a:ext cx="4669790" cy="58864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400" b="1" spc="-40" dirty="0">
                <a:solidFill>
                  <a:srgbClr val="FFFFFF"/>
                </a:solidFill>
                <a:latin typeface="Tahoma"/>
                <a:cs typeface="Tahoma"/>
              </a:rPr>
              <a:t>Process</a:t>
            </a:r>
            <a:r>
              <a:rPr sz="1400" b="1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Large</a:t>
            </a:r>
            <a:r>
              <a:rPr sz="1400" b="1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Volumes</a:t>
            </a:r>
            <a:r>
              <a:rPr sz="140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Efficiently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Handle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vast</a:t>
            </a: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amount</a:t>
            </a: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daily</a:t>
            </a: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articles</a:t>
            </a: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speed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scalability.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90841" y="3435272"/>
            <a:ext cx="104340" cy="148076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5772149" y="3638549"/>
            <a:ext cx="5038725" cy="19050"/>
          </a:xfrm>
          <a:custGeom>
            <a:avLst/>
            <a:gdLst/>
            <a:ahLst/>
            <a:cxnLst/>
            <a:rect l="l" t="t" r="r" b="b"/>
            <a:pathLst>
              <a:path w="5038725" h="19050">
                <a:moveTo>
                  <a:pt x="5038724" y="19049"/>
                </a:moveTo>
                <a:lnTo>
                  <a:pt x="0" y="19049"/>
                </a:lnTo>
                <a:lnTo>
                  <a:pt x="0" y="0"/>
                </a:lnTo>
                <a:lnTo>
                  <a:pt x="5038724" y="0"/>
                </a:lnTo>
                <a:lnTo>
                  <a:pt x="5038724" y="19049"/>
                </a:lnTo>
                <a:close/>
              </a:path>
            </a:pathLst>
          </a:custGeom>
          <a:solidFill>
            <a:srgbClr val="494F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759003" y="3634422"/>
            <a:ext cx="4683760" cy="78867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400" b="1" spc="-75" dirty="0">
                <a:solidFill>
                  <a:srgbClr val="FFFFFF"/>
                </a:solidFill>
                <a:latin typeface="Tahoma"/>
                <a:cs typeface="Tahoma"/>
              </a:rPr>
              <a:t>Provide</a:t>
            </a:r>
            <a:r>
              <a:rPr sz="14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FFFFFF"/>
                </a:solidFill>
                <a:latin typeface="Tahoma"/>
                <a:cs typeface="Tahoma"/>
              </a:rPr>
              <a:t>Explainable</a:t>
            </a:r>
            <a:r>
              <a:rPr sz="14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Results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19300"/>
              </a:lnSpc>
              <a:spcBef>
                <a:spcPts val="390"/>
              </a:spcBef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Offer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clear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insights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into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 why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article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flagged,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fostering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trust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understanding.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5986" y="4702333"/>
            <a:ext cx="147960" cy="109616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619124" y="4886324"/>
            <a:ext cx="5038725" cy="19050"/>
          </a:xfrm>
          <a:custGeom>
            <a:avLst/>
            <a:gdLst/>
            <a:ahLst/>
            <a:cxnLst/>
            <a:rect l="l" t="t" r="r" b="b"/>
            <a:pathLst>
              <a:path w="5038725" h="19050">
                <a:moveTo>
                  <a:pt x="5038724" y="19049"/>
                </a:moveTo>
                <a:lnTo>
                  <a:pt x="0" y="19049"/>
                </a:lnTo>
                <a:lnTo>
                  <a:pt x="0" y="0"/>
                </a:lnTo>
                <a:lnTo>
                  <a:pt x="5038724" y="0"/>
                </a:lnTo>
                <a:lnTo>
                  <a:pt x="5038724" y="19049"/>
                </a:lnTo>
                <a:close/>
              </a:path>
            </a:pathLst>
          </a:custGeom>
          <a:solidFill>
            <a:srgbClr val="494F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07466" y="4882197"/>
            <a:ext cx="4168775" cy="58864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Create</a:t>
            </a:r>
            <a:r>
              <a:rPr sz="140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4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40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FFFFFF"/>
                </a:solidFill>
                <a:latin typeface="Tahoma"/>
                <a:cs typeface="Tahoma"/>
              </a:rPr>
              <a:t>User-</a:t>
            </a: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Friendly</a:t>
            </a:r>
            <a:r>
              <a:rPr sz="140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Interface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intuitive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verification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easy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interaction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end-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users.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68909" y="4697256"/>
            <a:ext cx="148095" cy="119873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5772149" y="4886324"/>
            <a:ext cx="5038725" cy="19050"/>
          </a:xfrm>
          <a:custGeom>
            <a:avLst/>
            <a:gdLst/>
            <a:ahLst/>
            <a:cxnLst/>
            <a:rect l="l" t="t" r="r" b="b"/>
            <a:pathLst>
              <a:path w="5038725" h="19050">
                <a:moveTo>
                  <a:pt x="5038724" y="19049"/>
                </a:moveTo>
                <a:lnTo>
                  <a:pt x="0" y="19049"/>
                </a:lnTo>
                <a:lnTo>
                  <a:pt x="0" y="0"/>
                </a:lnTo>
                <a:lnTo>
                  <a:pt x="5038724" y="0"/>
                </a:lnTo>
                <a:lnTo>
                  <a:pt x="5038724" y="19049"/>
                </a:lnTo>
                <a:close/>
              </a:path>
            </a:pathLst>
          </a:custGeom>
          <a:solidFill>
            <a:srgbClr val="494F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759003" y="4882197"/>
            <a:ext cx="5022215" cy="79819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400" b="1" spc="-60" dirty="0">
                <a:solidFill>
                  <a:srgbClr val="FFFFFF"/>
                </a:solidFill>
                <a:latin typeface="Tahoma"/>
                <a:cs typeface="Tahoma"/>
              </a:rPr>
              <a:t>Reduce</a:t>
            </a:r>
            <a:r>
              <a:rPr sz="140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Manual</a:t>
            </a:r>
            <a:r>
              <a:rPr sz="140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FFFFFF"/>
                </a:solidFill>
                <a:latin typeface="Tahoma"/>
                <a:cs typeface="Tahoma"/>
              </a:rPr>
              <a:t>Fact-</a:t>
            </a:r>
            <a:r>
              <a:rPr sz="1400" b="1" spc="-45" dirty="0">
                <a:solidFill>
                  <a:srgbClr val="FFFFFF"/>
                </a:solidFill>
                <a:latin typeface="Tahoma"/>
                <a:cs typeface="Tahoma"/>
              </a:rPr>
              <a:t>Checking</a:t>
            </a:r>
            <a:r>
              <a:rPr sz="140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Effort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315"/>
              </a:spcBef>
            </a:pP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Automating</a:t>
            </a: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significant</a:t>
            </a: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portions</a:t>
            </a: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process</a:t>
            </a: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free</a:t>
            </a: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up</a:t>
            </a: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human</a:t>
            </a: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resources</a:t>
            </a: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for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deeper</a:t>
            </a:r>
            <a:r>
              <a:rPr sz="1100" spc="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analysis.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9124" y="838199"/>
            <a:ext cx="1828800" cy="352425"/>
            <a:chOff x="619124" y="838199"/>
            <a:chExt cx="1828800" cy="352425"/>
          </a:xfrm>
        </p:grpSpPr>
        <p:sp>
          <p:nvSpPr>
            <p:cNvPr id="3" name="object 3"/>
            <p:cNvSpPr/>
            <p:nvPr/>
          </p:nvSpPr>
          <p:spPr>
            <a:xfrm>
              <a:off x="623887" y="842962"/>
              <a:ext cx="1819275" cy="342900"/>
            </a:xfrm>
            <a:custGeom>
              <a:avLst/>
              <a:gdLst/>
              <a:ahLst/>
              <a:cxnLst/>
              <a:rect l="l" t="t" r="r" b="b"/>
              <a:pathLst>
                <a:path w="1819275" h="342900">
                  <a:moveTo>
                    <a:pt x="0" y="298043"/>
                  </a:moveTo>
                  <a:lnTo>
                    <a:pt x="0" y="44856"/>
                  </a:lnTo>
                  <a:lnTo>
                    <a:pt x="0" y="38907"/>
                  </a:lnTo>
                  <a:lnTo>
                    <a:pt x="1138" y="33185"/>
                  </a:lnTo>
                  <a:lnTo>
                    <a:pt x="3414" y="27690"/>
                  </a:lnTo>
                  <a:lnTo>
                    <a:pt x="5690" y="22194"/>
                  </a:lnTo>
                  <a:lnTo>
                    <a:pt x="8931" y="17343"/>
                  </a:lnTo>
                  <a:lnTo>
                    <a:pt x="13138" y="13137"/>
                  </a:lnTo>
                  <a:lnTo>
                    <a:pt x="17344" y="8931"/>
                  </a:lnTo>
                  <a:lnTo>
                    <a:pt x="22194" y="5690"/>
                  </a:lnTo>
                  <a:lnTo>
                    <a:pt x="27690" y="3414"/>
                  </a:lnTo>
                  <a:lnTo>
                    <a:pt x="33185" y="1138"/>
                  </a:lnTo>
                  <a:lnTo>
                    <a:pt x="38907" y="0"/>
                  </a:lnTo>
                  <a:lnTo>
                    <a:pt x="44856" y="0"/>
                  </a:lnTo>
                  <a:lnTo>
                    <a:pt x="1774418" y="0"/>
                  </a:lnTo>
                  <a:lnTo>
                    <a:pt x="1780367" y="0"/>
                  </a:lnTo>
                  <a:lnTo>
                    <a:pt x="1786088" y="1138"/>
                  </a:lnTo>
                  <a:lnTo>
                    <a:pt x="1815860" y="27690"/>
                  </a:lnTo>
                  <a:lnTo>
                    <a:pt x="1819274" y="44856"/>
                  </a:lnTo>
                  <a:lnTo>
                    <a:pt x="1819274" y="298043"/>
                  </a:lnTo>
                  <a:lnTo>
                    <a:pt x="1801930" y="333967"/>
                  </a:lnTo>
                  <a:lnTo>
                    <a:pt x="1791584" y="339485"/>
                  </a:lnTo>
                  <a:lnTo>
                    <a:pt x="1786088" y="341761"/>
                  </a:lnTo>
                  <a:lnTo>
                    <a:pt x="1780367" y="342899"/>
                  </a:lnTo>
                  <a:lnTo>
                    <a:pt x="1774418" y="342899"/>
                  </a:lnTo>
                  <a:lnTo>
                    <a:pt x="44856" y="342899"/>
                  </a:lnTo>
                  <a:lnTo>
                    <a:pt x="38907" y="342899"/>
                  </a:lnTo>
                  <a:lnTo>
                    <a:pt x="33185" y="341761"/>
                  </a:lnTo>
                  <a:lnTo>
                    <a:pt x="27690" y="339485"/>
                  </a:lnTo>
                  <a:lnTo>
                    <a:pt x="22194" y="337209"/>
                  </a:lnTo>
                  <a:lnTo>
                    <a:pt x="3414" y="315209"/>
                  </a:lnTo>
                  <a:lnTo>
                    <a:pt x="1138" y="309713"/>
                  </a:lnTo>
                  <a:lnTo>
                    <a:pt x="0" y="303992"/>
                  </a:lnTo>
                  <a:lnTo>
                    <a:pt x="0" y="298043"/>
                  </a:lnTo>
                  <a:close/>
                </a:path>
              </a:pathLst>
            </a:custGeom>
            <a:ln w="9524">
              <a:solidFill>
                <a:srgbClr val="494F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0286" y="950850"/>
              <a:ext cx="147961" cy="125933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935781" y="902843"/>
            <a:ext cx="141160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45" dirty="0">
                <a:solidFill>
                  <a:srgbClr val="494FBC"/>
                </a:solidFill>
                <a:latin typeface="Tahoma"/>
                <a:cs typeface="Tahoma"/>
              </a:rPr>
              <a:t>ACADEMIC</a:t>
            </a:r>
            <a:r>
              <a:rPr sz="1100" spc="-60" dirty="0">
                <a:solidFill>
                  <a:srgbClr val="494FBC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494FBC"/>
                </a:solidFill>
                <a:latin typeface="Tahoma"/>
                <a:cs typeface="Tahoma"/>
              </a:rPr>
              <a:t>PROJECT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29680" y="1249267"/>
            <a:ext cx="7184390" cy="557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450" spc="-140" dirty="0"/>
              <a:t>Existing</a:t>
            </a:r>
            <a:r>
              <a:rPr sz="3450" spc="-355" dirty="0"/>
              <a:t> </a:t>
            </a:r>
            <a:r>
              <a:rPr sz="3450" spc="-90" dirty="0"/>
              <a:t>System</a:t>
            </a:r>
            <a:r>
              <a:rPr sz="3450" spc="-350" dirty="0"/>
              <a:t> </a:t>
            </a:r>
            <a:r>
              <a:rPr sz="3450" spc="-640" dirty="0"/>
              <a:t>/</a:t>
            </a:r>
            <a:r>
              <a:rPr sz="3450" spc="-350" dirty="0"/>
              <a:t> </a:t>
            </a:r>
            <a:r>
              <a:rPr sz="3450" spc="-190" dirty="0"/>
              <a:t>Literature</a:t>
            </a:r>
            <a:r>
              <a:rPr sz="3450" spc="-350" dirty="0"/>
              <a:t> </a:t>
            </a:r>
            <a:r>
              <a:rPr sz="3450" spc="-110" dirty="0"/>
              <a:t>Review</a:t>
            </a:r>
            <a:endParaRPr sz="3450"/>
          </a:p>
        </p:txBody>
      </p:sp>
      <p:sp>
        <p:nvSpPr>
          <p:cNvPr id="7" name="object 7"/>
          <p:cNvSpPr txBox="1"/>
          <p:nvPr/>
        </p:nvSpPr>
        <p:spPr>
          <a:xfrm>
            <a:off x="1447601" y="2108993"/>
            <a:ext cx="853821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80" dirty="0">
                <a:solidFill>
                  <a:srgbClr val="FFFFFF"/>
                </a:solidFill>
                <a:latin typeface="Tahoma"/>
                <a:cs typeface="Tahoma"/>
              </a:rPr>
              <a:t>Assessing</a:t>
            </a:r>
            <a:r>
              <a:rPr sz="175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FFFFFF"/>
                </a:solidFill>
                <a:latin typeface="Tahoma"/>
                <a:cs typeface="Tahoma"/>
              </a:rPr>
              <a:t>landscape</a:t>
            </a:r>
            <a:r>
              <a:rPr sz="1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FFFFFF"/>
                </a:solidFill>
                <a:latin typeface="Tahoma"/>
                <a:cs typeface="Tahoma"/>
              </a:rPr>
              <a:t>current</a:t>
            </a:r>
            <a:r>
              <a:rPr sz="1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FFFFFF"/>
                </a:solidFill>
                <a:latin typeface="Tahoma"/>
                <a:cs typeface="Tahoma"/>
              </a:rPr>
              <a:t>fake</a:t>
            </a:r>
            <a:r>
              <a:rPr sz="1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1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r>
              <a:rPr sz="1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FFFFFF"/>
                </a:solidFill>
                <a:latin typeface="Tahoma"/>
                <a:cs typeface="Tahoma"/>
              </a:rPr>
              <a:t>its</a:t>
            </a:r>
            <a:r>
              <a:rPr sz="1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FFFFFF"/>
                </a:solidFill>
                <a:latin typeface="Tahoma"/>
                <a:cs typeface="Tahoma"/>
              </a:rPr>
              <a:t>inherent</a:t>
            </a:r>
            <a:r>
              <a:rPr sz="1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Tahoma"/>
                <a:cs typeface="Tahoma"/>
              </a:rPr>
              <a:t>challenges.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9124" y="2720827"/>
            <a:ext cx="10191750" cy="38100"/>
            <a:chOff x="619124" y="2720827"/>
            <a:chExt cx="10191750" cy="38100"/>
          </a:xfrm>
        </p:grpSpPr>
        <p:sp>
          <p:nvSpPr>
            <p:cNvPr id="9" name="object 9"/>
            <p:cNvSpPr/>
            <p:nvPr/>
          </p:nvSpPr>
          <p:spPr>
            <a:xfrm>
              <a:off x="619124" y="2720827"/>
              <a:ext cx="10191750" cy="38100"/>
            </a:xfrm>
            <a:custGeom>
              <a:avLst/>
              <a:gdLst/>
              <a:ahLst/>
              <a:cxnLst/>
              <a:rect l="l" t="t" r="r" b="b"/>
              <a:pathLst>
                <a:path w="10191750" h="38100">
                  <a:moveTo>
                    <a:pt x="1019174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0191749" y="0"/>
                  </a:lnTo>
                  <a:lnTo>
                    <a:pt x="10191749" y="38099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9124" y="2749402"/>
              <a:ext cx="10191750" cy="9525"/>
            </a:xfrm>
            <a:custGeom>
              <a:avLst/>
              <a:gdLst/>
              <a:ahLst/>
              <a:cxnLst/>
              <a:rect l="l" t="t" r="r" b="b"/>
              <a:pathLst>
                <a:path w="10191750" h="9525">
                  <a:moveTo>
                    <a:pt x="101917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0191749" y="0"/>
                  </a:lnTo>
                  <a:lnTo>
                    <a:pt x="10191749" y="9524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647699" y="37052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7699" y="40481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7699" y="43910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7699" y="50196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7699" y="5362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80" dirty="0"/>
              <a:t>Current</a:t>
            </a:r>
            <a:r>
              <a:rPr spc="-170" dirty="0"/>
              <a:t> </a:t>
            </a:r>
            <a:r>
              <a:rPr spc="-10" dirty="0"/>
              <a:t>Approaches</a:t>
            </a:r>
          </a:p>
          <a:p>
            <a:pPr marL="295910" marR="5080">
              <a:lnSpc>
                <a:spcPct val="160700"/>
              </a:lnSpc>
              <a:spcBef>
                <a:spcPts val="680"/>
              </a:spcBef>
            </a:pPr>
            <a:r>
              <a:rPr sz="1400" b="0" dirty="0">
                <a:latin typeface="Tahoma"/>
                <a:cs typeface="Tahoma"/>
              </a:rPr>
              <a:t>Manual</a:t>
            </a:r>
            <a:r>
              <a:rPr sz="1400" b="0" spc="20" dirty="0">
                <a:latin typeface="Tahoma"/>
                <a:cs typeface="Tahoma"/>
              </a:rPr>
              <a:t> </a:t>
            </a:r>
            <a:r>
              <a:rPr sz="1400" b="0" dirty="0">
                <a:latin typeface="Tahoma"/>
                <a:cs typeface="Tahoma"/>
              </a:rPr>
              <a:t>fact-</a:t>
            </a:r>
            <a:r>
              <a:rPr sz="1400" b="0" spc="45" dirty="0">
                <a:latin typeface="Tahoma"/>
                <a:cs typeface="Tahoma"/>
              </a:rPr>
              <a:t>checking</a:t>
            </a:r>
            <a:r>
              <a:rPr sz="1400" b="0" spc="20" dirty="0">
                <a:latin typeface="Tahoma"/>
                <a:cs typeface="Tahoma"/>
              </a:rPr>
              <a:t> </a:t>
            </a:r>
            <a:r>
              <a:rPr sz="1400" b="0" spc="50" dirty="0">
                <a:latin typeface="Tahoma"/>
                <a:cs typeface="Tahoma"/>
              </a:rPr>
              <a:t>by</a:t>
            </a:r>
            <a:r>
              <a:rPr sz="1400" b="0" spc="20" dirty="0">
                <a:latin typeface="Tahoma"/>
                <a:cs typeface="Tahoma"/>
              </a:rPr>
              <a:t> </a:t>
            </a:r>
            <a:r>
              <a:rPr sz="1400" b="0" dirty="0">
                <a:latin typeface="Tahoma"/>
                <a:cs typeface="Tahoma"/>
              </a:rPr>
              <a:t>journalists</a:t>
            </a:r>
            <a:r>
              <a:rPr sz="1400" b="0" spc="20" dirty="0">
                <a:latin typeface="Tahoma"/>
                <a:cs typeface="Tahoma"/>
              </a:rPr>
              <a:t> </a:t>
            </a:r>
            <a:r>
              <a:rPr sz="1400" b="0" dirty="0">
                <a:latin typeface="Tahoma"/>
                <a:cs typeface="Tahoma"/>
              </a:rPr>
              <a:t>and</a:t>
            </a:r>
            <a:r>
              <a:rPr sz="1400" b="0" spc="25" dirty="0">
                <a:latin typeface="Tahoma"/>
                <a:cs typeface="Tahoma"/>
              </a:rPr>
              <a:t> </a:t>
            </a:r>
            <a:r>
              <a:rPr sz="1400" b="0" spc="-10" dirty="0">
                <a:latin typeface="Tahoma"/>
                <a:cs typeface="Tahoma"/>
              </a:rPr>
              <a:t>organizations </a:t>
            </a:r>
            <a:r>
              <a:rPr sz="1400" b="0" dirty="0">
                <a:latin typeface="Tahoma"/>
                <a:cs typeface="Tahoma"/>
              </a:rPr>
              <a:t>Social</a:t>
            </a:r>
            <a:r>
              <a:rPr sz="1400" b="0" spc="40" dirty="0">
                <a:latin typeface="Tahoma"/>
                <a:cs typeface="Tahoma"/>
              </a:rPr>
              <a:t> </a:t>
            </a:r>
            <a:r>
              <a:rPr sz="1400" b="0" dirty="0">
                <a:latin typeface="Tahoma"/>
                <a:cs typeface="Tahoma"/>
              </a:rPr>
              <a:t>media</a:t>
            </a:r>
            <a:r>
              <a:rPr sz="1400" b="0" spc="40" dirty="0">
                <a:latin typeface="Tahoma"/>
                <a:cs typeface="Tahoma"/>
              </a:rPr>
              <a:t> </a:t>
            </a:r>
            <a:r>
              <a:rPr sz="1400" b="0" dirty="0">
                <a:latin typeface="Tahoma"/>
                <a:cs typeface="Tahoma"/>
              </a:rPr>
              <a:t>platform</a:t>
            </a:r>
            <a:r>
              <a:rPr sz="1400" b="0" spc="40" dirty="0">
                <a:latin typeface="Tahoma"/>
                <a:cs typeface="Tahoma"/>
              </a:rPr>
              <a:t> </a:t>
            </a:r>
            <a:r>
              <a:rPr sz="1400" b="0" dirty="0">
                <a:latin typeface="Tahoma"/>
                <a:cs typeface="Tahoma"/>
              </a:rPr>
              <a:t>moderation</a:t>
            </a:r>
            <a:r>
              <a:rPr sz="1400" b="0" spc="40" dirty="0">
                <a:latin typeface="Tahoma"/>
                <a:cs typeface="Tahoma"/>
              </a:rPr>
              <a:t> </a:t>
            </a:r>
            <a:r>
              <a:rPr sz="1400" b="0" spc="-20" dirty="0">
                <a:latin typeface="Tahoma"/>
                <a:cs typeface="Tahoma"/>
              </a:rPr>
              <a:t>teams</a:t>
            </a:r>
            <a:endParaRPr sz="1400">
              <a:latin typeface="Tahoma"/>
              <a:cs typeface="Tahoma"/>
            </a:endParaRPr>
          </a:p>
          <a:p>
            <a:pPr marL="295910" marR="737870">
              <a:lnSpc>
                <a:spcPct val="133900"/>
              </a:lnSpc>
              <a:spcBef>
                <a:spcPts val="455"/>
              </a:spcBef>
            </a:pPr>
            <a:r>
              <a:rPr sz="1400" b="0" dirty="0">
                <a:latin typeface="Tahoma"/>
                <a:cs typeface="Tahoma"/>
              </a:rPr>
              <a:t>Third-party</a:t>
            </a:r>
            <a:r>
              <a:rPr sz="1400" b="0" spc="165" dirty="0">
                <a:latin typeface="Tahoma"/>
                <a:cs typeface="Tahoma"/>
              </a:rPr>
              <a:t> </a:t>
            </a:r>
            <a:r>
              <a:rPr sz="1400" b="0" dirty="0">
                <a:latin typeface="Tahoma"/>
                <a:cs typeface="Tahoma"/>
              </a:rPr>
              <a:t>fact-</a:t>
            </a:r>
            <a:r>
              <a:rPr sz="1400" b="0" spc="45" dirty="0">
                <a:latin typeface="Tahoma"/>
                <a:cs typeface="Tahoma"/>
              </a:rPr>
              <a:t>checking</a:t>
            </a:r>
            <a:r>
              <a:rPr sz="1400" b="0" spc="170" dirty="0">
                <a:latin typeface="Tahoma"/>
                <a:cs typeface="Tahoma"/>
              </a:rPr>
              <a:t> </a:t>
            </a:r>
            <a:r>
              <a:rPr sz="1400" b="0" dirty="0">
                <a:latin typeface="Tahoma"/>
                <a:cs typeface="Tahoma"/>
              </a:rPr>
              <a:t>websites</a:t>
            </a:r>
            <a:r>
              <a:rPr sz="1400" b="0" spc="165" dirty="0">
                <a:latin typeface="Tahoma"/>
                <a:cs typeface="Tahoma"/>
              </a:rPr>
              <a:t> </a:t>
            </a:r>
            <a:r>
              <a:rPr sz="1400" b="0" spc="-10" dirty="0">
                <a:latin typeface="Tahoma"/>
                <a:cs typeface="Tahoma"/>
              </a:rPr>
              <a:t>(Snopes, FactCheck.org)</a:t>
            </a:r>
            <a:endParaRPr sz="1400">
              <a:latin typeface="Tahoma"/>
              <a:cs typeface="Tahoma"/>
            </a:endParaRPr>
          </a:p>
          <a:p>
            <a:pPr marL="295910" marR="469900">
              <a:lnSpc>
                <a:spcPct val="160700"/>
              </a:lnSpc>
            </a:pPr>
            <a:r>
              <a:rPr sz="1400" b="0" spc="50" dirty="0">
                <a:latin typeface="Tahoma"/>
                <a:cs typeface="Tahoma"/>
              </a:rPr>
              <a:t>Basic</a:t>
            </a:r>
            <a:r>
              <a:rPr sz="1400" b="0" spc="20" dirty="0">
                <a:latin typeface="Tahoma"/>
                <a:cs typeface="Tahoma"/>
              </a:rPr>
              <a:t> </a:t>
            </a:r>
            <a:r>
              <a:rPr sz="1400" b="0" dirty="0">
                <a:latin typeface="Tahoma"/>
                <a:cs typeface="Tahoma"/>
              </a:rPr>
              <a:t>keyword</a:t>
            </a:r>
            <a:r>
              <a:rPr sz="1400" b="0" spc="20" dirty="0">
                <a:latin typeface="Tahoma"/>
                <a:cs typeface="Tahoma"/>
              </a:rPr>
              <a:t> </a:t>
            </a:r>
            <a:r>
              <a:rPr sz="1400" b="0" dirty="0">
                <a:latin typeface="Tahoma"/>
                <a:cs typeface="Tahoma"/>
              </a:rPr>
              <a:t>filtering</a:t>
            </a:r>
            <a:r>
              <a:rPr sz="1400" b="0" spc="20" dirty="0">
                <a:latin typeface="Tahoma"/>
                <a:cs typeface="Tahoma"/>
              </a:rPr>
              <a:t> </a:t>
            </a:r>
            <a:r>
              <a:rPr sz="1400" b="0" dirty="0">
                <a:latin typeface="Tahoma"/>
                <a:cs typeface="Tahoma"/>
              </a:rPr>
              <a:t>and</a:t>
            </a:r>
            <a:r>
              <a:rPr sz="1400" b="0" spc="20" dirty="0">
                <a:latin typeface="Tahoma"/>
                <a:cs typeface="Tahoma"/>
              </a:rPr>
              <a:t> </a:t>
            </a:r>
            <a:r>
              <a:rPr sz="1400" b="0" dirty="0">
                <a:latin typeface="Tahoma"/>
                <a:cs typeface="Tahoma"/>
              </a:rPr>
              <a:t>blacklist</a:t>
            </a:r>
            <a:r>
              <a:rPr sz="1400" b="0" spc="20" dirty="0">
                <a:latin typeface="Tahoma"/>
                <a:cs typeface="Tahoma"/>
              </a:rPr>
              <a:t> </a:t>
            </a:r>
            <a:r>
              <a:rPr sz="1400" b="0" spc="-10" dirty="0">
                <a:latin typeface="Tahoma"/>
                <a:cs typeface="Tahoma"/>
              </a:rPr>
              <a:t>approaches </a:t>
            </a:r>
            <a:r>
              <a:rPr sz="1400" b="0" dirty="0">
                <a:latin typeface="Tahoma"/>
                <a:cs typeface="Tahoma"/>
              </a:rPr>
              <a:t>Limited</a:t>
            </a:r>
            <a:r>
              <a:rPr sz="1400" b="0" spc="45" dirty="0">
                <a:latin typeface="Tahoma"/>
                <a:cs typeface="Tahoma"/>
              </a:rPr>
              <a:t> </a:t>
            </a:r>
            <a:r>
              <a:rPr sz="1400" b="0" dirty="0">
                <a:latin typeface="Tahoma"/>
                <a:cs typeface="Tahoma"/>
              </a:rPr>
              <a:t>machine</a:t>
            </a:r>
            <a:r>
              <a:rPr sz="1400" b="0" spc="50" dirty="0">
                <a:latin typeface="Tahoma"/>
                <a:cs typeface="Tahoma"/>
              </a:rPr>
              <a:t> </a:t>
            </a:r>
            <a:r>
              <a:rPr sz="1400" b="0" dirty="0">
                <a:latin typeface="Tahoma"/>
                <a:cs typeface="Tahoma"/>
              </a:rPr>
              <a:t>learning</a:t>
            </a:r>
            <a:r>
              <a:rPr sz="1400" b="0" spc="50" dirty="0">
                <a:latin typeface="Tahoma"/>
                <a:cs typeface="Tahoma"/>
              </a:rPr>
              <a:t> </a:t>
            </a:r>
            <a:r>
              <a:rPr sz="1400" b="0" spc="-10" dirty="0">
                <a:latin typeface="Tahoma"/>
                <a:cs typeface="Tahoma"/>
              </a:rPr>
              <a:t>implementations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972173" y="37052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972173" y="40481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972173" y="43910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72173" y="47339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972173" y="50863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927923" y="3118643"/>
            <a:ext cx="4148454" cy="2101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10" dirty="0">
                <a:solidFill>
                  <a:srgbClr val="FFFFFF"/>
                </a:solidFill>
                <a:latin typeface="Tahoma"/>
                <a:cs typeface="Tahoma"/>
              </a:rPr>
              <a:t>Limitations</a:t>
            </a:r>
            <a:endParaRPr sz="1750">
              <a:latin typeface="Tahoma"/>
              <a:cs typeface="Tahoma"/>
            </a:endParaRPr>
          </a:p>
          <a:p>
            <a:pPr marL="295910">
              <a:lnSpc>
                <a:spcPct val="100000"/>
              </a:lnSpc>
              <a:spcBef>
                <a:spcPts val="1700"/>
              </a:spcBef>
            </a:pP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Time-consuming</a:t>
            </a:r>
            <a:r>
              <a:rPr sz="1400" spc="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labor-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intensive</a:t>
            </a:r>
            <a:endParaRPr sz="1400">
              <a:latin typeface="Tahoma"/>
              <a:cs typeface="Tahoma"/>
            </a:endParaRPr>
          </a:p>
          <a:p>
            <a:pPr marL="295910" marR="5080">
              <a:lnSpc>
                <a:spcPct val="160700"/>
              </a:lnSpc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Cannot</a:t>
            </a:r>
            <a:r>
              <a:rPr sz="14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ahoma"/>
                <a:cs typeface="Tahoma"/>
              </a:rPr>
              <a:t>scale</a:t>
            </a:r>
            <a:r>
              <a:rPr sz="14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handle</a:t>
            </a:r>
            <a:r>
              <a:rPr sz="14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massive</a:t>
            </a:r>
            <a:r>
              <a:rPr sz="14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content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volume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Subjective</a:t>
            </a: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prone</a:t>
            </a:r>
            <a:r>
              <a:rPr sz="14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4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human</a:t>
            </a: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bias</a:t>
            </a:r>
            <a:endParaRPr sz="1400">
              <a:latin typeface="Tahoma"/>
              <a:cs typeface="Tahoma"/>
            </a:endParaRPr>
          </a:p>
          <a:p>
            <a:pPr marL="295910" marR="1171575">
              <a:lnSpc>
                <a:spcPts val="2780"/>
              </a:lnSpc>
              <a:spcBef>
                <a:spcPts val="15"/>
              </a:spcBef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Reactive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rather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than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proactive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High</a:t>
            </a:r>
            <a:r>
              <a:rPr sz="14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false</a:t>
            </a:r>
            <a:r>
              <a:rPr sz="14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positive/negative</a:t>
            </a:r>
            <a:r>
              <a:rPr sz="14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rates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3874" y="619124"/>
            <a:ext cx="1009650" cy="171450"/>
            <a:chOff x="523874" y="619124"/>
            <a:chExt cx="1009650" cy="171450"/>
          </a:xfrm>
        </p:grpSpPr>
        <p:sp>
          <p:nvSpPr>
            <p:cNvPr id="3" name="object 3"/>
            <p:cNvSpPr/>
            <p:nvPr/>
          </p:nvSpPr>
          <p:spPr>
            <a:xfrm>
              <a:off x="528637" y="623887"/>
              <a:ext cx="1000125" cy="161925"/>
            </a:xfrm>
            <a:custGeom>
              <a:avLst/>
              <a:gdLst/>
              <a:ahLst/>
              <a:cxnLst/>
              <a:rect l="l" t="t" r="r" b="b"/>
              <a:pathLst>
                <a:path w="1000125" h="161925">
                  <a:moveTo>
                    <a:pt x="0" y="139406"/>
                  </a:moveTo>
                  <a:lnTo>
                    <a:pt x="0" y="22518"/>
                  </a:lnTo>
                  <a:lnTo>
                    <a:pt x="0" y="19532"/>
                  </a:lnTo>
                  <a:lnTo>
                    <a:pt x="571" y="16659"/>
                  </a:lnTo>
                  <a:lnTo>
                    <a:pt x="1714" y="13900"/>
                  </a:lnTo>
                  <a:lnTo>
                    <a:pt x="2856" y="11142"/>
                  </a:lnTo>
                  <a:lnTo>
                    <a:pt x="4483" y="8706"/>
                  </a:lnTo>
                  <a:lnTo>
                    <a:pt x="6595" y="6595"/>
                  </a:lnTo>
                  <a:lnTo>
                    <a:pt x="8706" y="4483"/>
                  </a:lnTo>
                  <a:lnTo>
                    <a:pt x="11142" y="2856"/>
                  </a:lnTo>
                  <a:lnTo>
                    <a:pt x="13900" y="1714"/>
                  </a:lnTo>
                  <a:lnTo>
                    <a:pt x="16659" y="571"/>
                  </a:lnTo>
                  <a:lnTo>
                    <a:pt x="19532" y="0"/>
                  </a:lnTo>
                  <a:lnTo>
                    <a:pt x="22518" y="0"/>
                  </a:lnTo>
                  <a:lnTo>
                    <a:pt x="977606" y="0"/>
                  </a:lnTo>
                  <a:lnTo>
                    <a:pt x="980592" y="0"/>
                  </a:lnTo>
                  <a:lnTo>
                    <a:pt x="983465" y="571"/>
                  </a:lnTo>
                  <a:lnTo>
                    <a:pt x="986223" y="1714"/>
                  </a:lnTo>
                  <a:lnTo>
                    <a:pt x="988982" y="2856"/>
                  </a:lnTo>
                  <a:lnTo>
                    <a:pt x="1000124" y="22518"/>
                  </a:lnTo>
                  <a:lnTo>
                    <a:pt x="1000124" y="139406"/>
                  </a:lnTo>
                  <a:lnTo>
                    <a:pt x="977606" y="161924"/>
                  </a:lnTo>
                  <a:lnTo>
                    <a:pt x="22518" y="161924"/>
                  </a:lnTo>
                  <a:lnTo>
                    <a:pt x="19532" y="161924"/>
                  </a:lnTo>
                  <a:lnTo>
                    <a:pt x="16659" y="161353"/>
                  </a:lnTo>
                  <a:lnTo>
                    <a:pt x="13901" y="160210"/>
                  </a:lnTo>
                  <a:lnTo>
                    <a:pt x="11142" y="159068"/>
                  </a:lnTo>
                  <a:lnTo>
                    <a:pt x="8706" y="157440"/>
                  </a:lnTo>
                  <a:lnTo>
                    <a:pt x="6595" y="155329"/>
                  </a:lnTo>
                  <a:lnTo>
                    <a:pt x="4483" y="153217"/>
                  </a:lnTo>
                  <a:lnTo>
                    <a:pt x="2856" y="150782"/>
                  </a:lnTo>
                  <a:lnTo>
                    <a:pt x="1714" y="148023"/>
                  </a:lnTo>
                  <a:lnTo>
                    <a:pt x="571" y="145265"/>
                  </a:lnTo>
                  <a:lnTo>
                    <a:pt x="0" y="142392"/>
                  </a:lnTo>
                  <a:lnTo>
                    <a:pt x="0" y="139406"/>
                  </a:lnTo>
                  <a:close/>
                </a:path>
              </a:pathLst>
            </a:custGeom>
            <a:ln w="9524">
              <a:solidFill>
                <a:srgbClr val="494F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825" y="671076"/>
              <a:ext cx="81285" cy="6918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96465" y="642810"/>
            <a:ext cx="787400" cy="1193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" spc="10" dirty="0">
                <a:solidFill>
                  <a:srgbClr val="494FBC"/>
                </a:solidFill>
                <a:latin typeface="Tahoma"/>
                <a:cs typeface="Tahoma"/>
              </a:rPr>
              <a:t>ACADEMIC</a:t>
            </a:r>
            <a:r>
              <a:rPr sz="600" spc="65" dirty="0">
                <a:solidFill>
                  <a:srgbClr val="494FBC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494FBC"/>
                </a:solidFill>
                <a:latin typeface="Tahoma"/>
                <a:cs typeface="Tahoma"/>
              </a:rPr>
              <a:t>PROJECT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14"/>
              </a:spcBef>
            </a:pPr>
            <a:r>
              <a:rPr sz="1900" spc="-60" dirty="0"/>
              <a:t>Proposed</a:t>
            </a:r>
            <a:r>
              <a:rPr sz="1900" spc="-160" dirty="0"/>
              <a:t> </a:t>
            </a:r>
            <a:r>
              <a:rPr sz="1900" spc="-30" dirty="0"/>
              <a:t>System</a:t>
            </a:r>
            <a:endParaRPr sz="1900"/>
          </a:p>
        </p:txBody>
      </p:sp>
      <p:sp>
        <p:nvSpPr>
          <p:cNvPr id="7" name="object 7"/>
          <p:cNvSpPr txBox="1"/>
          <p:nvPr/>
        </p:nvSpPr>
        <p:spPr>
          <a:xfrm>
            <a:off x="3891657" y="1180020"/>
            <a:ext cx="3648710" cy="172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50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9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FFFFFF"/>
                </a:solidFill>
                <a:latin typeface="Tahoma"/>
                <a:cs typeface="Tahoma"/>
              </a:rPr>
              <a:t>intelligent</a:t>
            </a:r>
            <a:r>
              <a:rPr sz="9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9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FFFFFF"/>
                </a:solidFill>
                <a:latin typeface="Tahoma"/>
                <a:cs typeface="Tahoma"/>
              </a:rPr>
              <a:t>scalable</a:t>
            </a:r>
            <a:r>
              <a:rPr sz="9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FFFFFF"/>
                </a:solidFill>
                <a:latin typeface="Tahoma"/>
                <a:cs typeface="Tahoma"/>
              </a:rPr>
              <a:t>solution</a:t>
            </a:r>
            <a:r>
              <a:rPr sz="9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95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FFFFFF"/>
                </a:solidFill>
                <a:latin typeface="Tahoma"/>
                <a:cs typeface="Tahoma"/>
              </a:rPr>
              <a:t>combating</a:t>
            </a:r>
            <a:r>
              <a:rPr sz="9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Tahoma"/>
                <a:cs typeface="Tahoma"/>
              </a:rPr>
              <a:t>misinformation.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3875" y="1462632"/>
            <a:ext cx="10382250" cy="19050"/>
            <a:chOff x="523875" y="1462632"/>
            <a:chExt cx="10382250" cy="19050"/>
          </a:xfrm>
        </p:grpSpPr>
        <p:sp>
          <p:nvSpPr>
            <p:cNvPr id="9" name="object 9"/>
            <p:cNvSpPr/>
            <p:nvPr/>
          </p:nvSpPr>
          <p:spPr>
            <a:xfrm>
              <a:off x="523875" y="1462632"/>
              <a:ext cx="10382250" cy="19050"/>
            </a:xfrm>
            <a:custGeom>
              <a:avLst/>
              <a:gdLst/>
              <a:ahLst/>
              <a:cxnLst/>
              <a:rect l="l" t="t" r="r" b="b"/>
              <a:pathLst>
                <a:path w="10382250" h="19050">
                  <a:moveTo>
                    <a:pt x="1038224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0382249" y="0"/>
                  </a:lnTo>
                  <a:lnTo>
                    <a:pt x="10382249" y="19049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3875" y="1472157"/>
              <a:ext cx="10382250" cy="9525"/>
            </a:xfrm>
            <a:custGeom>
              <a:avLst/>
              <a:gdLst/>
              <a:ahLst/>
              <a:cxnLst/>
              <a:rect l="l" t="t" r="r" b="b"/>
              <a:pathLst>
                <a:path w="10382250" h="9525">
                  <a:moveTo>
                    <a:pt x="103822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0382249" y="0"/>
                  </a:lnTo>
                  <a:lnTo>
                    <a:pt x="10382249" y="9524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869" y="1537523"/>
            <a:ext cx="171503" cy="25440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11919" y="1765497"/>
            <a:ext cx="4158615" cy="40068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950" b="1" spc="-45" dirty="0">
                <a:solidFill>
                  <a:srgbClr val="FFFFFF"/>
                </a:solidFill>
                <a:latin typeface="Tahoma"/>
                <a:cs typeface="Tahoma"/>
              </a:rPr>
              <a:t>Automated</a:t>
            </a:r>
            <a:r>
              <a:rPr sz="95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b="1" dirty="0">
                <a:solidFill>
                  <a:srgbClr val="FFFFFF"/>
                </a:solidFill>
                <a:latin typeface="Tahoma"/>
                <a:cs typeface="Tahoma"/>
              </a:rPr>
              <a:t>ML</a:t>
            </a:r>
            <a:r>
              <a:rPr sz="950" b="1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ahoma"/>
                <a:cs typeface="Tahoma"/>
              </a:rPr>
              <a:t>Classification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Leverages</a:t>
            </a:r>
            <a:r>
              <a:rPr sz="7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advanced</a:t>
            </a:r>
            <a:r>
              <a:rPr sz="7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machine</a:t>
            </a:r>
            <a:r>
              <a:rPr sz="7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learning</a:t>
            </a:r>
            <a:r>
              <a:rPr sz="7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models</a:t>
            </a:r>
            <a:r>
              <a:rPr sz="7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7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efficient</a:t>
            </a:r>
            <a:r>
              <a:rPr sz="7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7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accurate</a:t>
            </a:r>
            <a:r>
              <a:rPr sz="7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fake</a:t>
            </a:r>
            <a:r>
              <a:rPr sz="7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7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Tahoma"/>
                <a:cs typeface="Tahoma"/>
              </a:rPr>
              <a:t>detection.</a:t>
            </a:r>
            <a:endParaRPr sz="75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7589" y="1539337"/>
            <a:ext cx="254388" cy="25090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735637" y="1765497"/>
            <a:ext cx="4098925" cy="40068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950" b="1" spc="-30" dirty="0">
                <a:solidFill>
                  <a:srgbClr val="FFFFFF"/>
                </a:solidFill>
                <a:latin typeface="Tahoma"/>
                <a:cs typeface="Tahoma"/>
              </a:rPr>
              <a:t>NLP</a:t>
            </a:r>
            <a:r>
              <a:rPr sz="95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b="1" spc="-3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950" b="1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b="1" spc="-55" dirty="0">
                <a:solidFill>
                  <a:srgbClr val="FFFFFF"/>
                </a:solidFill>
                <a:latin typeface="Tahoma"/>
                <a:cs typeface="Tahoma"/>
              </a:rPr>
              <a:t>Text</a:t>
            </a:r>
            <a:r>
              <a:rPr sz="950" b="1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Utilizes</a:t>
            </a:r>
            <a:r>
              <a:rPr sz="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Natural</a:t>
            </a:r>
            <a:r>
              <a:rPr sz="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Language</a:t>
            </a:r>
            <a:r>
              <a:rPr sz="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Processing</a:t>
            </a:r>
            <a:r>
              <a:rPr sz="7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deeply</a:t>
            </a:r>
            <a:r>
              <a:rPr sz="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analyze</a:t>
            </a:r>
            <a:r>
              <a:rPr sz="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article</a:t>
            </a:r>
            <a:r>
              <a:rPr sz="7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content,</a:t>
            </a:r>
            <a:r>
              <a:rPr sz="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style,</a:t>
            </a:r>
            <a:r>
              <a:rPr sz="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7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Tahoma"/>
                <a:cs typeface="Tahoma"/>
              </a:rPr>
              <a:t>sentiment.</a:t>
            </a:r>
            <a:endParaRPr sz="75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8338" y="2261540"/>
            <a:ext cx="254366" cy="25412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11919" y="2489397"/>
            <a:ext cx="3952875" cy="40068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950" b="1" spc="-45" dirty="0">
                <a:solidFill>
                  <a:srgbClr val="FFFFFF"/>
                </a:solidFill>
                <a:latin typeface="Tahoma"/>
                <a:cs typeface="Tahoma"/>
              </a:rPr>
              <a:t>Smart</a:t>
            </a:r>
            <a:r>
              <a:rPr sz="95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b="1" spc="-50" dirty="0">
                <a:solidFill>
                  <a:srgbClr val="FFFFFF"/>
                </a:solidFill>
                <a:latin typeface="Tahoma"/>
                <a:cs typeface="Tahoma"/>
              </a:rPr>
              <a:t>Feature</a:t>
            </a:r>
            <a:r>
              <a:rPr sz="95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ahoma"/>
                <a:cs typeface="Tahoma"/>
              </a:rPr>
              <a:t>Extraction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Automatically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identifies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critical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features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articles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75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comprehensive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Tahoma"/>
                <a:cs typeface="Tahoma"/>
              </a:rPr>
              <a:t>evaluation.</a:t>
            </a:r>
            <a:endParaRPr sz="75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47921" y="2261377"/>
            <a:ext cx="253867" cy="25470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735637" y="2489397"/>
            <a:ext cx="3417570" cy="40068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950" b="1" spc="-50" dirty="0">
                <a:solidFill>
                  <a:srgbClr val="FFFFFF"/>
                </a:solidFill>
                <a:latin typeface="Tahoma"/>
                <a:cs typeface="Tahoma"/>
              </a:rPr>
              <a:t>Real-</a:t>
            </a:r>
            <a:r>
              <a:rPr sz="950" b="1" spc="-55" dirty="0">
                <a:solidFill>
                  <a:srgbClr val="FFFFFF"/>
                </a:solidFill>
                <a:latin typeface="Tahoma"/>
                <a:cs typeface="Tahoma"/>
              </a:rPr>
              <a:t>time</a:t>
            </a:r>
            <a:r>
              <a:rPr sz="95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ahoma"/>
                <a:cs typeface="Tahoma"/>
              </a:rPr>
              <a:t>Processing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750" dirty="0">
                <a:solidFill>
                  <a:srgbClr val="FFFFFF"/>
                </a:solidFill>
                <a:latin typeface="Tahoma"/>
                <a:cs typeface="Tahoma"/>
              </a:rPr>
              <a:t>Detects</a:t>
            </a:r>
            <a:r>
              <a:rPr sz="75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75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FFFFFF"/>
                </a:solidFill>
                <a:latin typeface="Tahoma"/>
                <a:cs typeface="Tahoma"/>
              </a:rPr>
              <a:t>flags</a:t>
            </a:r>
            <a:r>
              <a:rPr sz="75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FFFFFF"/>
                </a:solidFill>
                <a:latin typeface="Tahoma"/>
                <a:cs typeface="Tahoma"/>
              </a:rPr>
              <a:t>fake</a:t>
            </a:r>
            <a:r>
              <a:rPr sz="75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75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75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75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FFFFFF"/>
                </a:solidFill>
                <a:latin typeface="Tahoma"/>
                <a:cs typeface="Tahoma"/>
              </a:rPr>
              <a:t>emerges,</a:t>
            </a:r>
            <a:r>
              <a:rPr sz="75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FFFFFF"/>
                </a:solidFill>
                <a:latin typeface="Tahoma"/>
                <a:cs typeface="Tahoma"/>
              </a:rPr>
              <a:t>minimizing</a:t>
            </a:r>
            <a:r>
              <a:rPr sz="75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FFFFFF"/>
                </a:solidFill>
                <a:latin typeface="Tahoma"/>
                <a:cs typeface="Tahoma"/>
              </a:rPr>
              <a:t>its</a:t>
            </a:r>
            <a:r>
              <a:rPr sz="75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FFFFFF"/>
                </a:solidFill>
                <a:latin typeface="Tahoma"/>
                <a:cs typeface="Tahoma"/>
              </a:rPr>
              <a:t>spread</a:t>
            </a:r>
            <a:r>
              <a:rPr sz="75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75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Tahoma"/>
                <a:cs typeface="Tahoma"/>
              </a:rPr>
              <a:t>impact.</a:t>
            </a:r>
            <a:endParaRPr sz="75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0527" y="2985396"/>
            <a:ext cx="250177" cy="254388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11919" y="3225208"/>
            <a:ext cx="4307840" cy="37909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950" b="1" spc="-45" dirty="0">
                <a:solidFill>
                  <a:srgbClr val="FFFFFF"/>
                </a:solidFill>
                <a:latin typeface="Tahoma"/>
                <a:cs typeface="Tahoma"/>
              </a:rPr>
              <a:t>High</a:t>
            </a:r>
            <a:r>
              <a:rPr sz="95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ahoma"/>
                <a:cs typeface="Tahoma"/>
              </a:rPr>
              <a:t>Accuracy</a:t>
            </a:r>
            <a:r>
              <a:rPr sz="95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Ensures reliable classification between real and fake news with minimal false </a:t>
            </a:r>
            <a:r>
              <a:rPr sz="750" spc="-10" dirty="0">
                <a:solidFill>
                  <a:srgbClr val="FFFFFF"/>
                </a:solidFill>
                <a:latin typeface="Tahoma"/>
                <a:cs typeface="Tahoma"/>
              </a:rPr>
              <a:t>positives/negatives.</a:t>
            </a:r>
            <a:endParaRPr sz="75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47707" y="3025713"/>
            <a:ext cx="254266" cy="17375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5735637" y="3225208"/>
            <a:ext cx="3954779" cy="37909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950" b="1" spc="-30" dirty="0">
                <a:solidFill>
                  <a:srgbClr val="FFFFFF"/>
                </a:solidFill>
                <a:latin typeface="Tahoma"/>
                <a:cs typeface="Tahoma"/>
              </a:rPr>
              <a:t>Scalable</a:t>
            </a:r>
            <a:r>
              <a:rPr sz="95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Tahoma"/>
                <a:cs typeface="Tahoma"/>
              </a:rPr>
              <a:t>Architecture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Designed to handle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vast quantities of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daily news articles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and growing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datasets </a:t>
            </a:r>
            <a:r>
              <a:rPr sz="750" spc="-10" dirty="0">
                <a:solidFill>
                  <a:srgbClr val="FFFFFF"/>
                </a:solidFill>
                <a:latin typeface="Tahoma"/>
                <a:cs typeface="Tahoma"/>
              </a:rPr>
              <a:t>efficiently.</a:t>
            </a:r>
            <a:endParaRPr sz="75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8482" y="3707217"/>
            <a:ext cx="254267" cy="23949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511919" y="3949108"/>
            <a:ext cx="3714750" cy="37909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950" b="1" spc="-30" dirty="0">
                <a:solidFill>
                  <a:srgbClr val="FFFFFF"/>
                </a:solidFill>
                <a:latin typeface="Tahoma"/>
                <a:cs typeface="Tahoma"/>
              </a:rPr>
              <a:t>User-</a:t>
            </a:r>
            <a:r>
              <a:rPr sz="950" b="1" spc="-40" dirty="0">
                <a:solidFill>
                  <a:srgbClr val="FFFFFF"/>
                </a:solidFill>
                <a:latin typeface="Tahoma"/>
                <a:cs typeface="Tahoma"/>
              </a:rPr>
              <a:t>Friendly </a:t>
            </a:r>
            <a:r>
              <a:rPr sz="950" b="1" spc="-10" dirty="0">
                <a:solidFill>
                  <a:srgbClr val="FFFFFF"/>
                </a:solidFill>
                <a:latin typeface="Tahoma"/>
                <a:cs typeface="Tahoma"/>
              </a:rPr>
              <a:t>Interface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Provides</a:t>
            </a:r>
            <a:r>
              <a:rPr sz="75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75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FFFFFF"/>
                </a:solidFill>
                <a:latin typeface="Tahoma"/>
                <a:cs typeface="Tahoma"/>
              </a:rPr>
              <a:t>intuitive</a:t>
            </a:r>
            <a:r>
              <a:rPr sz="75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web/mobile</a:t>
            </a:r>
            <a:r>
              <a:rPr sz="75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platform</a:t>
            </a:r>
            <a:r>
              <a:rPr sz="75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75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easy</a:t>
            </a:r>
            <a:r>
              <a:rPr sz="75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interaction</a:t>
            </a:r>
            <a:r>
              <a:rPr sz="75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75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75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Tahoma"/>
                <a:cs typeface="Tahoma"/>
              </a:rPr>
              <a:t>verification.</a:t>
            </a:r>
            <a:endParaRPr sz="75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85221" y="3699636"/>
            <a:ext cx="179308" cy="254467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4965154" y="3949108"/>
            <a:ext cx="4378325" cy="69405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782955">
              <a:lnSpc>
                <a:spcPct val="100000"/>
              </a:lnSpc>
              <a:spcBef>
                <a:spcPts val="505"/>
              </a:spcBef>
            </a:pPr>
            <a:r>
              <a:rPr sz="950" b="1" spc="-50" dirty="0">
                <a:solidFill>
                  <a:srgbClr val="FFFFFF"/>
                </a:solidFill>
                <a:latin typeface="Tahoma"/>
                <a:cs typeface="Tahoma"/>
              </a:rPr>
              <a:t>Explainable</a:t>
            </a:r>
            <a:r>
              <a:rPr sz="95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b="1" spc="-85" dirty="0">
                <a:solidFill>
                  <a:srgbClr val="FFFFFF"/>
                </a:solidFill>
                <a:latin typeface="Tahoma"/>
                <a:cs typeface="Tahoma"/>
              </a:rPr>
              <a:t>AI</a:t>
            </a:r>
            <a:r>
              <a:rPr sz="95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b="1" spc="-20" dirty="0">
                <a:solidFill>
                  <a:srgbClr val="FFFFFF"/>
                </a:solidFill>
                <a:latin typeface="Tahoma"/>
                <a:cs typeface="Tahoma"/>
              </a:rPr>
              <a:t>(XAI)</a:t>
            </a:r>
            <a:endParaRPr sz="950">
              <a:latin typeface="Tahoma"/>
              <a:cs typeface="Tahoma"/>
            </a:endParaRPr>
          </a:p>
          <a:p>
            <a:pPr marL="782955">
              <a:lnSpc>
                <a:spcPct val="100000"/>
              </a:lnSpc>
              <a:spcBef>
                <a:spcPts val="334"/>
              </a:spcBef>
            </a:pP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Offers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transparency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providing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insights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FFFFFF"/>
                </a:solidFill>
                <a:latin typeface="Tahoma"/>
                <a:cs typeface="Tahoma"/>
              </a:rPr>
              <a:t>into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why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article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was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flagged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75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Tahoma"/>
                <a:cs typeface="Tahoma"/>
              </a:rPr>
              <a:t>fake.</a:t>
            </a:r>
            <a:endParaRPr sz="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500" b="1" spc="-25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500" b="1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Tahoma"/>
                <a:cs typeface="Tahoma"/>
              </a:rPr>
              <a:t>Advantages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23874" y="4724399"/>
            <a:ext cx="5162550" cy="523875"/>
            <a:chOff x="523874" y="4724399"/>
            <a:chExt cx="5162550" cy="523875"/>
          </a:xfrm>
        </p:grpSpPr>
        <p:sp>
          <p:nvSpPr>
            <p:cNvPr id="28" name="object 28"/>
            <p:cNvSpPr/>
            <p:nvPr/>
          </p:nvSpPr>
          <p:spPr>
            <a:xfrm>
              <a:off x="528637" y="4729162"/>
              <a:ext cx="5153025" cy="514350"/>
            </a:xfrm>
            <a:custGeom>
              <a:avLst/>
              <a:gdLst/>
              <a:ahLst/>
              <a:cxnLst/>
              <a:rect l="l" t="t" r="r" b="b"/>
              <a:pathLst>
                <a:path w="5153025" h="514350">
                  <a:moveTo>
                    <a:pt x="5127575" y="514349"/>
                  </a:moveTo>
                  <a:lnTo>
                    <a:pt x="25448" y="514349"/>
                  </a:lnTo>
                  <a:lnTo>
                    <a:pt x="21705" y="513604"/>
                  </a:lnTo>
                  <a:lnTo>
                    <a:pt x="0" y="488901"/>
                  </a:lnTo>
                  <a:lnTo>
                    <a:pt x="0" y="485011"/>
                  </a:lnTo>
                  <a:lnTo>
                    <a:pt x="0" y="25447"/>
                  </a:lnTo>
                  <a:lnTo>
                    <a:pt x="25448" y="0"/>
                  </a:lnTo>
                  <a:lnTo>
                    <a:pt x="5127575" y="0"/>
                  </a:lnTo>
                  <a:lnTo>
                    <a:pt x="5153024" y="25447"/>
                  </a:lnTo>
                  <a:lnTo>
                    <a:pt x="5153024" y="488901"/>
                  </a:lnTo>
                  <a:lnTo>
                    <a:pt x="5131317" y="513604"/>
                  </a:lnTo>
                  <a:lnTo>
                    <a:pt x="5127575" y="51434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8637" y="4729162"/>
              <a:ext cx="5153025" cy="514350"/>
            </a:xfrm>
            <a:custGeom>
              <a:avLst/>
              <a:gdLst/>
              <a:ahLst/>
              <a:cxnLst/>
              <a:rect l="l" t="t" r="r" b="b"/>
              <a:pathLst>
                <a:path w="5153025" h="514350">
                  <a:moveTo>
                    <a:pt x="0" y="485011"/>
                  </a:moveTo>
                  <a:lnTo>
                    <a:pt x="0" y="29338"/>
                  </a:lnTo>
                  <a:lnTo>
                    <a:pt x="0" y="25447"/>
                  </a:lnTo>
                  <a:lnTo>
                    <a:pt x="744" y="21705"/>
                  </a:lnTo>
                  <a:lnTo>
                    <a:pt x="2233" y="18110"/>
                  </a:lnTo>
                  <a:lnTo>
                    <a:pt x="3722" y="14516"/>
                  </a:lnTo>
                  <a:lnTo>
                    <a:pt x="5842" y="11343"/>
                  </a:lnTo>
                  <a:lnTo>
                    <a:pt x="8593" y="8592"/>
                  </a:lnTo>
                  <a:lnTo>
                    <a:pt x="11344" y="5841"/>
                  </a:lnTo>
                  <a:lnTo>
                    <a:pt x="14516" y="3721"/>
                  </a:lnTo>
                  <a:lnTo>
                    <a:pt x="18111" y="2233"/>
                  </a:lnTo>
                  <a:lnTo>
                    <a:pt x="21705" y="744"/>
                  </a:lnTo>
                  <a:lnTo>
                    <a:pt x="25448" y="0"/>
                  </a:lnTo>
                  <a:lnTo>
                    <a:pt x="29338" y="0"/>
                  </a:lnTo>
                  <a:lnTo>
                    <a:pt x="5123685" y="0"/>
                  </a:lnTo>
                  <a:lnTo>
                    <a:pt x="5127575" y="0"/>
                  </a:lnTo>
                  <a:lnTo>
                    <a:pt x="5131317" y="744"/>
                  </a:lnTo>
                  <a:lnTo>
                    <a:pt x="5134912" y="2232"/>
                  </a:lnTo>
                  <a:lnTo>
                    <a:pt x="5138506" y="3721"/>
                  </a:lnTo>
                  <a:lnTo>
                    <a:pt x="5141679" y="5841"/>
                  </a:lnTo>
                  <a:lnTo>
                    <a:pt x="5144430" y="8592"/>
                  </a:lnTo>
                  <a:lnTo>
                    <a:pt x="5147181" y="11343"/>
                  </a:lnTo>
                  <a:lnTo>
                    <a:pt x="5149302" y="14516"/>
                  </a:lnTo>
                  <a:lnTo>
                    <a:pt x="5150791" y="18110"/>
                  </a:lnTo>
                  <a:lnTo>
                    <a:pt x="5152279" y="21705"/>
                  </a:lnTo>
                  <a:lnTo>
                    <a:pt x="5153024" y="25447"/>
                  </a:lnTo>
                  <a:lnTo>
                    <a:pt x="5153024" y="29338"/>
                  </a:lnTo>
                  <a:lnTo>
                    <a:pt x="5153024" y="485011"/>
                  </a:lnTo>
                  <a:lnTo>
                    <a:pt x="5153024" y="488901"/>
                  </a:lnTo>
                  <a:lnTo>
                    <a:pt x="5152279" y="492643"/>
                  </a:lnTo>
                  <a:lnTo>
                    <a:pt x="5150791" y="496238"/>
                  </a:lnTo>
                  <a:lnTo>
                    <a:pt x="5149302" y="499832"/>
                  </a:lnTo>
                  <a:lnTo>
                    <a:pt x="5134912" y="512115"/>
                  </a:lnTo>
                  <a:lnTo>
                    <a:pt x="5131317" y="513604"/>
                  </a:lnTo>
                  <a:lnTo>
                    <a:pt x="5127575" y="514349"/>
                  </a:lnTo>
                  <a:lnTo>
                    <a:pt x="5123685" y="514349"/>
                  </a:lnTo>
                  <a:lnTo>
                    <a:pt x="29338" y="514349"/>
                  </a:lnTo>
                  <a:lnTo>
                    <a:pt x="25448" y="514349"/>
                  </a:lnTo>
                  <a:lnTo>
                    <a:pt x="21705" y="513604"/>
                  </a:lnTo>
                  <a:lnTo>
                    <a:pt x="18111" y="512115"/>
                  </a:lnTo>
                  <a:lnTo>
                    <a:pt x="14516" y="510626"/>
                  </a:lnTo>
                  <a:lnTo>
                    <a:pt x="2233" y="496238"/>
                  </a:lnTo>
                  <a:lnTo>
                    <a:pt x="744" y="492643"/>
                  </a:lnTo>
                  <a:lnTo>
                    <a:pt x="0" y="488901"/>
                  </a:lnTo>
                  <a:lnTo>
                    <a:pt x="0" y="485011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18777" y="4768258"/>
            <a:ext cx="3642995" cy="37909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950" b="1" spc="-40" dirty="0">
                <a:latin typeface="Tahoma"/>
                <a:cs typeface="Tahoma"/>
              </a:rPr>
              <a:t>Faster</a:t>
            </a:r>
            <a:r>
              <a:rPr sz="950" b="1" spc="-95" dirty="0">
                <a:latin typeface="Tahoma"/>
                <a:cs typeface="Tahoma"/>
              </a:rPr>
              <a:t> </a:t>
            </a:r>
            <a:r>
              <a:rPr sz="950" b="1" spc="155" dirty="0">
                <a:latin typeface="Tahoma"/>
                <a:cs typeface="Tahoma"/>
              </a:rPr>
              <a:t>s</a:t>
            </a:r>
            <a:r>
              <a:rPr sz="950" b="1" spc="-90" dirty="0">
                <a:latin typeface="Tahoma"/>
                <a:cs typeface="Tahoma"/>
              </a:rPr>
              <a:t> </a:t>
            </a:r>
            <a:r>
              <a:rPr sz="950" b="1" spc="-10" dirty="0">
                <a:latin typeface="Tahoma"/>
                <a:cs typeface="Tahoma"/>
              </a:rPr>
              <a:t>Proactive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750" spc="10" dirty="0">
                <a:latin typeface="Tahoma"/>
                <a:cs typeface="Tahoma"/>
              </a:rPr>
              <a:t>Significantly</a:t>
            </a:r>
            <a:r>
              <a:rPr sz="750" spc="20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quicker</a:t>
            </a:r>
            <a:r>
              <a:rPr sz="750" spc="20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detection</a:t>
            </a:r>
            <a:r>
              <a:rPr sz="750" spc="20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and</a:t>
            </a:r>
            <a:r>
              <a:rPr sz="750" spc="20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proactive</a:t>
            </a:r>
            <a:r>
              <a:rPr sz="750" spc="20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identification</a:t>
            </a:r>
            <a:r>
              <a:rPr sz="750" spc="20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of</a:t>
            </a:r>
            <a:r>
              <a:rPr sz="750" spc="20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emerging</a:t>
            </a:r>
            <a:r>
              <a:rPr sz="750" spc="20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fake</a:t>
            </a:r>
            <a:r>
              <a:rPr sz="750" spc="20" dirty="0">
                <a:latin typeface="Tahoma"/>
                <a:cs typeface="Tahoma"/>
              </a:rPr>
              <a:t> </a:t>
            </a:r>
            <a:r>
              <a:rPr sz="750" spc="-10" dirty="0">
                <a:latin typeface="Tahoma"/>
                <a:cs typeface="Tahoma"/>
              </a:rPr>
              <a:t>news.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743573" y="4724399"/>
            <a:ext cx="5162550" cy="523875"/>
            <a:chOff x="5743573" y="4724399"/>
            <a:chExt cx="5162550" cy="523875"/>
          </a:xfrm>
        </p:grpSpPr>
        <p:sp>
          <p:nvSpPr>
            <p:cNvPr id="32" name="object 32"/>
            <p:cNvSpPr/>
            <p:nvPr/>
          </p:nvSpPr>
          <p:spPr>
            <a:xfrm>
              <a:off x="5748336" y="4729162"/>
              <a:ext cx="5153025" cy="514350"/>
            </a:xfrm>
            <a:custGeom>
              <a:avLst/>
              <a:gdLst/>
              <a:ahLst/>
              <a:cxnLst/>
              <a:rect l="l" t="t" r="r" b="b"/>
              <a:pathLst>
                <a:path w="5153025" h="514350">
                  <a:moveTo>
                    <a:pt x="5127575" y="514349"/>
                  </a:moveTo>
                  <a:lnTo>
                    <a:pt x="25448" y="514349"/>
                  </a:lnTo>
                  <a:lnTo>
                    <a:pt x="21705" y="513604"/>
                  </a:lnTo>
                  <a:lnTo>
                    <a:pt x="0" y="488901"/>
                  </a:lnTo>
                  <a:lnTo>
                    <a:pt x="0" y="485011"/>
                  </a:lnTo>
                  <a:lnTo>
                    <a:pt x="0" y="25447"/>
                  </a:lnTo>
                  <a:lnTo>
                    <a:pt x="25448" y="0"/>
                  </a:lnTo>
                  <a:lnTo>
                    <a:pt x="5127575" y="0"/>
                  </a:lnTo>
                  <a:lnTo>
                    <a:pt x="5153024" y="25447"/>
                  </a:lnTo>
                  <a:lnTo>
                    <a:pt x="5153024" y="488901"/>
                  </a:lnTo>
                  <a:lnTo>
                    <a:pt x="5131318" y="513604"/>
                  </a:lnTo>
                  <a:lnTo>
                    <a:pt x="5127575" y="51434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48336" y="4729162"/>
              <a:ext cx="5153025" cy="514350"/>
            </a:xfrm>
            <a:custGeom>
              <a:avLst/>
              <a:gdLst/>
              <a:ahLst/>
              <a:cxnLst/>
              <a:rect l="l" t="t" r="r" b="b"/>
              <a:pathLst>
                <a:path w="5153025" h="514350">
                  <a:moveTo>
                    <a:pt x="0" y="485011"/>
                  </a:moveTo>
                  <a:lnTo>
                    <a:pt x="0" y="29338"/>
                  </a:lnTo>
                  <a:lnTo>
                    <a:pt x="0" y="25447"/>
                  </a:lnTo>
                  <a:lnTo>
                    <a:pt x="744" y="21705"/>
                  </a:lnTo>
                  <a:lnTo>
                    <a:pt x="2233" y="18110"/>
                  </a:lnTo>
                  <a:lnTo>
                    <a:pt x="3721" y="14516"/>
                  </a:lnTo>
                  <a:lnTo>
                    <a:pt x="5842" y="11343"/>
                  </a:lnTo>
                  <a:lnTo>
                    <a:pt x="8593" y="8592"/>
                  </a:lnTo>
                  <a:lnTo>
                    <a:pt x="11344" y="5841"/>
                  </a:lnTo>
                  <a:lnTo>
                    <a:pt x="14517" y="3721"/>
                  </a:lnTo>
                  <a:lnTo>
                    <a:pt x="18111" y="2233"/>
                  </a:lnTo>
                  <a:lnTo>
                    <a:pt x="21705" y="744"/>
                  </a:lnTo>
                  <a:lnTo>
                    <a:pt x="25448" y="0"/>
                  </a:lnTo>
                  <a:lnTo>
                    <a:pt x="29339" y="0"/>
                  </a:lnTo>
                  <a:lnTo>
                    <a:pt x="5123686" y="0"/>
                  </a:lnTo>
                  <a:lnTo>
                    <a:pt x="5127575" y="0"/>
                  </a:lnTo>
                  <a:lnTo>
                    <a:pt x="5131317" y="744"/>
                  </a:lnTo>
                  <a:lnTo>
                    <a:pt x="5134911" y="2232"/>
                  </a:lnTo>
                  <a:lnTo>
                    <a:pt x="5138506" y="3721"/>
                  </a:lnTo>
                  <a:lnTo>
                    <a:pt x="5153025" y="29338"/>
                  </a:lnTo>
                  <a:lnTo>
                    <a:pt x="5153025" y="485011"/>
                  </a:lnTo>
                  <a:lnTo>
                    <a:pt x="5134912" y="512115"/>
                  </a:lnTo>
                  <a:lnTo>
                    <a:pt x="5131318" y="513604"/>
                  </a:lnTo>
                  <a:lnTo>
                    <a:pt x="5127575" y="514349"/>
                  </a:lnTo>
                  <a:lnTo>
                    <a:pt x="5123686" y="514349"/>
                  </a:lnTo>
                  <a:lnTo>
                    <a:pt x="29339" y="514349"/>
                  </a:lnTo>
                  <a:lnTo>
                    <a:pt x="25448" y="514349"/>
                  </a:lnTo>
                  <a:lnTo>
                    <a:pt x="21705" y="513604"/>
                  </a:lnTo>
                  <a:lnTo>
                    <a:pt x="18111" y="512115"/>
                  </a:lnTo>
                  <a:lnTo>
                    <a:pt x="14516" y="510626"/>
                  </a:lnTo>
                  <a:lnTo>
                    <a:pt x="11344" y="508506"/>
                  </a:lnTo>
                  <a:lnTo>
                    <a:pt x="8593" y="505756"/>
                  </a:lnTo>
                  <a:lnTo>
                    <a:pt x="5842" y="503005"/>
                  </a:lnTo>
                  <a:lnTo>
                    <a:pt x="3721" y="499832"/>
                  </a:lnTo>
                  <a:lnTo>
                    <a:pt x="2233" y="496238"/>
                  </a:lnTo>
                  <a:lnTo>
                    <a:pt x="744" y="492643"/>
                  </a:lnTo>
                  <a:lnTo>
                    <a:pt x="0" y="488901"/>
                  </a:lnTo>
                  <a:lnTo>
                    <a:pt x="0" y="485011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835798" y="4768258"/>
            <a:ext cx="3281679" cy="37909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950" b="1" spc="-45" dirty="0">
                <a:latin typeface="Tahoma"/>
                <a:cs typeface="Tahoma"/>
              </a:rPr>
              <a:t>Objective </a:t>
            </a:r>
            <a:r>
              <a:rPr sz="950" b="1" spc="-10" dirty="0">
                <a:latin typeface="Tahoma"/>
                <a:cs typeface="Tahoma"/>
              </a:rPr>
              <a:t>Analysis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750" spc="10" dirty="0">
                <a:latin typeface="Tahoma"/>
                <a:cs typeface="Tahoma"/>
              </a:rPr>
              <a:t>Eliminates</a:t>
            </a:r>
            <a:r>
              <a:rPr sz="750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human</a:t>
            </a:r>
            <a:r>
              <a:rPr sz="750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bias,</a:t>
            </a:r>
            <a:r>
              <a:rPr sz="750" spc="5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offering</a:t>
            </a:r>
            <a:r>
              <a:rPr sz="750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impartial</a:t>
            </a:r>
            <a:r>
              <a:rPr sz="750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and</a:t>
            </a:r>
            <a:r>
              <a:rPr sz="750" spc="5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consistent</a:t>
            </a:r>
            <a:r>
              <a:rPr sz="750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news</a:t>
            </a:r>
            <a:r>
              <a:rPr sz="750" dirty="0">
                <a:latin typeface="Tahoma"/>
                <a:cs typeface="Tahoma"/>
              </a:rPr>
              <a:t> </a:t>
            </a:r>
            <a:r>
              <a:rPr sz="750" spc="-10" dirty="0">
                <a:latin typeface="Tahoma"/>
                <a:cs typeface="Tahoma"/>
              </a:rPr>
              <a:t>verification.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23874" y="5295899"/>
            <a:ext cx="5162550" cy="523875"/>
            <a:chOff x="523874" y="5295899"/>
            <a:chExt cx="5162550" cy="523875"/>
          </a:xfrm>
        </p:grpSpPr>
        <p:sp>
          <p:nvSpPr>
            <p:cNvPr id="36" name="object 36"/>
            <p:cNvSpPr/>
            <p:nvPr/>
          </p:nvSpPr>
          <p:spPr>
            <a:xfrm>
              <a:off x="528637" y="5300662"/>
              <a:ext cx="5153025" cy="514350"/>
            </a:xfrm>
            <a:custGeom>
              <a:avLst/>
              <a:gdLst/>
              <a:ahLst/>
              <a:cxnLst/>
              <a:rect l="l" t="t" r="r" b="b"/>
              <a:pathLst>
                <a:path w="5153025" h="514350">
                  <a:moveTo>
                    <a:pt x="5127575" y="514349"/>
                  </a:moveTo>
                  <a:lnTo>
                    <a:pt x="25448" y="514349"/>
                  </a:lnTo>
                  <a:lnTo>
                    <a:pt x="21705" y="513605"/>
                  </a:lnTo>
                  <a:lnTo>
                    <a:pt x="0" y="488900"/>
                  </a:lnTo>
                  <a:lnTo>
                    <a:pt x="0" y="485011"/>
                  </a:lnTo>
                  <a:lnTo>
                    <a:pt x="0" y="25447"/>
                  </a:lnTo>
                  <a:lnTo>
                    <a:pt x="25448" y="0"/>
                  </a:lnTo>
                  <a:lnTo>
                    <a:pt x="5127575" y="0"/>
                  </a:lnTo>
                  <a:lnTo>
                    <a:pt x="5153024" y="25447"/>
                  </a:lnTo>
                  <a:lnTo>
                    <a:pt x="5153024" y="488900"/>
                  </a:lnTo>
                  <a:lnTo>
                    <a:pt x="5131317" y="513605"/>
                  </a:lnTo>
                  <a:lnTo>
                    <a:pt x="5127575" y="51434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8637" y="5300662"/>
              <a:ext cx="5153025" cy="514350"/>
            </a:xfrm>
            <a:custGeom>
              <a:avLst/>
              <a:gdLst/>
              <a:ahLst/>
              <a:cxnLst/>
              <a:rect l="l" t="t" r="r" b="b"/>
              <a:pathLst>
                <a:path w="5153025" h="514350">
                  <a:moveTo>
                    <a:pt x="0" y="485011"/>
                  </a:moveTo>
                  <a:lnTo>
                    <a:pt x="0" y="29338"/>
                  </a:lnTo>
                  <a:lnTo>
                    <a:pt x="0" y="25447"/>
                  </a:lnTo>
                  <a:lnTo>
                    <a:pt x="744" y="21705"/>
                  </a:lnTo>
                  <a:lnTo>
                    <a:pt x="2233" y="18111"/>
                  </a:lnTo>
                  <a:lnTo>
                    <a:pt x="3722" y="14516"/>
                  </a:lnTo>
                  <a:lnTo>
                    <a:pt x="5842" y="11343"/>
                  </a:lnTo>
                  <a:lnTo>
                    <a:pt x="8593" y="8593"/>
                  </a:lnTo>
                  <a:lnTo>
                    <a:pt x="11344" y="5841"/>
                  </a:lnTo>
                  <a:lnTo>
                    <a:pt x="14516" y="3721"/>
                  </a:lnTo>
                  <a:lnTo>
                    <a:pt x="18111" y="2233"/>
                  </a:lnTo>
                  <a:lnTo>
                    <a:pt x="21705" y="744"/>
                  </a:lnTo>
                  <a:lnTo>
                    <a:pt x="25448" y="0"/>
                  </a:lnTo>
                  <a:lnTo>
                    <a:pt x="29338" y="0"/>
                  </a:lnTo>
                  <a:lnTo>
                    <a:pt x="5123685" y="0"/>
                  </a:lnTo>
                  <a:lnTo>
                    <a:pt x="5127575" y="0"/>
                  </a:lnTo>
                  <a:lnTo>
                    <a:pt x="5131317" y="744"/>
                  </a:lnTo>
                  <a:lnTo>
                    <a:pt x="5134912" y="2233"/>
                  </a:lnTo>
                  <a:lnTo>
                    <a:pt x="5138506" y="3721"/>
                  </a:lnTo>
                  <a:lnTo>
                    <a:pt x="5141679" y="5840"/>
                  </a:lnTo>
                  <a:lnTo>
                    <a:pt x="5144430" y="8592"/>
                  </a:lnTo>
                  <a:lnTo>
                    <a:pt x="5147181" y="11343"/>
                  </a:lnTo>
                  <a:lnTo>
                    <a:pt x="5149302" y="14516"/>
                  </a:lnTo>
                  <a:lnTo>
                    <a:pt x="5150791" y="18111"/>
                  </a:lnTo>
                  <a:lnTo>
                    <a:pt x="5152279" y="21705"/>
                  </a:lnTo>
                  <a:lnTo>
                    <a:pt x="5153024" y="25447"/>
                  </a:lnTo>
                  <a:lnTo>
                    <a:pt x="5153024" y="29338"/>
                  </a:lnTo>
                  <a:lnTo>
                    <a:pt x="5153024" y="485011"/>
                  </a:lnTo>
                  <a:lnTo>
                    <a:pt x="5153024" y="488900"/>
                  </a:lnTo>
                  <a:lnTo>
                    <a:pt x="5152279" y="492643"/>
                  </a:lnTo>
                  <a:lnTo>
                    <a:pt x="5150791" y="496237"/>
                  </a:lnTo>
                  <a:lnTo>
                    <a:pt x="5149302" y="499832"/>
                  </a:lnTo>
                  <a:lnTo>
                    <a:pt x="5134912" y="512116"/>
                  </a:lnTo>
                  <a:lnTo>
                    <a:pt x="5131317" y="513605"/>
                  </a:lnTo>
                  <a:lnTo>
                    <a:pt x="5127575" y="514349"/>
                  </a:lnTo>
                  <a:lnTo>
                    <a:pt x="5123685" y="514349"/>
                  </a:lnTo>
                  <a:lnTo>
                    <a:pt x="29338" y="514349"/>
                  </a:lnTo>
                  <a:lnTo>
                    <a:pt x="25448" y="514349"/>
                  </a:lnTo>
                  <a:lnTo>
                    <a:pt x="21705" y="513605"/>
                  </a:lnTo>
                  <a:lnTo>
                    <a:pt x="18111" y="512116"/>
                  </a:lnTo>
                  <a:lnTo>
                    <a:pt x="14516" y="510627"/>
                  </a:lnTo>
                  <a:lnTo>
                    <a:pt x="0" y="488900"/>
                  </a:lnTo>
                  <a:lnTo>
                    <a:pt x="0" y="485011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18777" y="5339758"/>
            <a:ext cx="3754120" cy="37909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950" b="1" spc="-35" dirty="0">
                <a:latin typeface="Tahoma"/>
                <a:cs typeface="Tahoma"/>
              </a:rPr>
              <a:t>Reduced</a:t>
            </a:r>
            <a:r>
              <a:rPr sz="950" b="1" spc="-80" dirty="0">
                <a:latin typeface="Tahoma"/>
                <a:cs typeface="Tahoma"/>
              </a:rPr>
              <a:t> </a:t>
            </a:r>
            <a:r>
              <a:rPr sz="950" b="1" spc="-50" dirty="0">
                <a:latin typeface="Tahoma"/>
                <a:cs typeface="Tahoma"/>
              </a:rPr>
              <a:t>Effort</a:t>
            </a:r>
            <a:r>
              <a:rPr sz="950" b="1" spc="-75" dirty="0">
                <a:latin typeface="Tahoma"/>
                <a:cs typeface="Tahoma"/>
              </a:rPr>
              <a:t> </a:t>
            </a:r>
            <a:r>
              <a:rPr sz="950" b="1" spc="155" dirty="0">
                <a:latin typeface="Tahoma"/>
                <a:cs typeface="Tahoma"/>
              </a:rPr>
              <a:t>s</a:t>
            </a:r>
            <a:r>
              <a:rPr sz="950" b="1" spc="-75" dirty="0">
                <a:latin typeface="Tahoma"/>
                <a:cs typeface="Tahoma"/>
              </a:rPr>
              <a:t> </a:t>
            </a:r>
            <a:r>
              <a:rPr sz="950" b="1" spc="-20" dirty="0">
                <a:latin typeface="Tahoma"/>
                <a:cs typeface="Tahoma"/>
              </a:rPr>
              <a:t>Cost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750" spc="10" dirty="0">
                <a:latin typeface="Tahoma"/>
                <a:cs typeface="Tahoma"/>
              </a:rPr>
              <a:t>Automates</a:t>
            </a:r>
            <a:r>
              <a:rPr sz="750" spc="35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manual</a:t>
            </a:r>
            <a:r>
              <a:rPr sz="750" spc="35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tasks,</a:t>
            </a:r>
            <a:r>
              <a:rPr sz="750" spc="35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saving</a:t>
            </a:r>
            <a:r>
              <a:rPr sz="750" spc="35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time</a:t>
            </a:r>
            <a:r>
              <a:rPr sz="750" spc="35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and</a:t>
            </a:r>
            <a:r>
              <a:rPr sz="750" spc="35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resources</a:t>
            </a:r>
            <a:r>
              <a:rPr sz="750" spc="35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for</a:t>
            </a:r>
            <a:r>
              <a:rPr sz="750" spc="35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fact-checking</a:t>
            </a:r>
            <a:r>
              <a:rPr sz="750" spc="35" dirty="0">
                <a:latin typeface="Tahoma"/>
                <a:cs typeface="Tahoma"/>
              </a:rPr>
              <a:t> </a:t>
            </a:r>
            <a:r>
              <a:rPr sz="750" spc="-10" dirty="0">
                <a:latin typeface="Tahoma"/>
                <a:cs typeface="Tahoma"/>
              </a:rPr>
              <a:t>organizations.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743573" y="5295899"/>
            <a:ext cx="5162550" cy="523875"/>
            <a:chOff x="5743573" y="5295899"/>
            <a:chExt cx="5162550" cy="523875"/>
          </a:xfrm>
        </p:grpSpPr>
        <p:sp>
          <p:nvSpPr>
            <p:cNvPr id="40" name="object 40"/>
            <p:cNvSpPr/>
            <p:nvPr/>
          </p:nvSpPr>
          <p:spPr>
            <a:xfrm>
              <a:off x="5748336" y="5300662"/>
              <a:ext cx="5153025" cy="514350"/>
            </a:xfrm>
            <a:custGeom>
              <a:avLst/>
              <a:gdLst/>
              <a:ahLst/>
              <a:cxnLst/>
              <a:rect l="l" t="t" r="r" b="b"/>
              <a:pathLst>
                <a:path w="5153025" h="514350">
                  <a:moveTo>
                    <a:pt x="5127575" y="514349"/>
                  </a:moveTo>
                  <a:lnTo>
                    <a:pt x="25448" y="514349"/>
                  </a:lnTo>
                  <a:lnTo>
                    <a:pt x="21705" y="513605"/>
                  </a:lnTo>
                  <a:lnTo>
                    <a:pt x="0" y="488900"/>
                  </a:lnTo>
                  <a:lnTo>
                    <a:pt x="0" y="485011"/>
                  </a:lnTo>
                  <a:lnTo>
                    <a:pt x="0" y="25447"/>
                  </a:lnTo>
                  <a:lnTo>
                    <a:pt x="25448" y="0"/>
                  </a:lnTo>
                  <a:lnTo>
                    <a:pt x="5127575" y="0"/>
                  </a:lnTo>
                  <a:lnTo>
                    <a:pt x="5153024" y="25447"/>
                  </a:lnTo>
                  <a:lnTo>
                    <a:pt x="5153024" y="488900"/>
                  </a:lnTo>
                  <a:lnTo>
                    <a:pt x="5131318" y="513605"/>
                  </a:lnTo>
                  <a:lnTo>
                    <a:pt x="5127575" y="51434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748336" y="5300662"/>
              <a:ext cx="5153025" cy="514350"/>
            </a:xfrm>
            <a:custGeom>
              <a:avLst/>
              <a:gdLst/>
              <a:ahLst/>
              <a:cxnLst/>
              <a:rect l="l" t="t" r="r" b="b"/>
              <a:pathLst>
                <a:path w="5153025" h="514350">
                  <a:moveTo>
                    <a:pt x="0" y="485011"/>
                  </a:moveTo>
                  <a:lnTo>
                    <a:pt x="0" y="29338"/>
                  </a:lnTo>
                  <a:lnTo>
                    <a:pt x="0" y="25447"/>
                  </a:lnTo>
                  <a:lnTo>
                    <a:pt x="744" y="21705"/>
                  </a:lnTo>
                  <a:lnTo>
                    <a:pt x="2233" y="18111"/>
                  </a:lnTo>
                  <a:lnTo>
                    <a:pt x="3721" y="14516"/>
                  </a:lnTo>
                  <a:lnTo>
                    <a:pt x="5842" y="11343"/>
                  </a:lnTo>
                  <a:lnTo>
                    <a:pt x="8593" y="8593"/>
                  </a:lnTo>
                  <a:lnTo>
                    <a:pt x="11344" y="5841"/>
                  </a:lnTo>
                  <a:lnTo>
                    <a:pt x="14517" y="3721"/>
                  </a:lnTo>
                  <a:lnTo>
                    <a:pt x="18111" y="2233"/>
                  </a:lnTo>
                  <a:lnTo>
                    <a:pt x="21705" y="744"/>
                  </a:lnTo>
                  <a:lnTo>
                    <a:pt x="25448" y="0"/>
                  </a:lnTo>
                  <a:lnTo>
                    <a:pt x="29339" y="0"/>
                  </a:lnTo>
                  <a:lnTo>
                    <a:pt x="5123686" y="0"/>
                  </a:lnTo>
                  <a:lnTo>
                    <a:pt x="5127575" y="0"/>
                  </a:lnTo>
                  <a:lnTo>
                    <a:pt x="5131317" y="744"/>
                  </a:lnTo>
                  <a:lnTo>
                    <a:pt x="5134911" y="2233"/>
                  </a:lnTo>
                  <a:lnTo>
                    <a:pt x="5138506" y="3721"/>
                  </a:lnTo>
                  <a:lnTo>
                    <a:pt x="5141679" y="5840"/>
                  </a:lnTo>
                  <a:lnTo>
                    <a:pt x="5153025" y="29338"/>
                  </a:lnTo>
                  <a:lnTo>
                    <a:pt x="5153025" y="485011"/>
                  </a:lnTo>
                  <a:lnTo>
                    <a:pt x="5134912" y="512116"/>
                  </a:lnTo>
                  <a:lnTo>
                    <a:pt x="5131318" y="513605"/>
                  </a:lnTo>
                  <a:lnTo>
                    <a:pt x="5127575" y="514349"/>
                  </a:lnTo>
                  <a:lnTo>
                    <a:pt x="5123686" y="514349"/>
                  </a:lnTo>
                  <a:lnTo>
                    <a:pt x="29339" y="514349"/>
                  </a:lnTo>
                  <a:lnTo>
                    <a:pt x="25448" y="514349"/>
                  </a:lnTo>
                  <a:lnTo>
                    <a:pt x="21705" y="513605"/>
                  </a:lnTo>
                  <a:lnTo>
                    <a:pt x="18111" y="512116"/>
                  </a:lnTo>
                  <a:lnTo>
                    <a:pt x="14516" y="510627"/>
                  </a:lnTo>
                  <a:lnTo>
                    <a:pt x="11344" y="508507"/>
                  </a:lnTo>
                  <a:lnTo>
                    <a:pt x="8593" y="505756"/>
                  </a:lnTo>
                  <a:lnTo>
                    <a:pt x="5842" y="503005"/>
                  </a:lnTo>
                  <a:lnTo>
                    <a:pt x="3721" y="499832"/>
                  </a:lnTo>
                  <a:lnTo>
                    <a:pt x="2233" y="496238"/>
                  </a:lnTo>
                  <a:lnTo>
                    <a:pt x="744" y="492643"/>
                  </a:lnTo>
                  <a:lnTo>
                    <a:pt x="0" y="488900"/>
                  </a:lnTo>
                  <a:lnTo>
                    <a:pt x="0" y="485011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835798" y="5339758"/>
            <a:ext cx="3584575" cy="37909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950" b="1" spc="-40" dirty="0">
                <a:latin typeface="Tahoma"/>
                <a:cs typeface="Tahoma"/>
              </a:rPr>
              <a:t>Continuous</a:t>
            </a:r>
            <a:r>
              <a:rPr sz="950" b="1" spc="-20" dirty="0">
                <a:latin typeface="Tahoma"/>
                <a:cs typeface="Tahoma"/>
              </a:rPr>
              <a:t> </a:t>
            </a:r>
            <a:r>
              <a:rPr sz="950" b="1" spc="-10" dirty="0">
                <a:latin typeface="Tahoma"/>
                <a:cs typeface="Tahoma"/>
              </a:rPr>
              <a:t>Improvement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750" spc="10" dirty="0">
                <a:latin typeface="Tahoma"/>
                <a:cs typeface="Tahoma"/>
              </a:rPr>
              <a:t>Machine</a:t>
            </a:r>
            <a:r>
              <a:rPr sz="750" spc="25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learning</a:t>
            </a:r>
            <a:r>
              <a:rPr sz="750" spc="25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models</a:t>
            </a:r>
            <a:r>
              <a:rPr sz="750" spc="30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continuously</a:t>
            </a:r>
            <a:r>
              <a:rPr sz="750" spc="25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learn</a:t>
            </a:r>
            <a:r>
              <a:rPr sz="750" spc="25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and</a:t>
            </a:r>
            <a:r>
              <a:rPr sz="750" spc="30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adapt</a:t>
            </a:r>
            <a:r>
              <a:rPr sz="750" spc="25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to</a:t>
            </a:r>
            <a:r>
              <a:rPr sz="750" spc="25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new</a:t>
            </a:r>
            <a:r>
              <a:rPr sz="750" spc="30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fake</a:t>
            </a:r>
            <a:r>
              <a:rPr sz="750" spc="25" dirty="0">
                <a:latin typeface="Tahoma"/>
                <a:cs typeface="Tahoma"/>
              </a:rPr>
              <a:t> </a:t>
            </a:r>
            <a:r>
              <a:rPr sz="750" spc="10" dirty="0">
                <a:latin typeface="Tahoma"/>
                <a:cs typeface="Tahoma"/>
              </a:rPr>
              <a:t>news</a:t>
            </a:r>
            <a:r>
              <a:rPr sz="750" spc="25" dirty="0">
                <a:latin typeface="Tahoma"/>
                <a:cs typeface="Tahoma"/>
              </a:rPr>
              <a:t> </a:t>
            </a:r>
            <a:r>
              <a:rPr sz="750" spc="-10" dirty="0">
                <a:latin typeface="Tahoma"/>
                <a:cs typeface="Tahoma"/>
              </a:rPr>
              <a:t>tactics.</a:t>
            </a:r>
            <a:endParaRPr sz="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19125" y="600074"/>
            <a:ext cx="1190625" cy="209550"/>
            <a:chOff x="619125" y="600074"/>
            <a:chExt cx="1190625" cy="209550"/>
          </a:xfrm>
        </p:grpSpPr>
        <p:sp>
          <p:nvSpPr>
            <p:cNvPr id="4" name="object 4"/>
            <p:cNvSpPr/>
            <p:nvPr/>
          </p:nvSpPr>
          <p:spPr>
            <a:xfrm>
              <a:off x="623887" y="604837"/>
              <a:ext cx="1181100" cy="200025"/>
            </a:xfrm>
            <a:custGeom>
              <a:avLst/>
              <a:gdLst/>
              <a:ahLst/>
              <a:cxnLst/>
              <a:rect l="l" t="t" r="r" b="b"/>
              <a:pathLst>
                <a:path w="1181100" h="200025">
                  <a:moveTo>
                    <a:pt x="0" y="172529"/>
                  </a:moveTo>
                  <a:lnTo>
                    <a:pt x="0" y="27495"/>
                  </a:lnTo>
                  <a:lnTo>
                    <a:pt x="0" y="23837"/>
                  </a:lnTo>
                  <a:lnTo>
                    <a:pt x="699" y="20332"/>
                  </a:lnTo>
                  <a:lnTo>
                    <a:pt x="23841" y="0"/>
                  </a:lnTo>
                  <a:lnTo>
                    <a:pt x="27489" y="0"/>
                  </a:lnTo>
                  <a:lnTo>
                    <a:pt x="1153617" y="0"/>
                  </a:lnTo>
                  <a:lnTo>
                    <a:pt x="1157262" y="0"/>
                  </a:lnTo>
                  <a:lnTo>
                    <a:pt x="1160754" y="698"/>
                  </a:lnTo>
                  <a:lnTo>
                    <a:pt x="1164132" y="2095"/>
                  </a:lnTo>
                  <a:lnTo>
                    <a:pt x="1167498" y="3492"/>
                  </a:lnTo>
                  <a:lnTo>
                    <a:pt x="1170470" y="5473"/>
                  </a:lnTo>
                  <a:lnTo>
                    <a:pt x="1173048" y="8051"/>
                  </a:lnTo>
                  <a:lnTo>
                    <a:pt x="1175626" y="10629"/>
                  </a:lnTo>
                  <a:lnTo>
                    <a:pt x="1177607" y="13601"/>
                  </a:lnTo>
                  <a:lnTo>
                    <a:pt x="1179004" y="16967"/>
                  </a:lnTo>
                  <a:lnTo>
                    <a:pt x="1180401" y="20332"/>
                  </a:lnTo>
                  <a:lnTo>
                    <a:pt x="1181100" y="23837"/>
                  </a:lnTo>
                  <a:lnTo>
                    <a:pt x="1181100" y="27495"/>
                  </a:lnTo>
                  <a:lnTo>
                    <a:pt x="1181100" y="172529"/>
                  </a:lnTo>
                  <a:lnTo>
                    <a:pt x="1181100" y="176174"/>
                  </a:lnTo>
                  <a:lnTo>
                    <a:pt x="1180401" y="179692"/>
                  </a:lnTo>
                  <a:lnTo>
                    <a:pt x="1179004" y="183057"/>
                  </a:lnTo>
                  <a:lnTo>
                    <a:pt x="1177607" y="186423"/>
                  </a:lnTo>
                  <a:lnTo>
                    <a:pt x="1175626" y="189395"/>
                  </a:lnTo>
                  <a:lnTo>
                    <a:pt x="1173048" y="191973"/>
                  </a:lnTo>
                  <a:lnTo>
                    <a:pt x="1170470" y="194551"/>
                  </a:lnTo>
                  <a:lnTo>
                    <a:pt x="1167498" y="196532"/>
                  </a:lnTo>
                  <a:lnTo>
                    <a:pt x="1164132" y="197929"/>
                  </a:lnTo>
                  <a:lnTo>
                    <a:pt x="1160754" y="199326"/>
                  </a:lnTo>
                  <a:lnTo>
                    <a:pt x="1157262" y="200025"/>
                  </a:lnTo>
                  <a:lnTo>
                    <a:pt x="1153617" y="200025"/>
                  </a:lnTo>
                  <a:lnTo>
                    <a:pt x="27489" y="200025"/>
                  </a:lnTo>
                  <a:lnTo>
                    <a:pt x="23841" y="200025"/>
                  </a:lnTo>
                  <a:lnTo>
                    <a:pt x="20340" y="199326"/>
                  </a:lnTo>
                  <a:lnTo>
                    <a:pt x="0" y="176174"/>
                  </a:lnTo>
                  <a:lnTo>
                    <a:pt x="0" y="172529"/>
                  </a:lnTo>
                  <a:close/>
                </a:path>
              </a:pathLst>
            </a:custGeom>
            <a:ln w="9525">
              <a:solidFill>
                <a:srgbClr val="494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284" y="662347"/>
              <a:ext cx="96205" cy="8188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24160" y="628618"/>
            <a:ext cx="925194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spc="20" dirty="0">
                <a:solidFill>
                  <a:srgbClr val="494FBB"/>
                </a:solidFill>
                <a:latin typeface="Tahoma"/>
                <a:cs typeface="Tahoma"/>
              </a:rPr>
              <a:t>ACADEMIC</a:t>
            </a:r>
            <a:r>
              <a:rPr sz="700" spc="90" dirty="0">
                <a:solidFill>
                  <a:srgbClr val="494FBB"/>
                </a:solidFill>
                <a:latin typeface="Tahoma"/>
                <a:cs typeface="Tahoma"/>
              </a:rPr>
              <a:t> </a:t>
            </a:r>
            <a:r>
              <a:rPr sz="700" spc="40" dirty="0">
                <a:solidFill>
                  <a:srgbClr val="494FBB"/>
                </a:solidFill>
                <a:latin typeface="Tahoma"/>
                <a:cs typeface="Tahoma"/>
              </a:rPr>
              <a:t>PROJECT</a:t>
            </a:r>
            <a:endParaRPr sz="7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339780" y="813784"/>
            <a:ext cx="2759710" cy="371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-65" dirty="0"/>
              <a:t>System</a:t>
            </a:r>
            <a:r>
              <a:rPr sz="2250" spc="-220" dirty="0"/>
              <a:t> </a:t>
            </a:r>
            <a:r>
              <a:rPr sz="2250" spc="-70" dirty="0"/>
              <a:t>Architecture</a:t>
            </a:r>
            <a:endParaRPr sz="2250"/>
          </a:p>
        </p:txBody>
      </p:sp>
      <p:sp>
        <p:nvSpPr>
          <p:cNvPr id="8" name="object 8"/>
          <p:cNvSpPr txBox="1"/>
          <p:nvPr/>
        </p:nvSpPr>
        <p:spPr>
          <a:xfrm>
            <a:off x="3534322" y="1300702"/>
            <a:ext cx="436372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114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multi-layered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approach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45" dirty="0">
                <a:solidFill>
                  <a:srgbClr val="FFFFFF"/>
                </a:solidFill>
                <a:latin typeface="Tahoma"/>
                <a:cs typeface="Tahoma"/>
              </a:rPr>
              <a:t>combating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misinformation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effectively.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9125" y="1648040"/>
            <a:ext cx="10191750" cy="19050"/>
            <a:chOff x="619125" y="1648040"/>
            <a:chExt cx="10191750" cy="19050"/>
          </a:xfrm>
        </p:grpSpPr>
        <p:sp>
          <p:nvSpPr>
            <p:cNvPr id="10" name="object 10"/>
            <p:cNvSpPr/>
            <p:nvPr/>
          </p:nvSpPr>
          <p:spPr>
            <a:xfrm>
              <a:off x="619125" y="1648040"/>
              <a:ext cx="10191750" cy="19050"/>
            </a:xfrm>
            <a:custGeom>
              <a:avLst/>
              <a:gdLst/>
              <a:ahLst/>
              <a:cxnLst/>
              <a:rect l="l" t="t" r="r" b="b"/>
              <a:pathLst>
                <a:path w="10191750" h="19050">
                  <a:moveTo>
                    <a:pt x="101917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10191750" y="19050"/>
                  </a:lnTo>
                  <a:lnTo>
                    <a:pt x="10191750" y="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9125" y="1657565"/>
              <a:ext cx="10191750" cy="9525"/>
            </a:xfrm>
            <a:custGeom>
              <a:avLst/>
              <a:gdLst/>
              <a:ahLst/>
              <a:cxnLst/>
              <a:rect l="l" t="t" r="r" b="b"/>
              <a:pathLst>
                <a:path w="10191750" h="9525">
                  <a:moveTo>
                    <a:pt x="1019175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0191750" y="9525"/>
                  </a:lnTo>
                  <a:lnTo>
                    <a:pt x="10191750" y="0"/>
                  </a:lnTo>
                  <a:close/>
                </a:path>
              </a:pathLst>
            </a:custGeom>
            <a:solidFill>
              <a:srgbClr val="ECEC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125" y="1752600"/>
            <a:ext cx="6619874" cy="36957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07453" y="5506257"/>
            <a:ext cx="97599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Our</a:t>
            </a:r>
            <a:r>
              <a:rPr sz="9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designed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9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clear,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sequential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9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flow,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ensuring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9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articles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thoroughly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processed</a:t>
            </a:r>
            <a:r>
              <a:rPr sz="9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analyzed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through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multiple</a:t>
            </a:r>
            <a:r>
              <a:rPr sz="9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stages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before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classification,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continuous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interaction</a:t>
            </a:r>
            <a:r>
              <a:rPr sz="9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9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central</a:t>
            </a:r>
            <a:r>
              <a:rPr sz="9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database</a:t>
            </a:r>
            <a:r>
              <a:rPr sz="9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9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user-friendly</a:t>
            </a:r>
            <a:r>
              <a:rPr sz="9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interface.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9124" y="495299"/>
            <a:ext cx="1190625" cy="209550"/>
            <a:chOff x="619124" y="495299"/>
            <a:chExt cx="1190625" cy="209550"/>
          </a:xfrm>
        </p:grpSpPr>
        <p:sp>
          <p:nvSpPr>
            <p:cNvPr id="3" name="object 3"/>
            <p:cNvSpPr/>
            <p:nvPr/>
          </p:nvSpPr>
          <p:spPr>
            <a:xfrm>
              <a:off x="623887" y="500062"/>
              <a:ext cx="1181100" cy="200025"/>
            </a:xfrm>
            <a:custGeom>
              <a:avLst/>
              <a:gdLst/>
              <a:ahLst/>
              <a:cxnLst/>
              <a:rect l="l" t="t" r="r" b="b"/>
              <a:pathLst>
                <a:path w="1181100" h="200025">
                  <a:moveTo>
                    <a:pt x="0" y="172583"/>
                  </a:moveTo>
                  <a:lnTo>
                    <a:pt x="0" y="27441"/>
                  </a:lnTo>
                  <a:lnTo>
                    <a:pt x="0" y="23802"/>
                  </a:lnTo>
                  <a:lnTo>
                    <a:pt x="696" y="20302"/>
                  </a:lnTo>
                  <a:lnTo>
                    <a:pt x="2088" y="16940"/>
                  </a:lnTo>
                  <a:lnTo>
                    <a:pt x="3481" y="13578"/>
                  </a:lnTo>
                  <a:lnTo>
                    <a:pt x="5464" y="10610"/>
                  </a:lnTo>
                  <a:lnTo>
                    <a:pt x="8037" y="8037"/>
                  </a:lnTo>
                  <a:lnTo>
                    <a:pt x="10610" y="5464"/>
                  </a:lnTo>
                  <a:lnTo>
                    <a:pt x="13578" y="3481"/>
                  </a:lnTo>
                  <a:lnTo>
                    <a:pt x="16940" y="2088"/>
                  </a:lnTo>
                  <a:lnTo>
                    <a:pt x="20302" y="696"/>
                  </a:lnTo>
                  <a:lnTo>
                    <a:pt x="23802" y="0"/>
                  </a:lnTo>
                  <a:lnTo>
                    <a:pt x="27441" y="0"/>
                  </a:lnTo>
                  <a:lnTo>
                    <a:pt x="1153658" y="0"/>
                  </a:lnTo>
                  <a:lnTo>
                    <a:pt x="1157296" y="0"/>
                  </a:lnTo>
                  <a:lnTo>
                    <a:pt x="1160797" y="696"/>
                  </a:lnTo>
                  <a:lnTo>
                    <a:pt x="1164159" y="2088"/>
                  </a:lnTo>
                  <a:lnTo>
                    <a:pt x="1167521" y="3481"/>
                  </a:lnTo>
                  <a:lnTo>
                    <a:pt x="1170489" y="5464"/>
                  </a:lnTo>
                  <a:lnTo>
                    <a:pt x="1173062" y="8037"/>
                  </a:lnTo>
                  <a:lnTo>
                    <a:pt x="1175635" y="10610"/>
                  </a:lnTo>
                  <a:lnTo>
                    <a:pt x="1177618" y="13578"/>
                  </a:lnTo>
                  <a:lnTo>
                    <a:pt x="1179010" y="16940"/>
                  </a:lnTo>
                  <a:lnTo>
                    <a:pt x="1180403" y="20302"/>
                  </a:lnTo>
                  <a:lnTo>
                    <a:pt x="1181099" y="23802"/>
                  </a:lnTo>
                  <a:lnTo>
                    <a:pt x="1181099" y="27441"/>
                  </a:lnTo>
                  <a:lnTo>
                    <a:pt x="1181099" y="172583"/>
                  </a:lnTo>
                  <a:lnTo>
                    <a:pt x="1181099" y="176222"/>
                  </a:lnTo>
                  <a:lnTo>
                    <a:pt x="1180403" y="179722"/>
                  </a:lnTo>
                  <a:lnTo>
                    <a:pt x="1179010" y="183084"/>
                  </a:lnTo>
                  <a:lnTo>
                    <a:pt x="1177618" y="186446"/>
                  </a:lnTo>
                  <a:lnTo>
                    <a:pt x="1175635" y="189414"/>
                  </a:lnTo>
                  <a:lnTo>
                    <a:pt x="1173062" y="191987"/>
                  </a:lnTo>
                  <a:lnTo>
                    <a:pt x="1170489" y="194560"/>
                  </a:lnTo>
                  <a:lnTo>
                    <a:pt x="1167521" y="196543"/>
                  </a:lnTo>
                  <a:lnTo>
                    <a:pt x="1164159" y="197936"/>
                  </a:lnTo>
                  <a:lnTo>
                    <a:pt x="1160797" y="199328"/>
                  </a:lnTo>
                  <a:lnTo>
                    <a:pt x="1157296" y="200024"/>
                  </a:lnTo>
                  <a:lnTo>
                    <a:pt x="1153658" y="200024"/>
                  </a:lnTo>
                  <a:lnTo>
                    <a:pt x="27441" y="200024"/>
                  </a:lnTo>
                  <a:lnTo>
                    <a:pt x="23802" y="200024"/>
                  </a:lnTo>
                  <a:lnTo>
                    <a:pt x="20302" y="199328"/>
                  </a:lnTo>
                  <a:lnTo>
                    <a:pt x="16940" y="197936"/>
                  </a:lnTo>
                  <a:lnTo>
                    <a:pt x="13578" y="196543"/>
                  </a:lnTo>
                  <a:lnTo>
                    <a:pt x="10610" y="194560"/>
                  </a:lnTo>
                  <a:lnTo>
                    <a:pt x="8037" y="191987"/>
                  </a:lnTo>
                  <a:lnTo>
                    <a:pt x="5464" y="189414"/>
                  </a:lnTo>
                  <a:lnTo>
                    <a:pt x="3481" y="186446"/>
                  </a:lnTo>
                  <a:lnTo>
                    <a:pt x="2088" y="183084"/>
                  </a:lnTo>
                  <a:lnTo>
                    <a:pt x="696" y="179722"/>
                  </a:lnTo>
                  <a:lnTo>
                    <a:pt x="0" y="176222"/>
                  </a:lnTo>
                  <a:lnTo>
                    <a:pt x="0" y="172583"/>
                  </a:lnTo>
                  <a:close/>
                </a:path>
              </a:pathLst>
            </a:custGeom>
            <a:ln w="9524">
              <a:solidFill>
                <a:srgbClr val="494F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320" y="550406"/>
              <a:ext cx="95984" cy="96063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22969" y="514413"/>
            <a:ext cx="925194" cy="135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spc="20" dirty="0">
                <a:solidFill>
                  <a:srgbClr val="494FBC"/>
                </a:solidFill>
                <a:latin typeface="Tahoma"/>
                <a:cs typeface="Tahoma"/>
              </a:rPr>
              <a:t>ACADEMIC</a:t>
            </a:r>
            <a:r>
              <a:rPr sz="700" spc="90" dirty="0">
                <a:solidFill>
                  <a:srgbClr val="494FBC"/>
                </a:solidFill>
                <a:latin typeface="Tahoma"/>
                <a:cs typeface="Tahoma"/>
              </a:rPr>
              <a:t> </a:t>
            </a:r>
            <a:r>
              <a:rPr sz="700" spc="40" dirty="0">
                <a:solidFill>
                  <a:srgbClr val="494FBC"/>
                </a:solidFill>
                <a:latin typeface="Tahoma"/>
                <a:cs typeface="Tahoma"/>
              </a:rPr>
              <a:t>PROJECT</a:t>
            </a:r>
            <a:endParaRPr sz="7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34879" y="709485"/>
            <a:ext cx="2569210" cy="3708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50" spc="-70" dirty="0"/>
              <a:t>Technologies</a:t>
            </a:r>
            <a:r>
              <a:rPr sz="2250" spc="-180" dirty="0"/>
              <a:t> </a:t>
            </a:r>
            <a:r>
              <a:rPr sz="2250" spc="-20" dirty="0"/>
              <a:t>Used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020863" y="1186592"/>
            <a:ext cx="539051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11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robust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scalable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45" dirty="0">
                <a:solidFill>
                  <a:srgbClr val="FFFFFF"/>
                </a:solidFill>
                <a:latin typeface="Tahoma"/>
                <a:cs typeface="Tahoma"/>
              </a:rPr>
              <a:t>technology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stack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powers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our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Fake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8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System.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9124" y="1533703"/>
            <a:ext cx="10191750" cy="28575"/>
            <a:chOff x="619124" y="1533703"/>
            <a:chExt cx="10191750" cy="28575"/>
          </a:xfrm>
        </p:grpSpPr>
        <p:sp>
          <p:nvSpPr>
            <p:cNvPr id="9" name="object 9"/>
            <p:cNvSpPr/>
            <p:nvPr/>
          </p:nvSpPr>
          <p:spPr>
            <a:xfrm>
              <a:off x="619124" y="1533703"/>
              <a:ext cx="10191750" cy="28575"/>
            </a:xfrm>
            <a:custGeom>
              <a:avLst/>
              <a:gdLst/>
              <a:ahLst/>
              <a:cxnLst/>
              <a:rect l="l" t="t" r="r" b="b"/>
              <a:pathLst>
                <a:path w="10191750" h="28575">
                  <a:moveTo>
                    <a:pt x="10191749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10191749" y="0"/>
                  </a:lnTo>
                  <a:lnTo>
                    <a:pt x="10191749" y="28574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9124" y="1552753"/>
              <a:ext cx="10191750" cy="9525"/>
            </a:xfrm>
            <a:custGeom>
              <a:avLst/>
              <a:gdLst/>
              <a:ahLst/>
              <a:cxnLst/>
              <a:rect l="l" t="t" r="r" b="b"/>
              <a:pathLst>
                <a:path w="10191750" h="9525">
                  <a:moveTo>
                    <a:pt x="101917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0191749" y="0"/>
                  </a:lnTo>
                  <a:lnTo>
                    <a:pt x="10191749" y="9524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619124" y="20288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9124" y="22097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06573" y="1691417"/>
            <a:ext cx="2369185" cy="6115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45" dirty="0">
                <a:solidFill>
                  <a:srgbClr val="FFFFFF"/>
                </a:solidFill>
                <a:latin typeface="Tahoma"/>
                <a:cs typeface="Tahoma"/>
              </a:rPr>
              <a:t>Programming</a:t>
            </a:r>
            <a:r>
              <a:rPr sz="11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Languages</a:t>
            </a:r>
            <a:endParaRPr sz="1100">
              <a:latin typeface="Tahoma"/>
              <a:cs typeface="Tahoma"/>
            </a:endParaRPr>
          </a:p>
          <a:p>
            <a:pPr marL="196215">
              <a:lnSpc>
                <a:spcPct val="100000"/>
              </a:lnSpc>
              <a:spcBef>
                <a:spcPts val="755"/>
              </a:spcBef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Python:</a:t>
            </a:r>
            <a:r>
              <a:rPr sz="9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Core</a:t>
            </a:r>
            <a:r>
              <a:rPr sz="9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for </a:t>
            </a:r>
            <a:r>
              <a:rPr sz="900" spc="80" dirty="0">
                <a:solidFill>
                  <a:srgbClr val="FFFFFF"/>
                </a:solidFill>
                <a:latin typeface="Tahoma"/>
                <a:cs typeface="Tahoma"/>
              </a:rPr>
              <a:t>ML</a:t>
            </a:r>
            <a:r>
              <a:rPr sz="9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4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9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NLP</a:t>
            </a:r>
            <a:endParaRPr sz="900">
              <a:latin typeface="Tahoma"/>
              <a:cs typeface="Tahoma"/>
            </a:endParaRPr>
          </a:p>
          <a:p>
            <a:pPr marL="196215">
              <a:lnSpc>
                <a:spcPct val="100000"/>
              </a:lnSpc>
              <a:spcBef>
                <a:spcPts val="345"/>
              </a:spcBef>
            </a:pP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JavaScript: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interactive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web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interfaces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9124" y="30575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9124" y="32384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9124" y="34099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9124" y="35909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06573" y="2720117"/>
            <a:ext cx="2351405" cy="9639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20" dirty="0">
                <a:solidFill>
                  <a:srgbClr val="FFFFFF"/>
                </a:solidFill>
                <a:latin typeface="Tahoma"/>
                <a:cs typeface="Tahoma"/>
              </a:rPr>
              <a:t>Machine</a:t>
            </a:r>
            <a:r>
              <a:rPr sz="1100" b="1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35" dirty="0">
                <a:solidFill>
                  <a:srgbClr val="FFFFFF"/>
                </a:solidFill>
                <a:latin typeface="Tahoma"/>
                <a:cs typeface="Tahoma"/>
              </a:rPr>
              <a:t>Learning</a:t>
            </a:r>
            <a:r>
              <a:rPr sz="110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Libraries</a:t>
            </a:r>
            <a:endParaRPr sz="1100">
              <a:latin typeface="Tahoma"/>
              <a:cs typeface="Tahoma"/>
            </a:endParaRPr>
          </a:p>
          <a:p>
            <a:pPr marL="196215" marR="5080">
              <a:lnSpc>
                <a:spcPct val="129600"/>
              </a:lnSpc>
              <a:spcBef>
                <a:spcPts val="434"/>
              </a:spcBef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Scikit-learn: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FFFFFF"/>
                </a:solidFill>
                <a:latin typeface="Tahoma"/>
                <a:cs typeface="Tahoma"/>
              </a:rPr>
              <a:t>Classic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80" dirty="0">
                <a:solidFill>
                  <a:srgbClr val="FFFFFF"/>
                </a:solidFill>
                <a:latin typeface="Tahoma"/>
                <a:cs typeface="Tahoma"/>
              </a:rPr>
              <a:t>ML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algorithms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TensorFlow:</a:t>
            </a:r>
            <a:r>
              <a:rPr sz="9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Deep</a:t>
            </a:r>
            <a:r>
              <a:rPr sz="9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learning</a:t>
            </a:r>
            <a:r>
              <a:rPr sz="900" spc="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framework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PyTorch:</a:t>
            </a:r>
            <a:r>
              <a:rPr sz="9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Flexible</a:t>
            </a:r>
            <a:r>
              <a:rPr sz="9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deep</a:t>
            </a:r>
            <a:r>
              <a:rPr sz="9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learning</a:t>
            </a:r>
            <a:r>
              <a:rPr sz="9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research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Keras: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High-level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API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neural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networks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19124" y="44386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9124" y="46196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19124" y="48005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06573" y="4110767"/>
            <a:ext cx="3402329" cy="782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20" dirty="0">
                <a:solidFill>
                  <a:srgbClr val="FFFFFF"/>
                </a:solidFill>
                <a:latin typeface="Tahoma"/>
                <a:cs typeface="Tahoma"/>
              </a:rPr>
              <a:t>NLP</a:t>
            </a:r>
            <a:r>
              <a:rPr sz="110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FFFFFF"/>
                </a:solidFill>
                <a:latin typeface="Tahoma"/>
                <a:cs typeface="Tahoma"/>
              </a:rPr>
              <a:t>Tools</a:t>
            </a:r>
            <a:endParaRPr sz="1100">
              <a:latin typeface="Tahoma"/>
              <a:cs typeface="Tahoma"/>
            </a:endParaRPr>
          </a:p>
          <a:p>
            <a:pPr marL="196215">
              <a:lnSpc>
                <a:spcPct val="100000"/>
              </a:lnSpc>
              <a:spcBef>
                <a:spcPts val="680"/>
              </a:spcBef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NLTK: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Basic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text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processing</a:t>
            </a:r>
            <a:endParaRPr sz="900">
              <a:latin typeface="Tahoma"/>
              <a:cs typeface="Tahoma"/>
            </a:endParaRPr>
          </a:p>
          <a:p>
            <a:pPr marL="196215">
              <a:lnSpc>
                <a:spcPct val="100000"/>
              </a:lnSpc>
              <a:spcBef>
                <a:spcPts val="345"/>
              </a:spcBef>
            </a:pP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spaCy: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Advanced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FFFFFF"/>
                </a:solidFill>
                <a:latin typeface="Tahoma"/>
                <a:cs typeface="Tahoma"/>
              </a:rPr>
              <a:t>NLP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production</a:t>
            </a:r>
            <a:endParaRPr sz="900">
              <a:latin typeface="Tahoma"/>
              <a:cs typeface="Tahoma"/>
            </a:endParaRPr>
          </a:p>
          <a:p>
            <a:pPr marL="196215">
              <a:lnSpc>
                <a:spcPct val="100000"/>
              </a:lnSpc>
              <a:spcBef>
                <a:spcPts val="345"/>
              </a:spcBef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Transformers</a:t>
            </a:r>
            <a:r>
              <a:rPr sz="900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(BERT,</a:t>
            </a:r>
            <a:r>
              <a:rPr sz="900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GPT):</a:t>
            </a:r>
            <a:r>
              <a:rPr sz="9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State-of-the-art</a:t>
            </a:r>
            <a:r>
              <a:rPr sz="900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language</a:t>
            </a:r>
            <a:r>
              <a:rPr sz="9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models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19124" y="56483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5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19124" y="58292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2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06573" y="5310917"/>
            <a:ext cx="2149475" cy="6115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55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11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Processing</a:t>
            </a:r>
            <a:endParaRPr sz="1100">
              <a:latin typeface="Tahoma"/>
              <a:cs typeface="Tahoma"/>
            </a:endParaRPr>
          </a:p>
          <a:p>
            <a:pPr marL="196215" marR="5080">
              <a:lnSpc>
                <a:spcPct val="131900"/>
              </a:lnSpc>
              <a:spcBef>
                <a:spcPts val="409"/>
              </a:spcBef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Pandas: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manipulation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4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analysis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NumPy:</a:t>
            </a:r>
            <a:r>
              <a:rPr sz="9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Numerical</a:t>
            </a:r>
            <a:r>
              <a:rPr sz="9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computing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857873" y="20288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857873" y="22097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857873" y="23812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852020" y="1691417"/>
            <a:ext cx="2112645" cy="782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25" dirty="0">
                <a:solidFill>
                  <a:srgbClr val="FFFFFF"/>
                </a:solidFill>
                <a:latin typeface="Tahoma"/>
                <a:cs typeface="Tahoma"/>
              </a:rPr>
              <a:t>Web</a:t>
            </a:r>
            <a:r>
              <a:rPr sz="110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Framework</a:t>
            </a:r>
            <a:endParaRPr sz="1100">
              <a:latin typeface="Tahoma"/>
              <a:cs typeface="Tahoma"/>
            </a:endParaRPr>
          </a:p>
          <a:p>
            <a:pPr marL="196215" marR="5080">
              <a:lnSpc>
                <a:spcPct val="128499"/>
              </a:lnSpc>
              <a:spcBef>
                <a:spcPts val="445"/>
              </a:spcBef>
            </a:pP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Flask: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Lightweight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backend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Tahoma"/>
                <a:cs typeface="Tahoma"/>
              </a:rPr>
              <a:t>API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Django:</a:t>
            </a:r>
            <a:r>
              <a:rPr sz="9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Full-stack</a:t>
            </a:r>
            <a:r>
              <a:rPr sz="9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web</a:t>
            </a:r>
            <a:r>
              <a:rPr sz="9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development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React:</a:t>
            </a:r>
            <a:r>
              <a:rPr sz="9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Dynamic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front-end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Tahoma"/>
                <a:cs typeface="Tahoma"/>
              </a:rPr>
              <a:t>UI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857873" y="32384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857873" y="34099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852020" y="2901092"/>
            <a:ext cx="2722880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Database</a:t>
            </a:r>
            <a:endParaRPr sz="1100">
              <a:latin typeface="Tahoma"/>
              <a:cs typeface="Tahoma"/>
            </a:endParaRPr>
          </a:p>
          <a:p>
            <a:pPr marL="196215">
              <a:lnSpc>
                <a:spcPct val="100000"/>
              </a:lnSpc>
              <a:spcBef>
                <a:spcPts val="755"/>
              </a:spcBef>
            </a:pP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PostgreSQL: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 Relational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endParaRPr sz="900">
              <a:latin typeface="Tahoma"/>
              <a:cs typeface="Tahoma"/>
            </a:endParaRPr>
          </a:p>
          <a:p>
            <a:pPr marL="196215">
              <a:lnSpc>
                <a:spcPct val="100000"/>
              </a:lnSpc>
              <a:spcBef>
                <a:spcPts val="270"/>
              </a:spcBef>
            </a:pP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MongoDB: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Flexible</a:t>
            </a:r>
            <a:r>
              <a:rPr sz="9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NoSQL</a:t>
            </a:r>
            <a:r>
              <a:rPr sz="9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unstructured</a:t>
            </a:r>
            <a:r>
              <a:rPr sz="9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857873" y="42671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857873" y="44386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852020" y="3929792"/>
            <a:ext cx="277304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Deployment</a:t>
            </a:r>
            <a:endParaRPr sz="1100">
              <a:latin typeface="Tahoma"/>
              <a:cs typeface="Tahoma"/>
            </a:endParaRPr>
          </a:p>
          <a:p>
            <a:pPr marL="196215" marR="5080">
              <a:lnSpc>
                <a:spcPct val="125000"/>
              </a:lnSpc>
              <a:spcBef>
                <a:spcPts val="484"/>
              </a:spcBef>
            </a:pP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Docker: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Containerization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portability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AWS/Google</a:t>
            </a:r>
            <a:r>
              <a:rPr sz="9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Cloud:</a:t>
            </a:r>
            <a:r>
              <a:rPr sz="9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Scalable</a:t>
            </a:r>
            <a:r>
              <a:rPr sz="9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cloud</a:t>
            </a:r>
            <a:r>
              <a:rPr sz="9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infrastructure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852020" y="4958492"/>
            <a:ext cx="88582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30" dirty="0">
                <a:solidFill>
                  <a:srgbClr val="FFFFFF"/>
                </a:solidFill>
                <a:latin typeface="Tahoma"/>
                <a:cs typeface="Tahoma"/>
              </a:rPr>
              <a:t>Visualization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857873" y="52958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5"/>
                </a:lnTo>
                <a:lnTo>
                  <a:pt x="0" y="21575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5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857873" y="54673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857873" y="56483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5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035972" y="5191893"/>
            <a:ext cx="1962785" cy="54927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28499"/>
              </a:lnSpc>
              <a:spcBef>
                <a:spcPts val="60"/>
              </a:spcBef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Matplotlib: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Static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plots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analysis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Seaborn:</a:t>
            </a:r>
            <a:r>
              <a:rPr sz="9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Statistical</a:t>
            </a:r>
            <a:r>
              <a:rPr sz="9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9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visualization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Plotly:</a:t>
            </a:r>
            <a:r>
              <a:rPr sz="9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Interactive</a:t>
            </a:r>
            <a:r>
              <a:rPr sz="9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charts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19125" y="600074"/>
            <a:ext cx="1190625" cy="209550"/>
            <a:chOff x="619125" y="600074"/>
            <a:chExt cx="1190625" cy="209550"/>
          </a:xfrm>
        </p:grpSpPr>
        <p:sp>
          <p:nvSpPr>
            <p:cNvPr id="4" name="object 4"/>
            <p:cNvSpPr/>
            <p:nvPr/>
          </p:nvSpPr>
          <p:spPr>
            <a:xfrm>
              <a:off x="623887" y="604837"/>
              <a:ext cx="1181100" cy="200025"/>
            </a:xfrm>
            <a:custGeom>
              <a:avLst/>
              <a:gdLst/>
              <a:ahLst/>
              <a:cxnLst/>
              <a:rect l="l" t="t" r="r" b="b"/>
              <a:pathLst>
                <a:path w="1181100" h="200025">
                  <a:moveTo>
                    <a:pt x="0" y="172529"/>
                  </a:moveTo>
                  <a:lnTo>
                    <a:pt x="0" y="27495"/>
                  </a:lnTo>
                  <a:lnTo>
                    <a:pt x="0" y="23837"/>
                  </a:lnTo>
                  <a:lnTo>
                    <a:pt x="699" y="20332"/>
                  </a:lnTo>
                  <a:lnTo>
                    <a:pt x="23841" y="0"/>
                  </a:lnTo>
                  <a:lnTo>
                    <a:pt x="27489" y="0"/>
                  </a:lnTo>
                  <a:lnTo>
                    <a:pt x="1153617" y="0"/>
                  </a:lnTo>
                  <a:lnTo>
                    <a:pt x="1157262" y="0"/>
                  </a:lnTo>
                  <a:lnTo>
                    <a:pt x="1160754" y="698"/>
                  </a:lnTo>
                  <a:lnTo>
                    <a:pt x="1164132" y="2095"/>
                  </a:lnTo>
                  <a:lnTo>
                    <a:pt x="1167498" y="3492"/>
                  </a:lnTo>
                  <a:lnTo>
                    <a:pt x="1170470" y="5473"/>
                  </a:lnTo>
                  <a:lnTo>
                    <a:pt x="1173048" y="8051"/>
                  </a:lnTo>
                  <a:lnTo>
                    <a:pt x="1175626" y="10629"/>
                  </a:lnTo>
                  <a:lnTo>
                    <a:pt x="1177607" y="13601"/>
                  </a:lnTo>
                  <a:lnTo>
                    <a:pt x="1179004" y="16967"/>
                  </a:lnTo>
                  <a:lnTo>
                    <a:pt x="1180401" y="20332"/>
                  </a:lnTo>
                  <a:lnTo>
                    <a:pt x="1181100" y="23837"/>
                  </a:lnTo>
                  <a:lnTo>
                    <a:pt x="1181100" y="27495"/>
                  </a:lnTo>
                  <a:lnTo>
                    <a:pt x="1181100" y="172529"/>
                  </a:lnTo>
                  <a:lnTo>
                    <a:pt x="1181100" y="176174"/>
                  </a:lnTo>
                  <a:lnTo>
                    <a:pt x="1180401" y="179692"/>
                  </a:lnTo>
                  <a:lnTo>
                    <a:pt x="1179004" y="183057"/>
                  </a:lnTo>
                  <a:lnTo>
                    <a:pt x="1177607" y="186423"/>
                  </a:lnTo>
                  <a:lnTo>
                    <a:pt x="1175626" y="189395"/>
                  </a:lnTo>
                  <a:lnTo>
                    <a:pt x="1173048" y="191973"/>
                  </a:lnTo>
                  <a:lnTo>
                    <a:pt x="1170470" y="194551"/>
                  </a:lnTo>
                  <a:lnTo>
                    <a:pt x="1167498" y="196532"/>
                  </a:lnTo>
                  <a:lnTo>
                    <a:pt x="1164132" y="197929"/>
                  </a:lnTo>
                  <a:lnTo>
                    <a:pt x="1160754" y="199326"/>
                  </a:lnTo>
                  <a:lnTo>
                    <a:pt x="1157262" y="200025"/>
                  </a:lnTo>
                  <a:lnTo>
                    <a:pt x="1153617" y="200025"/>
                  </a:lnTo>
                  <a:lnTo>
                    <a:pt x="27489" y="200025"/>
                  </a:lnTo>
                  <a:lnTo>
                    <a:pt x="23841" y="200025"/>
                  </a:lnTo>
                  <a:lnTo>
                    <a:pt x="20340" y="199326"/>
                  </a:lnTo>
                  <a:lnTo>
                    <a:pt x="0" y="176174"/>
                  </a:lnTo>
                  <a:lnTo>
                    <a:pt x="0" y="172529"/>
                  </a:lnTo>
                  <a:close/>
                </a:path>
              </a:pathLst>
            </a:custGeom>
            <a:ln w="9525">
              <a:solidFill>
                <a:srgbClr val="494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284" y="662347"/>
              <a:ext cx="96205" cy="8188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24160" y="628618"/>
            <a:ext cx="925194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spc="20" dirty="0">
                <a:solidFill>
                  <a:srgbClr val="494FBB"/>
                </a:solidFill>
                <a:latin typeface="Tahoma"/>
                <a:cs typeface="Tahoma"/>
              </a:rPr>
              <a:t>ACADEMIC</a:t>
            </a:r>
            <a:r>
              <a:rPr sz="700" spc="90" dirty="0">
                <a:solidFill>
                  <a:srgbClr val="494FBB"/>
                </a:solidFill>
                <a:latin typeface="Tahoma"/>
                <a:cs typeface="Tahoma"/>
              </a:rPr>
              <a:t> </a:t>
            </a:r>
            <a:r>
              <a:rPr sz="700" spc="40" dirty="0">
                <a:solidFill>
                  <a:srgbClr val="494FBB"/>
                </a:solidFill>
                <a:latin typeface="Tahoma"/>
                <a:cs typeface="Tahoma"/>
              </a:rPr>
              <a:t>PROJECT</a:t>
            </a:r>
            <a:endParaRPr sz="7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70463" y="813784"/>
            <a:ext cx="2298065" cy="371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-100" dirty="0"/>
              <a:t>Working</a:t>
            </a:r>
            <a:r>
              <a:rPr sz="2250" spc="-215" dirty="0"/>
              <a:t> </a:t>
            </a:r>
            <a:r>
              <a:rPr sz="2250" spc="-10" dirty="0"/>
              <a:t>Process</a:t>
            </a:r>
            <a:endParaRPr sz="2250"/>
          </a:p>
        </p:txBody>
      </p:sp>
      <p:sp>
        <p:nvSpPr>
          <p:cNvPr id="8" name="object 8"/>
          <p:cNvSpPr txBox="1"/>
          <p:nvPr/>
        </p:nvSpPr>
        <p:spPr>
          <a:xfrm>
            <a:off x="3188144" y="1300702"/>
            <a:ext cx="505587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114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detailed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look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into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operational</a:t>
            </a:r>
            <a:r>
              <a:rPr sz="11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flow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6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our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Fake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8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r>
              <a:rPr sz="11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System.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9125" y="1648040"/>
            <a:ext cx="10191750" cy="19050"/>
            <a:chOff x="619125" y="1648040"/>
            <a:chExt cx="10191750" cy="19050"/>
          </a:xfrm>
        </p:grpSpPr>
        <p:sp>
          <p:nvSpPr>
            <p:cNvPr id="10" name="object 10"/>
            <p:cNvSpPr/>
            <p:nvPr/>
          </p:nvSpPr>
          <p:spPr>
            <a:xfrm>
              <a:off x="619125" y="1648040"/>
              <a:ext cx="10191750" cy="19050"/>
            </a:xfrm>
            <a:custGeom>
              <a:avLst/>
              <a:gdLst/>
              <a:ahLst/>
              <a:cxnLst/>
              <a:rect l="l" t="t" r="r" b="b"/>
              <a:pathLst>
                <a:path w="10191750" h="19050">
                  <a:moveTo>
                    <a:pt x="101917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10191750" y="19050"/>
                  </a:lnTo>
                  <a:lnTo>
                    <a:pt x="10191750" y="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9125" y="1657565"/>
              <a:ext cx="10191750" cy="9525"/>
            </a:xfrm>
            <a:custGeom>
              <a:avLst/>
              <a:gdLst/>
              <a:ahLst/>
              <a:cxnLst/>
              <a:rect l="l" t="t" r="r" b="b"/>
              <a:pathLst>
                <a:path w="10191750" h="9525">
                  <a:moveTo>
                    <a:pt x="1019175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0191750" y="9525"/>
                  </a:lnTo>
                  <a:lnTo>
                    <a:pt x="10191750" y="0"/>
                  </a:lnTo>
                  <a:close/>
                </a:path>
              </a:pathLst>
            </a:custGeom>
            <a:solidFill>
              <a:srgbClr val="ECEC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125" y="1752600"/>
            <a:ext cx="6619874" cy="36957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07466" y="5506257"/>
            <a:ext cx="99479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Our</a:t>
            </a:r>
            <a:r>
              <a:rPr sz="9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efficiently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processes</a:t>
            </a:r>
            <a:r>
              <a:rPr sz="9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articles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through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series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intelligent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stages,</a:t>
            </a:r>
            <a:r>
              <a:rPr sz="9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initial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input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9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preparation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advanced</a:t>
            </a:r>
            <a:r>
              <a:rPr sz="9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machine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learning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classification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9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clear,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explainable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output</a:t>
            </a:r>
            <a:r>
              <a:rPr sz="9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9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user.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4337" y="452437"/>
            <a:ext cx="790575" cy="123825"/>
          </a:xfrm>
          <a:custGeom>
            <a:avLst/>
            <a:gdLst/>
            <a:ahLst/>
            <a:cxnLst/>
            <a:rect l="l" t="t" r="r" b="b"/>
            <a:pathLst>
              <a:path w="790575" h="123825">
                <a:moveTo>
                  <a:pt x="0" y="107223"/>
                </a:moveTo>
                <a:lnTo>
                  <a:pt x="0" y="16601"/>
                </a:lnTo>
                <a:lnTo>
                  <a:pt x="0" y="14400"/>
                </a:lnTo>
                <a:lnTo>
                  <a:pt x="421" y="12282"/>
                </a:lnTo>
                <a:lnTo>
                  <a:pt x="1263" y="10248"/>
                </a:lnTo>
                <a:lnTo>
                  <a:pt x="2106" y="8214"/>
                </a:lnTo>
                <a:lnTo>
                  <a:pt x="3305" y="6419"/>
                </a:lnTo>
                <a:lnTo>
                  <a:pt x="4862" y="4862"/>
                </a:lnTo>
                <a:lnTo>
                  <a:pt x="6419" y="3305"/>
                </a:lnTo>
                <a:lnTo>
                  <a:pt x="8214" y="2106"/>
                </a:lnTo>
                <a:lnTo>
                  <a:pt x="10248" y="1263"/>
                </a:lnTo>
                <a:lnTo>
                  <a:pt x="12282" y="421"/>
                </a:lnTo>
                <a:lnTo>
                  <a:pt x="14400" y="0"/>
                </a:lnTo>
                <a:lnTo>
                  <a:pt x="16601" y="0"/>
                </a:lnTo>
                <a:lnTo>
                  <a:pt x="773973" y="0"/>
                </a:lnTo>
                <a:lnTo>
                  <a:pt x="776174" y="0"/>
                </a:lnTo>
                <a:lnTo>
                  <a:pt x="778292" y="421"/>
                </a:lnTo>
                <a:lnTo>
                  <a:pt x="790574" y="16601"/>
                </a:lnTo>
                <a:lnTo>
                  <a:pt x="790574" y="107223"/>
                </a:lnTo>
                <a:lnTo>
                  <a:pt x="780326" y="122561"/>
                </a:lnTo>
                <a:lnTo>
                  <a:pt x="778292" y="123403"/>
                </a:lnTo>
                <a:lnTo>
                  <a:pt x="776174" y="123824"/>
                </a:lnTo>
                <a:lnTo>
                  <a:pt x="773973" y="123824"/>
                </a:lnTo>
                <a:lnTo>
                  <a:pt x="16601" y="123824"/>
                </a:lnTo>
                <a:lnTo>
                  <a:pt x="0" y="109424"/>
                </a:lnTo>
                <a:lnTo>
                  <a:pt x="0" y="107223"/>
                </a:lnTo>
                <a:close/>
              </a:path>
            </a:pathLst>
          </a:custGeom>
          <a:ln w="9524">
            <a:solidFill>
              <a:srgbClr val="494F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22821" y="534668"/>
            <a:ext cx="5080" cy="7620"/>
          </a:xfrm>
          <a:custGeom>
            <a:avLst/>
            <a:gdLst/>
            <a:ahLst/>
            <a:cxnLst/>
            <a:rect l="l" t="t" r="r" b="b"/>
            <a:pathLst>
              <a:path w="5079" h="7620">
                <a:moveTo>
                  <a:pt x="0" y="7351"/>
                </a:moveTo>
                <a:lnTo>
                  <a:pt x="4917" y="1916"/>
                </a:lnTo>
                <a:lnTo>
                  <a:pt x="4922" y="0"/>
                </a:lnTo>
              </a:path>
            </a:pathLst>
          </a:custGeom>
          <a:ln w="3175">
            <a:solidFill>
              <a:srgbClr val="494F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5600" y="490518"/>
            <a:ext cx="4445" cy="3810"/>
          </a:xfrm>
          <a:custGeom>
            <a:avLst/>
            <a:gdLst/>
            <a:ahLst/>
            <a:cxnLst/>
            <a:rect l="l" t="t" r="r" b="b"/>
            <a:pathLst>
              <a:path w="4445" h="3809">
                <a:moveTo>
                  <a:pt x="4104" y="3251"/>
                </a:moveTo>
                <a:lnTo>
                  <a:pt x="780" y="1"/>
                </a:lnTo>
                <a:lnTo>
                  <a:pt x="0" y="0"/>
                </a:lnTo>
              </a:path>
            </a:pathLst>
          </a:custGeom>
          <a:ln w="3175">
            <a:solidFill>
              <a:srgbClr val="494F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6725" y="490518"/>
            <a:ext cx="3810" cy="2540"/>
          </a:xfrm>
          <a:custGeom>
            <a:avLst/>
            <a:gdLst/>
            <a:ahLst/>
            <a:cxnLst/>
            <a:rect l="l" t="t" r="r" b="b"/>
            <a:pathLst>
              <a:path w="3809" h="2540">
                <a:moveTo>
                  <a:pt x="3516" y="0"/>
                </a:moveTo>
                <a:lnTo>
                  <a:pt x="51" y="2087"/>
                </a:lnTo>
                <a:lnTo>
                  <a:pt x="0" y="2469"/>
                </a:lnTo>
              </a:path>
            </a:pathLst>
          </a:custGeom>
          <a:ln w="3175">
            <a:solidFill>
              <a:srgbClr val="494F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6727" y="528211"/>
            <a:ext cx="13335" cy="13970"/>
          </a:xfrm>
          <a:custGeom>
            <a:avLst/>
            <a:gdLst/>
            <a:ahLst/>
            <a:cxnLst/>
            <a:rect l="l" t="t" r="r" b="b"/>
            <a:pathLst>
              <a:path w="13334" h="13970">
                <a:moveTo>
                  <a:pt x="0" y="0"/>
                </a:moveTo>
                <a:lnTo>
                  <a:pt x="9185" y="13831"/>
                </a:lnTo>
                <a:lnTo>
                  <a:pt x="12866" y="13840"/>
                </a:lnTo>
              </a:path>
            </a:pathLst>
          </a:custGeom>
          <a:ln w="3175">
            <a:solidFill>
              <a:srgbClr val="494F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9436" y="535023"/>
            <a:ext cx="3810" cy="6985"/>
          </a:xfrm>
          <a:custGeom>
            <a:avLst/>
            <a:gdLst/>
            <a:ahLst/>
            <a:cxnLst/>
            <a:rect l="l" t="t" r="r" b="b"/>
            <a:pathLst>
              <a:path w="3809" h="6984">
                <a:moveTo>
                  <a:pt x="3406" y="6966"/>
                </a:moveTo>
                <a:lnTo>
                  <a:pt x="1027" y="5242"/>
                </a:lnTo>
                <a:lnTo>
                  <a:pt x="0" y="2920"/>
                </a:lnTo>
                <a:lnTo>
                  <a:pt x="324" y="0"/>
                </a:lnTo>
              </a:path>
            </a:pathLst>
          </a:custGeom>
          <a:ln w="3175">
            <a:solidFill>
              <a:srgbClr val="494F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6725" y="490518"/>
            <a:ext cx="61594" cy="52069"/>
          </a:xfrm>
          <a:custGeom>
            <a:avLst/>
            <a:gdLst/>
            <a:ahLst/>
            <a:cxnLst/>
            <a:rect l="l" t="t" r="r" b="b"/>
            <a:pathLst>
              <a:path w="61595" h="52070">
                <a:moveTo>
                  <a:pt x="27905" y="7938"/>
                </a:moveTo>
                <a:lnTo>
                  <a:pt x="7296" y="7851"/>
                </a:lnTo>
              </a:path>
              <a:path w="61595" h="52070">
                <a:moveTo>
                  <a:pt x="27944" y="28484"/>
                </a:moveTo>
                <a:lnTo>
                  <a:pt x="27905" y="7938"/>
                </a:lnTo>
              </a:path>
              <a:path w="61595" h="52070">
                <a:moveTo>
                  <a:pt x="27944" y="28484"/>
                </a:moveTo>
                <a:lnTo>
                  <a:pt x="7265" y="28346"/>
                </a:lnTo>
              </a:path>
              <a:path w="61595" h="52070">
                <a:moveTo>
                  <a:pt x="7296" y="7851"/>
                </a:moveTo>
                <a:lnTo>
                  <a:pt x="7265" y="28346"/>
                </a:lnTo>
              </a:path>
              <a:path w="61595" h="52070">
                <a:moveTo>
                  <a:pt x="48876" y="0"/>
                </a:moveTo>
                <a:lnTo>
                  <a:pt x="3516" y="0"/>
                </a:lnTo>
              </a:path>
              <a:path w="61595" h="52070">
                <a:moveTo>
                  <a:pt x="33227" y="16044"/>
                </a:moveTo>
                <a:lnTo>
                  <a:pt x="45785" y="16090"/>
                </a:lnTo>
              </a:path>
              <a:path w="61595" h="52070">
                <a:moveTo>
                  <a:pt x="33227" y="24369"/>
                </a:moveTo>
                <a:lnTo>
                  <a:pt x="45778" y="24441"/>
                </a:lnTo>
              </a:path>
              <a:path w="61595" h="52070">
                <a:moveTo>
                  <a:pt x="0" y="2469"/>
                </a:moveTo>
                <a:lnTo>
                  <a:pt x="2" y="37692"/>
                </a:lnTo>
              </a:path>
              <a:path w="61595" h="52070">
                <a:moveTo>
                  <a:pt x="7503" y="35226"/>
                </a:moveTo>
                <a:lnTo>
                  <a:pt x="45778" y="35261"/>
                </a:lnTo>
              </a:path>
              <a:path w="61595" h="52070">
                <a:moveTo>
                  <a:pt x="7396" y="42581"/>
                </a:moveTo>
                <a:lnTo>
                  <a:pt x="45778" y="42602"/>
                </a:lnTo>
              </a:path>
              <a:path w="61595" h="52070">
                <a:moveTo>
                  <a:pt x="52999" y="44501"/>
                </a:moveTo>
                <a:lnTo>
                  <a:pt x="52980" y="3251"/>
                </a:lnTo>
              </a:path>
              <a:path w="61595" h="52070">
                <a:moveTo>
                  <a:pt x="12869" y="51532"/>
                </a:moveTo>
                <a:lnTo>
                  <a:pt x="55976" y="51524"/>
                </a:lnTo>
              </a:path>
              <a:path w="61595" h="52070">
                <a:moveTo>
                  <a:pt x="61019" y="44150"/>
                </a:moveTo>
                <a:lnTo>
                  <a:pt x="61017" y="10654"/>
                </a:lnTo>
              </a:path>
            </a:pathLst>
          </a:custGeom>
          <a:ln w="3175">
            <a:solidFill>
              <a:srgbClr val="494F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4810" y="450215"/>
            <a:ext cx="621030" cy="99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50" spc="20" dirty="0">
                <a:solidFill>
                  <a:srgbClr val="494FBC"/>
                </a:solidFill>
                <a:latin typeface="Tahoma"/>
                <a:cs typeface="Tahoma"/>
              </a:rPr>
              <a:t>ACADEMIC</a:t>
            </a:r>
            <a:r>
              <a:rPr sz="450" spc="60" dirty="0">
                <a:solidFill>
                  <a:srgbClr val="494FBC"/>
                </a:solidFill>
                <a:latin typeface="Tahoma"/>
                <a:cs typeface="Tahoma"/>
              </a:rPr>
              <a:t> </a:t>
            </a:r>
            <a:r>
              <a:rPr sz="450" spc="-10" dirty="0">
                <a:solidFill>
                  <a:srgbClr val="494FBC"/>
                </a:solidFill>
                <a:latin typeface="Tahoma"/>
                <a:cs typeface="Tahoma"/>
              </a:rPr>
              <a:t>PROJECT</a:t>
            </a:r>
            <a:endParaRPr sz="45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980334" y="568134"/>
            <a:ext cx="147510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/>
              <a:t>Key</a:t>
            </a:r>
            <a:r>
              <a:rPr sz="1500" spc="-150" dirty="0"/>
              <a:t> </a:t>
            </a:r>
            <a:r>
              <a:rPr sz="1500" spc="-40" dirty="0"/>
              <a:t>Advantages</a:t>
            </a:r>
            <a:endParaRPr sz="1500"/>
          </a:p>
        </p:txBody>
      </p:sp>
      <p:sp>
        <p:nvSpPr>
          <p:cNvPr id="11" name="object 11"/>
          <p:cNvSpPr txBox="1"/>
          <p:nvPr/>
        </p:nvSpPr>
        <p:spPr>
          <a:xfrm>
            <a:off x="4129335" y="853979"/>
            <a:ext cx="317309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Unlocking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power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advanced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technology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combat</a:t>
            </a:r>
            <a:r>
              <a:rPr sz="7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Tahoma"/>
                <a:cs typeface="Tahoma"/>
              </a:rPr>
              <a:t>misinformation.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09574" y="1066825"/>
            <a:ext cx="10610850" cy="514350"/>
            <a:chOff x="409574" y="1066825"/>
            <a:chExt cx="10610850" cy="514350"/>
          </a:xfrm>
        </p:grpSpPr>
        <p:sp>
          <p:nvSpPr>
            <p:cNvPr id="13" name="object 13"/>
            <p:cNvSpPr/>
            <p:nvPr/>
          </p:nvSpPr>
          <p:spPr>
            <a:xfrm>
              <a:off x="409574" y="1066825"/>
              <a:ext cx="10610850" cy="19050"/>
            </a:xfrm>
            <a:custGeom>
              <a:avLst/>
              <a:gdLst/>
              <a:ahLst/>
              <a:cxnLst/>
              <a:rect l="l" t="t" r="r" b="b"/>
              <a:pathLst>
                <a:path w="10610850" h="19050">
                  <a:moveTo>
                    <a:pt x="1061084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0610849" y="0"/>
                  </a:lnTo>
                  <a:lnTo>
                    <a:pt x="10610849" y="19049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9574" y="1076350"/>
              <a:ext cx="10610850" cy="9525"/>
            </a:xfrm>
            <a:custGeom>
              <a:avLst/>
              <a:gdLst/>
              <a:ahLst/>
              <a:cxnLst/>
              <a:rect l="l" t="t" r="r" b="b"/>
              <a:pathLst>
                <a:path w="10610850" h="9525">
                  <a:moveTo>
                    <a:pt x="106108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0610849" y="0"/>
                  </a:lnTo>
                  <a:lnTo>
                    <a:pt x="10610849" y="9524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4337" y="1128712"/>
              <a:ext cx="295275" cy="447675"/>
            </a:xfrm>
            <a:custGeom>
              <a:avLst/>
              <a:gdLst/>
              <a:ahLst/>
              <a:cxnLst/>
              <a:rect l="l" t="t" r="r" b="b"/>
              <a:pathLst>
                <a:path w="295275" h="447675">
                  <a:moveTo>
                    <a:pt x="147637" y="447674"/>
                  </a:moveTo>
                  <a:lnTo>
                    <a:pt x="104780" y="441319"/>
                  </a:lnTo>
                  <a:lnTo>
                    <a:pt x="65614" y="422793"/>
                  </a:lnTo>
                  <a:lnTo>
                    <a:pt x="33510" y="393698"/>
                  </a:lnTo>
                  <a:lnTo>
                    <a:pt x="11238" y="356535"/>
                  </a:lnTo>
                  <a:lnTo>
                    <a:pt x="709" y="314508"/>
                  </a:lnTo>
                  <a:lnTo>
                    <a:pt x="0" y="300037"/>
                  </a:lnTo>
                  <a:lnTo>
                    <a:pt x="0" y="147637"/>
                  </a:lnTo>
                  <a:lnTo>
                    <a:pt x="6355" y="104779"/>
                  </a:lnTo>
                  <a:lnTo>
                    <a:pt x="24881" y="65614"/>
                  </a:lnTo>
                  <a:lnTo>
                    <a:pt x="53976" y="33510"/>
                  </a:lnTo>
                  <a:lnTo>
                    <a:pt x="91138" y="11238"/>
                  </a:lnTo>
                  <a:lnTo>
                    <a:pt x="133166" y="709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7" y="8626"/>
                  </a:lnTo>
                  <a:lnTo>
                    <a:pt x="235592" y="29058"/>
                  </a:lnTo>
                  <a:lnTo>
                    <a:pt x="266216" y="59682"/>
                  </a:lnTo>
                  <a:lnTo>
                    <a:pt x="286648" y="97907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300037"/>
                  </a:lnTo>
                  <a:lnTo>
                    <a:pt x="288919" y="342894"/>
                  </a:lnTo>
                  <a:lnTo>
                    <a:pt x="270393" y="382060"/>
                  </a:lnTo>
                  <a:lnTo>
                    <a:pt x="241298" y="414164"/>
                  </a:lnTo>
                  <a:lnTo>
                    <a:pt x="204135" y="436436"/>
                  </a:lnTo>
                  <a:lnTo>
                    <a:pt x="162108" y="446965"/>
                  </a:lnTo>
                  <a:lnTo>
                    <a:pt x="147637" y="447674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4337" y="1128712"/>
              <a:ext cx="295275" cy="447675"/>
            </a:xfrm>
            <a:custGeom>
              <a:avLst/>
              <a:gdLst/>
              <a:ahLst/>
              <a:cxnLst/>
              <a:rect l="l" t="t" r="r" b="b"/>
              <a:pathLst>
                <a:path w="295275" h="447675">
                  <a:moveTo>
                    <a:pt x="0" y="300037"/>
                  </a:moveTo>
                  <a:lnTo>
                    <a:pt x="0" y="147637"/>
                  </a:lnTo>
                  <a:lnTo>
                    <a:pt x="177" y="140384"/>
                  </a:lnTo>
                  <a:lnTo>
                    <a:pt x="8626" y="97907"/>
                  </a:lnTo>
                  <a:lnTo>
                    <a:pt x="29058" y="59682"/>
                  </a:lnTo>
                  <a:lnTo>
                    <a:pt x="59682" y="29058"/>
                  </a:lnTo>
                  <a:lnTo>
                    <a:pt x="97907" y="8626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7" y="8626"/>
                  </a:lnTo>
                  <a:lnTo>
                    <a:pt x="235592" y="29058"/>
                  </a:lnTo>
                  <a:lnTo>
                    <a:pt x="266216" y="59682"/>
                  </a:lnTo>
                  <a:lnTo>
                    <a:pt x="286648" y="97907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300037"/>
                  </a:lnTo>
                  <a:lnTo>
                    <a:pt x="288919" y="342894"/>
                  </a:lnTo>
                  <a:lnTo>
                    <a:pt x="270393" y="382060"/>
                  </a:lnTo>
                  <a:lnTo>
                    <a:pt x="241298" y="414164"/>
                  </a:lnTo>
                  <a:lnTo>
                    <a:pt x="204135" y="436436"/>
                  </a:lnTo>
                  <a:lnTo>
                    <a:pt x="162108" y="446965"/>
                  </a:lnTo>
                  <a:lnTo>
                    <a:pt x="147637" y="447674"/>
                  </a:lnTo>
                  <a:lnTo>
                    <a:pt x="140384" y="447497"/>
                  </a:lnTo>
                  <a:lnTo>
                    <a:pt x="97907" y="439048"/>
                  </a:lnTo>
                  <a:lnTo>
                    <a:pt x="59682" y="418616"/>
                  </a:lnTo>
                  <a:lnTo>
                    <a:pt x="29058" y="387992"/>
                  </a:lnTo>
                  <a:lnTo>
                    <a:pt x="8626" y="349766"/>
                  </a:lnTo>
                  <a:lnTo>
                    <a:pt x="177" y="307290"/>
                  </a:lnTo>
                  <a:lnTo>
                    <a:pt x="0" y="300037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814" y="1295399"/>
              <a:ext cx="115032" cy="11701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5905" y="1175594"/>
            <a:ext cx="1731645" cy="25272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750" b="1" spc="-40" dirty="0">
                <a:solidFill>
                  <a:srgbClr val="FFFFFF"/>
                </a:solidFill>
                <a:latin typeface="Tahoma"/>
                <a:cs typeface="Tahoma"/>
              </a:rPr>
              <a:t>High</a:t>
            </a:r>
            <a:r>
              <a:rPr sz="75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Tahoma"/>
                <a:cs typeface="Tahoma"/>
              </a:rPr>
              <a:t>Accuracy</a:t>
            </a:r>
            <a:endParaRPr sz="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Achieves</a:t>
            </a:r>
            <a:r>
              <a:rPr sz="6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95%+</a:t>
            </a:r>
            <a:r>
              <a:rPr sz="6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accuracy</a:t>
            </a:r>
            <a:r>
              <a:rPr sz="6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6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detecting</a:t>
            </a:r>
            <a:r>
              <a:rPr sz="6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fake</a:t>
            </a:r>
            <a:r>
              <a:rPr sz="6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news.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09574" y="1609724"/>
            <a:ext cx="304800" cy="457200"/>
            <a:chOff x="409574" y="1609724"/>
            <a:chExt cx="304800" cy="457200"/>
          </a:xfrm>
        </p:grpSpPr>
        <p:sp>
          <p:nvSpPr>
            <p:cNvPr id="20" name="object 20"/>
            <p:cNvSpPr/>
            <p:nvPr/>
          </p:nvSpPr>
          <p:spPr>
            <a:xfrm>
              <a:off x="414337" y="1614487"/>
              <a:ext cx="295275" cy="447675"/>
            </a:xfrm>
            <a:custGeom>
              <a:avLst/>
              <a:gdLst/>
              <a:ahLst/>
              <a:cxnLst/>
              <a:rect l="l" t="t" r="r" b="b"/>
              <a:pathLst>
                <a:path w="295275" h="447675">
                  <a:moveTo>
                    <a:pt x="147637" y="447674"/>
                  </a:moveTo>
                  <a:lnTo>
                    <a:pt x="104780" y="441319"/>
                  </a:lnTo>
                  <a:lnTo>
                    <a:pt x="65614" y="422793"/>
                  </a:lnTo>
                  <a:lnTo>
                    <a:pt x="33510" y="393698"/>
                  </a:lnTo>
                  <a:lnTo>
                    <a:pt x="11238" y="356535"/>
                  </a:lnTo>
                  <a:lnTo>
                    <a:pt x="709" y="314508"/>
                  </a:lnTo>
                  <a:lnTo>
                    <a:pt x="0" y="300037"/>
                  </a:lnTo>
                  <a:lnTo>
                    <a:pt x="0" y="147637"/>
                  </a:lnTo>
                  <a:lnTo>
                    <a:pt x="6355" y="104779"/>
                  </a:lnTo>
                  <a:lnTo>
                    <a:pt x="24881" y="65614"/>
                  </a:lnTo>
                  <a:lnTo>
                    <a:pt x="53976" y="33510"/>
                  </a:lnTo>
                  <a:lnTo>
                    <a:pt x="91138" y="11237"/>
                  </a:lnTo>
                  <a:lnTo>
                    <a:pt x="133166" y="709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7" y="8626"/>
                  </a:lnTo>
                  <a:lnTo>
                    <a:pt x="235592" y="29058"/>
                  </a:lnTo>
                  <a:lnTo>
                    <a:pt x="266216" y="59682"/>
                  </a:lnTo>
                  <a:lnTo>
                    <a:pt x="286648" y="97907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300037"/>
                  </a:lnTo>
                  <a:lnTo>
                    <a:pt x="288919" y="342894"/>
                  </a:lnTo>
                  <a:lnTo>
                    <a:pt x="270393" y="382060"/>
                  </a:lnTo>
                  <a:lnTo>
                    <a:pt x="241298" y="414163"/>
                  </a:lnTo>
                  <a:lnTo>
                    <a:pt x="204135" y="436436"/>
                  </a:lnTo>
                  <a:lnTo>
                    <a:pt x="162108" y="446965"/>
                  </a:lnTo>
                  <a:lnTo>
                    <a:pt x="147637" y="447674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4337" y="1614487"/>
              <a:ext cx="295275" cy="447675"/>
            </a:xfrm>
            <a:custGeom>
              <a:avLst/>
              <a:gdLst/>
              <a:ahLst/>
              <a:cxnLst/>
              <a:rect l="l" t="t" r="r" b="b"/>
              <a:pathLst>
                <a:path w="295275" h="447675">
                  <a:moveTo>
                    <a:pt x="0" y="300037"/>
                  </a:moveTo>
                  <a:lnTo>
                    <a:pt x="0" y="147637"/>
                  </a:lnTo>
                  <a:lnTo>
                    <a:pt x="177" y="140384"/>
                  </a:lnTo>
                  <a:lnTo>
                    <a:pt x="8626" y="97907"/>
                  </a:lnTo>
                  <a:lnTo>
                    <a:pt x="29058" y="59682"/>
                  </a:lnTo>
                  <a:lnTo>
                    <a:pt x="59682" y="29058"/>
                  </a:lnTo>
                  <a:lnTo>
                    <a:pt x="97907" y="8626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7" y="8626"/>
                  </a:lnTo>
                  <a:lnTo>
                    <a:pt x="235592" y="29058"/>
                  </a:lnTo>
                  <a:lnTo>
                    <a:pt x="266216" y="59682"/>
                  </a:lnTo>
                  <a:lnTo>
                    <a:pt x="286648" y="97907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300037"/>
                  </a:lnTo>
                  <a:lnTo>
                    <a:pt x="288919" y="342894"/>
                  </a:lnTo>
                  <a:lnTo>
                    <a:pt x="270393" y="382060"/>
                  </a:lnTo>
                  <a:lnTo>
                    <a:pt x="241298" y="414163"/>
                  </a:lnTo>
                  <a:lnTo>
                    <a:pt x="204135" y="436436"/>
                  </a:lnTo>
                  <a:lnTo>
                    <a:pt x="162108" y="446965"/>
                  </a:lnTo>
                  <a:lnTo>
                    <a:pt x="147637" y="447674"/>
                  </a:lnTo>
                  <a:lnTo>
                    <a:pt x="140384" y="447497"/>
                  </a:lnTo>
                  <a:lnTo>
                    <a:pt x="97907" y="439048"/>
                  </a:lnTo>
                  <a:lnTo>
                    <a:pt x="59682" y="418616"/>
                  </a:lnTo>
                  <a:lnTo>
                    <a:pt x="29058" y="387992"/>
                  </a:lnTo>
                  <a:lnTo>
                    <a:pt x="8626" y="349766"/>
                  </a:lnTo>
                  <a:lnTo>
                    <a:pt x="177" y="307290"/>
                  </a:lnTo>
                  <a:lnTo>
                    <a:pt x="0" y="300037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824" y="1795459"/>
              <a:ext cx="116980" cy="85878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35905" y="1649465"/>
            <a:ext cx="1917700" cy="27432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750" b="1" spc="-50" dirty="0">
                <a:solidFill>
                  <a:srgbClr val="FFFFFF"/>
                </a:solidFill>
                <a:latin typeface="Tahoma"/>
                <a:cs typeface="Tahoma"/>
              </a:rPr>
              <a:t>Real-time</a:t>
            </a:r>
            <a:r>
              <a:rPr sz="75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Tahoma"/>
                <a:cs typeface="Tahoma"/>
              </a:rPr>
              <a:t>Speed</a:t>
            </a:r>
            <a:endParaRPr sz="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Processes</a:t>
            </a:r>
            <a:r>
              <a:rPr sz="6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articles</a:t>
            </a:r>
            <a:r>
              <a:rPr sz="6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6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milliseconds</a:t>
            </a:r>
            <a:r>
              <a:rPr sz="6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6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instant</a:t>
            </a:r>
            <a:r>
              <a:rPr sz="6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detection.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09574" y="2105024"/>
            <a:ext cx="304800" cy="457200"/>
            <a:chOff x="409574" y="2105024"/>
            <a:chExt cx="304800" cy="457200"/>
          </a:xfrm>
        </p:grpSpPr>
        <p:sp>
          <p:nvSpPr>
            <p:cNvPr id="25" name="object 25"/>
            <p:cNvSpPr/>
            <p:nvPr/>
          </p:nvSpPr>
          <p:spPr>
            <a:xfrm>
              <a:off x="414337" y="2109787"/>
              <a:ext cx="295275" cy="447675"/>
            </a:xfrm>
            <a:custGeom>
              <a:avLst/>
              <a:gdLst/>
              <a:ahLst/>
              <a:cxnLst/>
              <a:rect l="l" t="t" r="r" b="b"/>
              <a:pathLst>
                <a:path w="295275" h="447675">
                  <a:moveTo>
                    <a:pt x="147637" y="447674"/>
                  </a:moveTo>
                  <a:lnTo>
                    <a:pt x="104780" y="441319"/>
                  </a:lnTo>
                  <a:lnTo>
                    <a:pt x="65614" y="422793"/>
                  </a:lnTo>
                  <a:lnTo>
                    <a:pt x="33510" y="393698"/>
                  </a:lnTo>
                  <a:lnTo>
                    <a:pt x="11238" y="356535"/>
                  </a:lnTo>
                  <a:lnTo>
                    <a:pt x="709" y="314508"/>
                  </a:lnTo>
                  <a:lnTo>
                    <a:pt x="0" y="300037"/>
                  </a:lnTo>
                  <a:lnTo>
                    <a:pt x="0" y="147637"/>
                  </a:lnTo>
                  <a:lnTo>
                    <a:pt x="6355" y="104779"/>
                  </a:lnTo>
                  <a:lnTo>
                    <a:pt x="24881" y="65614"/>
                  </a:lnTo>
                  <a:lnTo>
                    <a:pt x="53976" y="33510"/>
                  </a:lnTo>
                  <a:lnTo>
                    <a:pt x="91138" y="11238"/>
                  </a:lnTo>
                  <a:lnTo>
                    <a:pt x="133166" y="709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7" y="8626"/>
                  </a:lnTo>
                  <a:lnTo>
                    <a:pt x="235592" y="29058"/>
                  </a:lnTo>
                  <a:lnTo>
                    <a:pt x="266216" y="59682"/>
                  </a:lnTo>
                  <a:lnTo>
                    <a:pt x="286648" y="97907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300037"/>
                  </a:lnTo>
                  <a:lnTo>
                    <a:pt x="288919" y="342894"/>
                  </a:lnTo>
                  <a:lnTo>
                    <a:pt x="270393" y="382060"/>
                  </a:lnTo>
                  <a:lnTo>
                    <a:pt x="241298" y="414163"/>
                  </a:lnTo>
                  <a:lnTo>
                    <a:pt x="204135" y="436436"/>
                  </a:lnTo>
                  <a:lnTo>
                    <a:pt x="162108" y="446965"/>
                  </a:lnTo>
                  <a:lnTo>
                    <a:pt x="147637" y="447674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4337" y="2109787"/>
              <a:ext cx="295275" cy="447675"/>
            </a:xfrm>
            <a:custGeom>
              <a:avLst/>
              <a:gdLst/>
              <a:ahLst/>
              <a:cxnLst/>
              <a:rect l="l" t="t" r="r" b="b"/>
              <a:pathLst>
                <a:path w="295275" h="447675">
                  <a:moveTo>
                    <a:pt x="0" y="300037"/>
                  </a:moveTo>
                  <a:lnTo>
                    <a:pt x="0" y="147637"/>
                  </a:lnTo>
                  <a:lnTo>
                    <a:pt x="177" y="140384"/>
                  </a:lnTo>
                  <a:lnTo>
                    <a:pt x="8626" y="97907"/>
                  </a:lnTo>
                  <a:lnTo>
                    <a:pt x="29058" y="59682"/>
                  </a:lnTo>
                  <a:lnTo>
                    <a:pt x="59682" y="29058"/>
                  </a:lnTo>
                  <a:lnTo>
                    <a:pt x="97907" y="8626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7" y="8626"/>
                  </a:lnTo>
                  <a:lnTo>
                    <a:pt x="235592" y="29058"/>
                  </a:lnTo>
                  <a:lnTo>
                    <a:pt x="266216" y="59682"/>
                  </a:lnTo>
                  <a:lnTo>
                    <a:pt x="286648" y="97907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300037"/>
                  </a:lnTo>
                  <a:lnTo>
                    <a:pt x="288919" y="342894"/>
                  </a:lnTo>
                  <a:lnTo>
                    <a:pt x="270393" y="382060"/>
                  </a:lnTo>
                  <a:lnTo>
                    <a:pt x="241298" y="414163"/>
                  </a:lnTo>
                  <a:lnTo>
                    <a:pt x="204135" y="436436"/>
                  </a:lnTo>
                  <a:lnTo>
                    <a:pt x="162108" y="446965"/>
                  </a:lnTo>
                  <a:lnTo>
                    <a:pt x="147637" y="447674"/>
                  </a:lnTo>
                  <a:lnTo>
                    <a:pt x="140384" y="447497"/>
                  </a:lnTo>
                  <a:lnTo>
                    <a:pt x="97907" y="439048"/>
                  </a:lnTo>
                  <a:lnTo>
                    <a:pt x="59682" y="418616"/>
                  </a:lnTo>
                  <a:lnTo>
                    <a:pt x="29058" y="387992"/>
                  </a:lnTo>
                  <a:lnTo>
                    <a:pt x="8626" y="349766"/>
                  </a:lnTo>
                  <a:lnTo>
                    <a:pt x="177" y="307290"/>
                  </a:lnTo>
                  <a:lnTo>
                    <a:pt x="0" y="300037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275" y="2279363"/>
              <a:ext cx="119547" cy="108671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35905" y="2156669"/>
            <a:ext cx="2136775" cy="25272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750" b="1" spc="-25" dirty="0">
                <a:solidFill>
                  <a:srgbClr val="FFFFFF"/>
                </a:solidFill>
                <a:latin typeface="Tahoma"/>
                <a:cs typeface="Tahoma"/>
              </a:rPr>
              <a:t>Massive</a:t>
            </a:r>
            <a:r>
              <a:rPr sz="75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Tahoma"/>
                <a:cs typeface="Tahoma"/>
              </a:rPr>
              <a:t>Scalability</a:t>
            </a:r>
            <a:endParaRPr sz="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Handles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millions</a:t>
            </a:r>
            <a:r>
              <a:rPr sz="6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articles</a:t>
            </a:r>
            <a:r>
              <a:rPr sz="6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daily</a:t>
            </a:r>
            <a:r>
              <a:rPr sz="6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without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performance</a:t>
            </a:r>
            <a:r>
              <a:rPr sz="6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issues.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09574" y="2590799"/>
            <a:ext cx="304800" cy="457200"/>
            <a:chOff x="409574" y="2590799"/>
            <a:chExt cx="304800" cy="457200"/>
          </a:xfrm>
        </p:grpSpPr>
        <p:sp>
          <p:nvSpPr>
            <p:cNvPr id="30" name="object 30"/>
            <p:cNvSpPr/>
            <p:nvPr/>
          </p:nvSpPr>
          <p:spPr>
            <a:xfrm>
              <a:off x="414337" y="2595562"/>
              <a:ext cx="295275" cy="447675"/>
            </a:xfrm>
            <a:custGeom>
              <a:avLst/>
              <a:gdLst/>
              <a:ahLst/>
              <a:cxnLst/>
              <a:rect l="l" t="t" r="r" b="b"/>
              <a:pathLst>
                <a:path w="295275" h="447675">
                  <a:moveTo>
                    <a:pt x="147637" y="447674"/>
                  </a:moveTo>
                  <a:lnTo>
                    <a:pt x="104780" y="441318"/>
                  </a:lnTo>
                  <a:lnTo>
                    <a:pt x="65614" y="422793"/>
                  </a:lnTo>
                  <a:lnTo>
                    <a:pt x="33510" y="393698"/>
                  </a:lnTo>
                  <a:lnTo>
                    <a:pt x="11238" y="356535"/>
                  </a:lnTo>
                  <a:lnTo>
                    <a:pt x="709" y="314508"/>
                  </a:lnTo>
                  <a:lnTo>
                    <a:pt x="0" y="300037"/>
                  </a:lnTo>
                  <a:lnTo>
                    <a:pt x="0" y="147637"/>
                  </a:lnTo>
                  <a:lnTo>
                    <a:pt x="6355" y="104779"/>
                  </a:lnTo>
                  <a:lnTo>
                    <a:pt x="24881" y="65614"/>
                  </a:lnTo>
                  <a:lnTo>
                    <a:pt x="53976" y="33510"/>
                  </a:lnTo>
                  <a:lnTo>
                    <a:pt x="91138" y="11237"/>
                  </a:lnTo>
                  <a:lnTo>
                    <a:pt x="133166" y="709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7" y="8626"/>
                  </a:lnTo>
                  <a:lnTo>
                    <a:pt x="235592" y="29058"/>
                  </a:lnTo>
                  <a:lnTo>
                    <a:pt x="266216" y="59682"/>
                  </a:lnTo>
                  <a:lnTo>
                    <a:pt x="286648" y="97907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300037"/>
                  </a:lnTo>
                  <a:lnTo>
                    <a:pt x="288919" y="342894"/>
                  </a:lnTo>
                  <a:lnTo>
                    <a:pt x="270393" y="382059"/>
                  </a:lnTo>
                  <a:lnTo>
                    <a:pt x="241298" y="414163"/>
                  </a:lnTo>
                  <a:lnTo>
                    <a:pt x="204135" y="436436"/>
                  </a:lnTo>
                  <a:lnTo>
                    <a:pt x="162108" y="446965"/>
                  </a:lnTo>
                  <a:lnTo>
                    <a:pt x="147637" y="447674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14337" y="2595562"/>
              <a:ext cx="295275" cy="447675"/>
            </a:xfrm>
            <a:custGeom>
              <a:avLst/>
              <a:gdLst/>
              <a:ahLst/>
              <a:cxnLst/>
              <a:rect l="l" t="t" r="r" b="b"/>
              <a:pathLst>
                <a:path w="295275" h="447675">
                  <a:moveTo>
                    <a:pt x="0" y="300037"/>
                  </a:moveTo>
                  <a:lnTo>
                    <a:pt x="0" y="147637"/>
                  </a:lnTo>
                  <a:lnTo>
                    <a:pt x="177" y="140384"/>
                  </a:lnTo>
                  <a:lnTo>
                    <a:pt x="8626" y="97907"/>
                  </a:lnTo>
                  <a:lnTo>
                    <a:pt x="29058" y="59682"/>
                  </a:lnTo>
                  <a:lnTo>
                    <a:pt x="59682" y="29058"/>
                  </a:lnTo>
                  <a:lnTo>
                    <a:pt x="97907" y="8626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7" y="8626"/>
                  </a:lnTo>
                  <a:lnTo>
                    <a:pt x="235592" y="29058"/>
                  </a:lnTo>
                  <a:lnTo>
                    <a:pt x="266216" y="59682"/>
                  </a:lnTo>
                  <a:lnTo>
                    <a:pt x="286648" y="97907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300037"/>
                  </a:lnTo>
                  <a:lnTo>
                    <a:pt x="288919" y="342894"/>
                  </a:lnTo>
                  <a:lnTo>
                    <a:pt x="270393" y="382059"/>
                  </a:lnTo>
                  <a:lnTo>
                    <a:pt x="241298" y="414163"/>
                  </a:lnTo>
                  <a:lnTo>
                    <a:pt x="204135" y="436436"/>
                  </a:lnTo>
                  <a:lnTo>
                    <a:pt x="162108" y="446965"/>
                  </a:lnTo>
                  <a:lnTo>
                    <a:pt x="147637" y="447674"/>
                  </a:lnTo>
                  <a:lnTo>
                    <a:pt x="140384" y="447497"/>
                  </a:lnTo>
                  <a:lnTo>
                    <a:pt x="97907" y="439047"/>
                  </a:lnTo>
                  <a:lnTo>
                    <a:pt x="59682" y="418616"/>
                  </a:lnTo>
                  <a:lnTo>
                    <a:pt x="29058" y="387992"/>
                  </a:lnTo>
                  <a:lnTo>
                    <a:pt x="8626" y="349766"/>
                  </a:lnTo>
                  <a:lnTo>
                    <a:pt x="177" y="307290"/>
                  </a:lnTo>
                  <a:lnTo>
                    <a:pt x="0" y="300037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2290" y="2783928"/>
              <a:ext cx="119518" cy="71091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735905" y="2630540"/>
            <a:ext cx="1750060" cy="27432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750" b="1" spc="-25" dirty="0">
                <a:solidFill>
                  <a:srgbClr val="FFFFFF"/>
                </a:solidFill>
                <a:latin typeface="Tahoma"/>
                <a:cs typeface="Tahoma"/>
              </a:rPr>
              <a:t>Cost-</a:t>
            </a:r>
            <a:r>
              <a:rPr sz="750" b="1" spc="-10" dirty="0">
                <a:solidFill>
                  <a:srgbClr val="FFFFFF"/>
                </a:solidFill>
                <a:latin typeface="Tahoma"/>
                <a:cs typeface="Tahoma"/>
              </a:rPr>
              <a:t>Effective</a:t>
            </a:r>
            <a:endParaRPr sz="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Significantly</a:t>
            </a:r>
            <a:r>
              <a:rPr sz="6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reduces</a:t>
            </a:r>
            <a:r>
              <a:rPr sz="6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manual</a:t>
            </a:r>
            <a:r>
              <a:rPr sz="6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fact-checking</a:t>
            </a:r>
            <a:r>
              <a:rPr sz="6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costs.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09574" y="3086099"/>
            <a:ext cx="304800" cy="457200"/>
            <a:chOff x="409574" y="3086099"/>
            <a:chExt cx="304800" cy="457200"/>
          </a:xfrm>
        </p:grpSpPr>
        <p:sp>
          <p:nvSpPr>
            <p:cNvPr id="35" name="object 35"/>
            <p:cNvSpPr/>
            <p:nvPr/>
          </p:nvSpPr>
          <p:spPr>
            <a:xfrm>
              <a:off x="414337" y="3090862"/>
              <a:ext cx="295275" cy="447675"/>
            </a:xfrm>
            <a:custGeom>
              <a:avLst/>
              <a:gdLst/>
              <a:ahLst/>
              <a:cxnLst/>
              <a:rect l="l" t="t" r="r" b="b"/>
              <a:pathLst>
                <a:path w="295275" h="447675">
                  <a:moveTo>
                    <a:pt x="147637" y="447674"/>
                  </a:moveTo>
                  <a:lnTo>
                    <a:pt x="104780" y="441319"/>
                  </a:lnTo>
                  <a:lnTo>
                    <a:pt x="65614" y="422793"/>
                  </a:lnTo>
                  <a:lnTo>
                    <a:pt x="33510" y="393698"/>
                  </a:lnTo>
                  <a:lnTo>
                    <a:pt x="11238" y="356535"/>
                  </a:lnTo>
                  <a:lnTo>
                    <a:pt x="709" y="314508"/>
                  </a:lnTo>
                  <a:lnTo>
                    <a:pt x="0" y="300037"/>
                  </a:lnTo>
                  <a:lnTo>
                    <a:pt x="0" y="147637"/>
                  </a:lnTo>
                  <a:lnTo>
                    <a:pt x="6355" y="104779"/>
                  </a:lnTo>
                  <a:lnTo>
                    <a:pt x="24881" y="65614"/>
                  </a:lnTo>
                  <a:lnTo>
                    <a:pt x="53976" y="33510"/>
                  </a:lnTo>
                  <a:lnTo>
                    <a:pt x="91138" y="11237"/>
                  </a:lnTo>
                  <a:lnTo>
                    <a:pt x="133166" y="709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7" y="8626"/>
                  </a:lnTo>
                  <a:lnTo>
                    <a:pt x="235592" y="29058"/>
                  </a:lnTo>
                  <a:lnTo>
                    <a:pt x="266216" y="59682"/>
                  </a:lnTo>
                  <a:lnTo>
                    <a:pt x="286648" y="97907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300037"/>
                  </a:lnTo>
                  <a:lnTo>
                    <a:pt x="288919" y="342894"/>
                  </a:lnTo>
                  <a:lnTo>
                    <a:pt x="270393" y="382059"/>
                  </a:lnTo>
                  <a:lnTo>
                    <a:pt x="241298" y="414163"/>
                  </a:lnTo>
                  <a:lnTo>
                    <a:pt x="204135" y="436436"/>
                  </a:lnTo>
                  <a:lnTo>
                    <a:pt x="162108" y="446965"/>
                  </a:lnTo>
                  <a:lnTo>
                    <a:pt x="147637" y="447674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14337" y="3090862"/>
              <a:ext cx="295275" cy="447675"/>
            </a:xfrm>
            <a:custGeom>
              <a:avLst/>
              <a:gdLst/>
              <a:ahLst/>
              <a:cxnLst/>
              <a:rect l="l" t="t" r="r" b="b"/>
              <a:pathLst>
                <a:path w="295275" h="447675">
                  <a:moveTo>
                    <a:pt x="0" y="300037"/>
                  </a:moveTo>
                  <a:lnTo>
                    <a:pt x="0" y="147637"/>
                  </a:lnTo>
                  <a:lnTo>
                    <a:pt x="177" y="140384"/>
                  </a:lnTo>
                  <a:lnTo>
                    <a:pt x="8626" y="97907"/>
                  </a:lnTo>
                  <a:lnTo>
                    <a:pt x="29058" y="59682"/>
                  </a:lnTo>
                  <a:lnTo>
                    <a:pt x="59682" y="29058"/>
                  </a:lnTo>
                  <a:lnTo>
                    <a:pt x="97907" y="8626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7" y="8626"/>
                  </a:lnTo>
                  <a:lnTo>
                    <a:pt x="235592" y="29058"/>
                  </a:lnTo>
                  <a:lnTo>
                    <a:pt x="266216" y="59682"/>
                  </a:lnTo>
                  <a:lnTo>
                    <a:pt x="286648" y="97907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300037"/>
                  </a:lnTo>
                  <a:lnTo>
                    <a:pt x="288919" y="342894"/>
                  </a:lnTo>
                  <a:lnTo>
                    <a:pt x="270393" y="382059"/>
                  </a:lnTo>
                  <a:lnTo>
                    <a:pt x="241298" y="414163"/>
                  </a:lnTo>
                  <a:lnTo>
                    <a:pt x="204135" y="436436"/>
                  </a:lnTo>
                  <a:lnTo>
                    <a:pt x="162108" y="446965"/>
                  </a:lnTo>
                  <a:lnTo>
                    <a:pt x="147637" y="447674"/>
                  </a:lnTo>
                  <a:lnTo>
                    <a:pt x="140384" y="447497"/>
                  </a:lnTo>
                  <a:lnTo>
                    <a:pt x="97907" y="439048"/>
                  </a:lnTo>
                  <a:lnTo>
                    <a:pt x="59682" y="418616"/>
                  </a:lnTo>
                  <a:lnTo>
                    <a:pt x="29058" y="387992"/>
                  </a:lnTo>
                  <a:lnTo>
                    <a:pt x="8626" y="349766"/>
                  </a:lnTo>
                  <a:lnTo>
                    <a:pt x="177" y="307290"/>
                  </a:lnTo>
                  <a:lnTo>
                    <a:pt x="0" y="300037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2290" y="3266301"/>
              <a:ext cx="119517" cy="96942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735905" y="3137744"/>
            <a:ext cx="1683385" cy="25272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750" b="1" spc="-35" dirty="0">
                <a:solidFill>
                  <a:srgbClr val="FFFFFF"/>
                </a:solidFill>
                <a:latin typeface="Tahoma"/>
                <a:cs typeface="Tahoma"/>
              </a:rPr>
              <a:t>Unbiased</a:t>
            </a:r>
            <a:r>
              <a:rPr sz="75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Tahoma"/>
                <a:cs typeface="Tahoma"/>
              </a:rPr>
              <a:t>Objectivity</a:t>
            </a:r>
            <a:endParaRPr sz="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Eliminates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human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bias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subjective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judgment.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09574" y="3571874"/>
            <a:ext cx="304800" cy="457200"/>
            <a:chOff x="409574" y="3571874"/>
            <a:chExt cx="304800" cy="457200"/>
          </a:xfrm>
        </p:grpSpPr>
        <p:sp>
          <p:nvSpPr>
            <p:cNvPr id="40" name="object 40"/>
            <p:cNvSpPr/>
            <p:nvPr/>
          </p:nvSpPr>
          <p:spPr>
            <a:xfrm>
              <a:off x="414337" y="3576637"/>
              <a:ext cx="295275" cy="447675"/>
            </a:xfrm>
            <a:custGeom>
              <a:avLst/>
              <a:gdLst/>
              <a:ahLst/>
              <a:cxnLst/>
              <a:rect l="l" t="t" r="r" b="b"/>
              <a:pathLst>
                <a:path w="295275" h="447675">
                  <a:moveTo>
                    <a:pt x="147637" y="447674"/>
                  </a:moveTo>
                  <a:lnTo>
                    <a:pt x="104780" y="441319"/>
                  </a:lnTo>
                  <a:lnTo>
                    <a:pt x="65614" y="422792"/>
                  </a:lnTo>
                  <a:lnTo>
                    <a:pt x="33510" y="393698"/>
                  </a:lnTo>
                  <a:lnTo>
                    <a:pt x="11238" y="356535"/>
                  </a:lnTo>
                  <a:lnTo>
                    <a:pt x="709" y="314508"/>
                  </a:lnTo>
                  <a:lnTo>
                    <a:pt x="0" y="300037"/>
                  </a:lnTo>
                  <a:lnTo>
                    <a:pt x="0" y="147637"/>
                  </a:lnTo>
                  <a:lnTo>
                    <a:pt x="6355" y="104779"/>
                  </a:lnTo>
                  <a:lnTo>
                    <a:pt x="24881" y="65613"/>
                  </a:lnTo>
                  <a:lnTo>
                    <a:pt x="53976" y="33510"/>
                  </a:lnTo>
                  <a:lnTo>
                    <a:pt x="91138" y="11237"/>
                  </a:lnTo>
                  <a:lnTo>
                    <a:pt x="133166" y="709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7" y="8626"/>
                  </a:lnTo>
                  <a:lnTo>
                    <a:pt x="235592" y="29057"/>
                  </a:lnTo>
                  <a:lnTo>
                    <a:pt x="266216" y="59681"/>
                  </a:lnTo>
                  <a:lnTo>
                    <a:pt x="286648" y="97907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300037"/>
                  </a:lnTo>
                  <a:lnTo>
                    <a:pt x="288919" y="342894"/>
                  </a:lnTo>
                  <a:lnTo>
                    <a:pt x="270393" y="382060"/>
                  </a:lnTo>
                  <a:lnTo>
                    <a:pt x="241298" y="414163"/>
                  </a:lnTo>
                  <a:lnTo>
                    <a:pt x="204135" y="436436"/>
                  </a:lnTo>
                  <a:lnTo>
                    <a:pt x="162108" y="446965"/>
                  </a:lnTo>
                  <a:lnTo>
                    <a:pt x="147637" y="447674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14337" y="3576637"/>
              <a:ext cx="295275" cy="447675"/>
            </a:xfrm>
            <a:custGeom>
              <a:avLst/>
              <a:gdLst/>
              <a:ahLst/>
              <a:cxnLst/>
              <a:rect l="l" t="t" r="r" b="b"/>
              <a:pathLst>
                <a:path w="295275" h="447675">
                  <a:moveTo>
                    <a:pt x="0" y="300037"/>
                  </a:moveTo>
                  <a:lnTo>
                    <a:pt x="0" y="147637"/>
                  </a:lnTo>
                  <a:lnTo>
                    <a:pt x="177" y="140384"/>
                  </a:lnTo>
                  <a:lnTo>
                    <a:pt x="8626" y="97907"/>
                  </a:lnTo>
                  <a:lnTo>
                    <a:pt x="29058" y="59681"/>
                  </a:lnTo>
                  <a:lnTo>
                    <a:pt x="59682" y="29058"/>
                  </a:lnTo>
                  <a:lnTo>
                    <a:pt x="97907" y="8626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7" y="8626"/>
                  </a:lnTo>
                  <a:lnTo>
                    <a:pt x="235592" y="29057"/>
                  </a:lnTo>
                  <a:lnTo>
                    <a:pt x="266216" y="59681"/>
                  </a:lnTo>
                  <a:lnTo>
                    <a:pt x="286648" y="97907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300037"/>
                  </a:lnTo>
                  <a:lnTo>
                    <a:pt x="288919" y="342894"/>
                  </a:lnTo>
                  <a:lnTo>
                    <a:pt x="270393" y="382060"/>
                  </a:lnTo>
                  <a:lnTo>
                    <a:pt x="241298" y="414163"/>
                  </a:lnTo>
                  <a:lnTo>
                    <a:pt x="204135" y="436436"/>
                  </a:lnTo>
                  <a:lnTo>
                    <a:pt x="162108" y="446965"/>
                  </a:lnTo>
                  <a:lnTo>
                    <a:pt x="147637" y="447674"/>
                  </a:lnTo>
                  <a:lnTo>
                    <a:pt x="140384" y="447497"/>
                  </a:lnTo>
                  <a:lnTo>
                    <a:pt x="97907" y="439048"/>
                  </a:lnTo>
                  <a:lnTo>
                    <a:pt x="59682" y="418616"/>
                  </a:lnTo>
                  <a:lnTo>
                    <a:pt x="29058" y="387992"/>
                  </a:lnTo>
                  <a:lnTo>
                    <a:pt x="8626" y="349766"/>
                  </a:lnTo>
                  <a:lnTo>
                    <a:pt x="177" y="307290"/>
                  </a:lnTo>
                  <a:lnTo>
                    <a:pt x="0" y="300037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9923" y="3740698"/>
              <a:ext cx="84283" cy="119612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735905" y="3611615"/>
            <a:ext cx="1769745" cy="27432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750" b="1" spc="-45" dirty="0">
                <a:solidFill>
                  <a:srgbClr val="FFFFFF"/>
                </a:solidFill>
                <a:latin typeface="Tahoma"/>
                <a:cs typeface="Tahoma"/>
              </a:rPr>
              <a:t>Explainable</a:t>
            </a:r>
            <a:r>
              <a:rPr sz="750" b="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Tahoma"/>
                <a:cs typeface="Tahoma"/>
              </a:rPr>
              <a:t>AI</a:t>
            </a:r>
            <a:endParaRPr sz="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Provides</a:t>
            </a:r>
            <a:r>
              <a:rPr sz="6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clear</a:t>
            </a:r>
            <a:r>
              <a:rPr sz="6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reasons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6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classification</a:t>
            </a:r>
            <a:r>
              <a:rPr sz="6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decisions.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09574" y="4067174"/>
            <a:ext cx="304800" cy="457200"/>
            <a:chOff x="409574" y="4067174"/>
            <a:chExt cx="304800" cy="457200"/>
          </a:xfrm>
        </p:grpSpPr>
        <p:sp>
          <p:nvSpPr>
            <p:cNvPr id="45" name="object 45"/>
            <p:cNvSpPr/>
            <p:nvPr/>
          </p:nvSpPr>
          <p:spPr>
            <a:xfrm>
              <a:off x="414337" y="4071937"/>
              <a:ext cx="295275" cy="447675"/>
            </a:xfrm>
            <a:custGeom>
              <a:avLst/>
              <a:gdLst/>
              <a:ahLst/>
              <a:cxnLst/>
              <a:rect l="l" t="t" r="r" b="b"/>
              <a:pathLst>
                <a:path w="295275" h="447675">
                  <a:moveTo>
                    <a:pt x="147637" y="447674"/>
                  </a:moveTo>
                  <a:lnTo>
                    <a:pt x="104780" y="441318"/>
                  </a:lnTo>
                  <a:lnTo>
                    <a:pt x="65614" y="422793"/>
                  </a:lnTo>
                  <a:lnTo>
                    <a:pt x="33510" y="393698"/>
                  </a:lnTo>
                  <a:lnTo>
                    <a:pt x="11238" y="356535"/>
                  </a:lnTo>
                  <a:lnTo>
                    <a:pt x="709" y="314508"/>
                  </a:lnTo>
                  <a:lnTo>
                    <a:pt x="0" y="300037"/>
                  </a:lnTo>
                  <a:lnTo>
                    <a:pt x="0" y="147637"/>
                  </a:lnTo>
                  <a:lnTo>
                    <a:pt x="6355" y="104779"/>
                  </a:lnTo>
                  <a:lnTo>
                    <a:pt x="24881" y="65613"/>
                  </a:lnTo>
                  <a:lnTo>
                    <a:pt x="53976" y="33510"/>
                  </a:lnTo>
                  <a:lnTo>
                    <a:pt x="91138" y="11237"/>
                  </a:lnTo>
                  <a:lnTo>
                    <a:pt x="133166" y="709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7" y="8625"/>
                  </a:lnTo>
                  <a:lnTo>
                    <a:pt x="235592" y="29058"/>
                  </a:lnTo>
                  <a:lnTo>
                    <a:pt x="266216" y="59681"/>
                  </a:lnTo>
                  <a:lnTo>
                    <a:pt x="286648" y="97907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300037"/>
                  </a:lnTo>
                  <a:lnTo>
                    <a:pt x="288919" y="342894"/>
                  </a:lnTo>
                  <a:lnTo>
                    <a:pt x="270393" y="382059"/>
                  </a:lnTo>
                  <a:lnTo>
                    <a:pt x="241298" y="414163"/>
                  </a:lnTo>
                  <a:lnTo>
                    <a:pt x="204135" y="436436"/>
                  </a:lnTo>
                  <a:lnTo>
                    <a:pt x="162108" y="446965"/>
                  </a:lnTo>
                  <a:lnTo>
                    <a:pt x="147637" y="447674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14337" y="4071937"/>
              <a:ext cx="295275" cy="447675"/>
            </a:xfrm>
            <a:custGeom>
              <a:avLst/>
              <a:gdLst/>
              <a:ahLst/>
              <a:cxnLst/>
              <a:rect l="l" t="t" r="r" b="b"/>
              <a:pathLst>
                <a:path w="295275" h="447675">
                  <a:moveTo>
                    <a:pt x="0" y="300037"/>
                  </a:moveTo>
                  <a:lnTo>
                    <a:pt x="0" y="147637"/>
                  </a:lnTo>
                  <a:lnTo>
                    <a:pt x="177" y="140384"/>
                  </a:lnTo>
                  <a:lnTo>
                    <a:pt x="8626" y="97907"/>
                  </a:lnTo>
                  <a:lnTo>
                    <a:pt x="29058" y="59681"/>
                  </a:lnTo>
                  <a:lnTo>
                    <a:pt x="59682" y="29058"/>
                  </a:lnTo>
                  <a:lnTo>
                    <a:pt x="97907" y="8626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7" y="8625"/>
                  </a:lnTo>
                  <a:lnTo>
                    <a:pt x="235592" y="29058"/>
                  </a:lnTo>
                  <a:lnTo>
                    <a:pt x="266216" y="59681"/>
                  </a:lnTo>
                  <a:lnTo>
                    <a:pt x="286648" y="97907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300037"/>
                  </a:lnTo>
                  <a:lnTo>
                    <a:pt x="288919" y="342894"/>
                  </a:lnTo>
                  <a:lnTo>
                    <a:pt x="270393" y="382059"/>
                  </a:lnTo>
                  <a:lnTo>
                    <a:pt x="241298" y="414163"/>
                  </a:lnTo>
                  <a:lnTo>
                    <a:pt x="204135" y="436436"/>
                  </a:lnTo>
                  <a:lnTo>
                    <a:pt x="162108" y="446965"/>
                  </a:lnTo>
                  <a:lnTo>
                    <a:pt x="147637" y="447674"/>
                  </a:lnTo>
                  <a:lnTo>
                    <a:pt x="140384" y="447497"/>
                  </a:lnTo>
                  <a:lnTo>
                    <a:pt x="97907" y="439048"/>
                  </a:lnTo>
                  <a:lnTo>
                    <a:pt x="59682" y="418616"/>
                  </a:lnTo>
                  <a:lnTo>
                    <a:pt x="29058" y="387992"/>
                  </a:lnTo>
                  <a:lnTo>
                    <a:pt x="8626" y="349766"/>
                  </a:lnTo>
                  <a:lnTo>
                    <a:pt x="177" y="307290"/>
                  </a:lnTo>
                  <a:lnTo>
                    <a:pt x="0" y="300037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2080" y="4235914"/>
              <a:ext cx="119700" cy="119673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735905" y="4118819"/>
            <a:ext cx="1899920" cy="25272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750" b="1" spc="-35" dirty="0">
                <a:solidFill>
                  <a:srgbClr val="FFFFFF"/>
                </a:solidFill>
                <a:latin typeface="Tahoma"/>
                <a:cs typeface="Tahoma"/>
              </a:rPr>
              <a:t>Continuous</a:t>
            </a:r>
            <a:r>
              <a:rPr sz="750" b="1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Tahoma"/>
                <a:cs typeface="Tahoma"/>
              </a:rPr>
              <a:t>Learning</a:t>
            </a:r>
            <a:endParaRPr sz="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Models</a:t>
            </a:r>
            <a:r>
              <a:rPr sz="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improve</a:t>
            </a:r>
            <a:r>
              <a:rPr sz="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time</a:t>
            </a:r>
            <a:r>
              <a:rPr sz="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new</a:t>
            </a:r>
            <a:r>
              <a:rPr sz="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patterns.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09574" y="4552949"/>
            <a:ext cx="304800" cy="457200"/>
            <a:chOff x="409574" y="4552949"/>
            <a:chExt cx="304800" cy="457200"/>
          </a:xfrm>
        </p:grpSpPr>
        <p:sp>
          <p:nvSpPr>
            <p:cNvPr id="50" name="object 50"/>
            <p:cNvSpPr/>
            <p:nvPr/>
          </p:nvSpPr>
          <p:spPr>
            <a:xfrm>
              <a:off x="414337" y="4557712"/>
              <a:ext cx="295275" cy="447675"/>
            </a:xfrm>
            <a:custGeom>
              <a:avLst/>
              <a:gdLst/>
              <a:ahLst/>
              <a:cxnLst/>
              <a:rect l="l" t="t" r="r" b="b"/>
              <a:pathLst>
                <a:path w="295275" h="447675">
                  <a:moveTo>
                    <a:pt x="147637" y="447674"/>
                  </a:moveTo>
                  <a:lnTo>
                    <a:pt x="104780" y="441318"/>
                  </a:lnTo>
                  <a:lnTo>
                    <a:pt x="65614" y="422792"/>
                  </a:lnTo>
                  <a:lnTo>
                    <a:pt x="33510" y="393698"/>
                  </a:lnTo>
                  <a:lnTo>
                    <a:pt x="11238" y="356535"/>
                  </a:lnTo>
                  <a:lnTo>
                    <a:pt x="709" y="314508"/>
                  </a:lnTo>
                  <a:lnTo>
                    <a:pt x="0" y="300037"/>
                  </a:lnTo>
                  <a:lnTo>
                    <a:pt x="0" y="147637"/>
                  </a:lnTo>
                  <a:lnTo>
                    <a:pt x="6355" y="104779"/>
                  </a:lnTo>
                  <a:lnTo>
                    <a:pt x="24881" y="65613"/>
                  </a:lnTo>
                  <a:lnTo>
                    <a:pt x="53976" y="33510"/>
                  </a:lnTo>
                  <a:lnTo>
                    <a:pt x="91138" y="11237"/>
                  </a:lnTo>
                  <a:lnTo>
                    <a:pt x="133166" y="709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7" y="8626"/>
                  </a:lnTo>
                  <a:lnTo>
                    <a:pt x="235592" y="29058"/>
                  </a:lnTo>
                  <a:lnTo>
                    <a:pt x="266216" y="59681"/>
                  </a:lnTo>
                  <a:lnTo>
                    <a:pt x="286648" y="97907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300037"/>
                  </a:lnTo>
                  <a:lnTo>
                    <a:pt x="288919" y="342894"/>
                  </a:lnTo>
                  <a:lnTo>
                    <a:pt x="270393" y="382059"/>
                  </a:lnTo>
                  <a:lnTo>
                    <a:pt x="241298" y="414162"/>
                  </a:lnTo>
                  <a:lnTo>
                    <a:pt x="204135" y="436436"/>
                  </a:lnTo>
                  <a:lnTo>
                    <a:pt x="162108" y="446965"/>
                  </a:lnTo>
                  <a:lnTo>
                    <a:pt x="147637" y="447674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14337" y="4557712"/>
              <a:ext cx="295275" cy="447675"/>
            </a:xfrm>
            <a:custGeom>
              <a:avLst/>
              <a:gdLst/>
              <a:ahLst/>
              <a:cxnLst/>
              <a:rect l="l" t="t" r="r" b="b"/>
              <a:pathLst>
                <a:path w="295275" h="447675">
                  <a:moveTo>
                    <a:pt x="0" y="300037"/>
                  </a:moveTo>
                  <a:lnTo>
                    <a:pt x="0" y="147637"/>
                  </a:lnTo>
                  <a:lnTo>
                    <a:pt x="177" y="140384"/>
                  </a:lnTo>
                  <a:lnTo>
                    <a:pt x="8626" y="97907"/>
                  </a:lnTo>
                  <a:lnTo>
                    <a:pt x="29058" y="59681"/>
                  </a:lnTo>
                  <a:lnTo>
                    <a:pt x="59682" y="29058"/>
                  </a:lnTo>
                  <a:lnTo>
                    <a:pt x="97907" y="8626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7" y="8626"/>
                  </a:lnTo>
                  <a:lnTo>
                    <a:pt x="235592" y="29058"/>
                  </a:lnTo>
                  <a:lnTo>
                    <a:pt x="266216" y="59681"/>
                  </a:lnTo>
                  <a:lnTo>
                    <a:pt x="286648" y="97907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300037"/>
                  </a:lnTo>
                  <a:lnTo>
                    <a:pt x="288919" y="342894"/>
                  </a:lnTo>
                  <a:lnTo>
                    <a:pt x="270393" y="382059"/>
                  </a:lnTo>
                  <a:lnTo>
                    <a:pt x="241298" y="414162"/>
                  </a:lnTo>
                  <a:lnTo>
                    <a:pt x="204135" y="436436"/>
                  </a:lnTo>
                  <a:lnTo>
                    <a:pt x="162108" y="446965"/>
                  </a:lnTo>
                  <a:lnTo>
                    <a:pt x="147637" y="447674"/>
                  </a:lnTo>
                  <a:lnTo>
                    <a:pt x="140384" y="447497"/>
                  </a:lnTo>
                  <a:lnTo>
                    <a:pt x="97907" y="439047"/>
                  </a:lnTo>
                  <a:lnTo>
                    <a:pt x="59682" y="418615"/>
                  </a:lnTo>
                  <a:lnTo>
                    <a:pt x="29058" y="387992"/>
                  </a:lnTo>
                  <a:lnTo>
                    <a:pt x="8626" y="349766"/>
                  </a:lnTo>
                  <a:lnTo>
                    <a:pt x="177" y="307290"/>
                  </a:lnTo>
                  <a:lnTo>
                    <a:pt x="0" y="300037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1068" y="4721109"/>
              <a:ext cx="101547" cy="120270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735905" y="4592690"/>
            <a:ext cx="1953895" cy="27432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750" b="1" spc="-40" dirty="0">
                <a:solidFill>
                  <a:srgbClr val="FFFFFF"/>
                </a:solidFill>
                <a:latin typeface="Tahoma"/>
                <a:cs typeface="Tahoma"/>
              </a:rPr>
              <a:t>Multi-</a:t>
            </a:r>
            <a:r>
              <a:rPr sz="750" b="1" spc="-30" dirty="0">
                <a:solidFill>
                  <a:srgbClr val="FFFFFF"/>
                </a:solidFill>
                <a:latin typeface="Tahoma"/>
                <a:cs typeface="Tahoma"/>
              </a:rPr>
              <a:t>Source</a:t>
            </a:r>
            <a:r>
              <a:rPr sz="750" b="1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Tahoma"/>
                <a:cs typeface="Tahoma"/>
              </a:rPr>
              <a:t>Support</a:t>
            </a:r>
            <a:endParaRPr sz="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Accepts</a:t>
            </a:r>
            <a:r>
              <a:rPr sz="6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text,</a:t>
            </a:r>
            <a:r>
              <a:rPr sz="6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URLs,</a:t>
            </a:r>
            <a:r>
              <a:rPr sz="6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6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document</a:t>
            </a:r>
            <a:r>
              <a:rPr sz="6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uploads</a:t>
            </a:r>
            <a:r>
              <a:rPr sz="6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6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analysis.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09574" y="5048249"/>
            <a:ext cx="304800" cy="457200"/>
            <a:chOff x="409574" y="5048249"/>
            <a:chExt cx="304800" cy="457200"/>
          </a:xfrm>
        </p:grpSpPr>
        <p:sp>
          <p:nvSpPr>
            <p:cNvPr id="55" name="object 55"/>
            <p:cNvSpPr/>
            <p:nvPr/>
          </p:nvSpPr>
          <p:spPr>
            <a:xfrm>
              <a:off x="414337" y="5053012"/>
              <a:ext cx="295275" cy="447675"/>
            </a:xfrm>
            <a:custGeom>
              <a:avLst/>
              <a:gdLst/>
              <a:ahLst/>
              <a:cxnLst/>
              <a:rect l="l" t="t" r="r" b="b"/>
              <a:pathLst>
                <a:path w="295275" h="447675">
                  <a:moveTo>
                    <a:pt x="147637" y="447674"/>
                  </a:moveTo>
                  <a:lnTo>
                    <a:pt x="104780" y="441318"/>
                  </a:lnTo>
                  <a:lnTo>
                    <a:pt x="65614" y="422792"/>
                  </a:lnTo>
                  <a:lnTo>
                    <a:pt x="33510" y="393698"/>
                  </a:lnTo>
                  <a:lnTo>
                    <a:pt x="11238" y="356534"/>
                  </a:lnTo>
                  <a:lnTo>
                    <a:pt x="709" y="314508"/>
                  </a:lnTo>
                  <a:lnTo>
                    <a:pt x="0" y="300037"/>
                  </a:lnTo>
                  <a:lnTo>
                    <a:pt x="0" y="147637"/>
                  </a:lnTo>
                  <a:lnTo>
                    <a:pt x="6355" y="104778"/>
                  </a:lnTo>
                  <a:lnTo>
                    <a:pt x="24881" y="65614"/>
                  </a:lnTo>
                  <a:lnTo>
                    <a:pt x="53976" y="33510"/>
                  </a:lnTo>
                  <a:lnTo>
                    <a:pt x="91138" y="11237"/>
                  </a:lnTo>
                  <a:lnTo>
                    <a:pt x="133166" y="709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7" y="8625"/>
                  </a:lnTo>
                  <a:lnTo>
                    <a:pt x="235592" y="29057"/>
                  </a:lnTo>
                  <a:lnTo>
                    <a:pt x="266216" y="59681"/>
                  </a:lnTo>
                  <a:lnTo>
                    <a:pt x="286648" y="97906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300037"/>
                  </a:lnTo>
                  <a:lnTo>
                    <a:pt x="288919" y="342893"/>
                  </a:lnTo>
                  <a:lnTo>
                    <a:pt x="270393" y="382059"/>
                  </a:lnTo>
                  <a:lnTo>
                    <a:pt x="241298" y="414163"/>
                  </a:lnTo>
                  <a:lnTo>
                    <a:pt x="204135" y="436436"/>
                  </a:lnTo>
                  <a:lnTo>
                    <a:pt x="162108" y="446965"/>
                  </a:lnTo>
                  <a:lnTo>
                    <a:pt x="147637" y="447674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4337" y="5053012"/>
              <a:ext cx="295275" cy="447675"/>
            </a:xfrm>
            <a:custGeom>
              <a:avLst/>
              <a:gdLst/>
              <a:ahLst/>
              <a:cxnLst/>
              <a:rect l="l" t="t" r="r" b="b"/>
              <a:pathLst>
                <a:path w="295275" h="447675">
                  <a:moveTo>
                    <a:pt x="0" y="300037"/>
                  </a:moveTo>
                  <a:lnTo>
                    <a:pt x="0" y="147637"/>
                  </a:lnTo>
                  <a:lnTo>
                    <a:pt x="177" y="140384"/>
                  </a:lnTo>
                  <a:lnTo>
                    <a:pt x="8626" y="97906"/>
                  </a:lnTo>
                  <a:lnTo>
                    <a:pt x="29058" y="59681"/>
                  </a:lnTo>
                  <a:lnTo>
                    <a:pt x="59682" y="29057"/>
                  </a:lnTo>
                  <a:lnTo>
                    <a:pt x="97907" y="8625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154890" y="177"/>
                  </a:lnTo>
                  <a:lnTo>
                    <a:pt x="197367" y="8625"/>
                  </a:lnTo>
                  <a:lnTo>
                    <a:pt x="235592" y="29057"/>
                  </a:lnTo>
                  <a:lnTo>
                    <a:pt x="266216" y="59681"/>
                  </a:lnTo>
                  <a:lnTo>
                    <a:pt x="286648" y="97906"/>
                  </a:lnTo>
                  <a:lnTo>
                    <a:pt x="295097" y="140384"/>
                  </a:lnTo>
                  <a:lnTo>
                    <a:pt x="295274" y="147637"/>
                  </a:lnTo>
                  <a:lnTo>
                    <a:pt x="295274" y="300037"/>
                  </a:lnTo>
                  <a:lnTo>
                    <a:pt x="288919" y="342893"/>
                  </a:lnTo>
                  <a:lnTo>
                    <a:pt x="270393" y="382059"/>
                  </a:lnTo>
                  <a:lnTo>
                    <a:pt x="241298" y="414163"/>
                  </a:lnTo>
                  <a:lnTo>
                    <a:pt x="204135" y="436436"/>
                  </a:lnTo>
                  <a:lnTo>
                    <a:pt x="162108" y="446965"/>
                  </a:lnTo>
                  <a:lnTo>
                    <a:pt x="147637" y="447674"/>
                  </a:lnTo>
                  <a:lnTo>
                    <a:pt x="140384" y="447497"/>
                  </a:lnTo>
                  <a:lnTo>
                    <a:pt x="97907" y="439047"/>
                  </a:lnTo>
                  <a:lnTo>
                    <a:pt x="59682" y="418615"/>
                  </a:lnTo>
                  <a:lnTo>
                    <a:pt x="29058" y="387992"/>
                  </a:lnTo>
                  <a:lnTo>
                    <a:pt x="8626" y="349765"/>
                  </a:lnTo>
                  <a:lnTo>
                    <a:pt x="177" y="307290"/>
                  </a:lnTo>
                  <a:lnTo>
                    <a:pt x="0" y="300037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2290" y="5220636"/>
              <a:ext cx="119518" cy="112574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735905" y="5099894"/>
            <a:ext cx="1938020" cy="25272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750" b="1" spc="-35" dirty="0">
                <a:solidFill>
                  <a:srgbClr val="FFFFFF"/>
                </a:solidFill>
                <a:latin typeface="Tahoma"/>
                <a:cs typeface="Tahoma"/>
              </a:rPr>
              <a:t>User-</a:t>
            </a:r>
            <a:r>
              <a:rPr sz="750" b="1" spc="-10" dirty="0">
                <a:solidFill>
                  <a:srgbClr val="FFFFFF"/>
                </a:solidFill>
                <a:latin typeface="Tahoma"/>
                <a:cs typeface="Tahoma"/>
              </a:rPr>
              <a:t>Friendly</a:t>
            </a:r>
            <a:endParaRPr sz="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Simple</a:t>
            </a:r>
            <a:r>
              <a:rPr sz="6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interface</a:t>
            </a:r>
            <a:r>
              <a:rPr sz="6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6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non-technical</a:t>
            </a:r>
            <a:r>
              <a:rPr sz="6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users</a:t>
            </a:r>
            <a:r>
              <a:rPr sz="6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6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verify</a:t>
            </a:r>
            <a:r>
              <a:rPr sz="6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Tahoma"/>
                <a:cs typeface="Tahoma"/>
              </a:rPr>
              <a:t>news.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59" name="object 5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09574" y="5534024"/>
            <a:ext cx="304799" cy="457199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735905" y="5573765"/>
            <a:ext cx="2200275" cy="27432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750" b="1" spc="-40" dirty="0">
                <a:solidFill>
                  <a:srgbClr val="FFFFFF"/>
                </a:solidFill>
                <a:latin typeface="Tahoma"/>
                <a:cs typeface="Tahoma"/>
              </a:rPr>
              <a:t>Proactive</a:t>
            </a:r>
            <a:r>
              <a:rPr sz="75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endParaRPr sz="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Identifies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fake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before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spreads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widely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causes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Tahoma"/>
                <a:cs typeface="Tahoma"/>
              </a:rPr>
              <a:t>harm.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9124" y="714374"/>
            <a:ext cx="1190625" cy="209550"/>
            <a:chOff x="619124" y="714374"/>
            <a:chExt cx="1190625" cy="209550"/>
          </a:xfrm>
        </p:grpSpPr>
        <p:sp>
          <p:nvSpPr>
            <p:cNvPr id="3" name="object 3"/>
            <p:cNvSpPr/>
            <p:nvPr/>
          </p:nvSpPr>
          <p:spPr>
            <a:xfrm>
              <a:off x="623887" y="719137"/>
              <a:ext cx="1181100" cy="200025"/>
            </a:xfrm>
            <a:custGeom>
              <a:avLst/>
              <a:gdLst/>
              <a:ahLst/>
              <a:cxnLst/>
              <a:rect l="l" t="t" r="r" b="b"/>
              <a:pathLst>
                <a:path w="1181100" h="200025">
                  <a:moveTo>
                    <a:pt x="0" y="172535"/>
                  </a:moveTo>
                  <a:lnTo>
                    <a:pt x="0" y="27489"/>
                  </a:lnTo>
                  <a:lnTo>
                    <a:pt x="0" y="23844"/>
                  </a:lnTo>
                  <a:lnTo>
                    <a:pt x="697" y="20337"/>
                  </a:lnTo>
                  <a:lnTo>
                    <a:pt x="2092" y="16969"/>
                  </a:lnTo>
                  <a:lnTo>
                    <a:pt x="3487" y="13601"/>
                  </a:lnTo>
                  <a:lnTo>
                    <a:pt x="5473" y="10629"/>
                  </a:lnTo>
                  <a:lnTo>
                    <a:pt x="8051" y="8051"/>
                  </a:lnTo>
                  <a:lnTo>
                    <a:pt x="10629" y="5473"/>
                  </a:lnTo>
                  <a:lnTo>
                    <a:pt x="13601" y="3487"/>
                  </a:lnTo>
                  <a:lnTo>
                    <a:pt x="16969" y="2092"/>
                  </a:lnTo>
                  <a:lnTo>
                    <a:pt x="20337" y="697"/>
                  </a:lnTo>
                  <a:lnTo>
                    <a:pt x="23844" y="0"/>
                  </a:lnTo>
                  <a:lnTo>
                    <a:pt x="27489" y="0"/>
                  </a:lnTo>
                  <a:lnTo>
                    <a:pt x="1153610" y="0"/>
                  </a:lnTo>
                  <a:lnTo>
                    <a:pt x="1157255" y="0"/>
                  </a:lnTo>
                  <a:lnTo>
                    <a:pt x="1160762" y="697"/>
                  </a:lnTo>
                  <a:lnTo>
                    <a:pt x="1179007" y="16969"/>
                  </a:lnTo>
                  <a:lnTo>
                    <a:pt x="1180402" y="20337"/>
                  </a:lnTo>
                  <a:lnTo>
                    <a:pt x="1181099" y="23844"/>
                  </a:lnTo>
                  <a:lnTo>
                    <a:pt x="1181099" y="27489"/>
                  </a:lnTo>
                  <a:lnTo>
                    <a:pt x="1181099" y="172535"/>
                  </a:lnTo>
                  <a:lnTo>
                    <a:pt x="1181099" y="176180"/>
                  </a:lnTo>
                  <a:lnTo>
                    <a:pt x="1180402" y="179687"/>
                  </a:lnTo>
                  <a:lnTo>
                    <a:pt x="1179007" y="183055"/>
                  </a:lnTo>
                  <a:lnTo>
                    <a:pt x="1177612" y="186422"/>
                  </a:lnTo>
                  <a:lnTo>
                    <a:pt x="1164130" y="197932"/>
                  </a:lnTo>
                  <a:lnTo>
                    <a:pt x="1160762" y="199327"/>
                  </a:lnTo>
                  <a:lnTo>
                    <a:pt x="1157255" y="200024"/>
                  </a:lnTo>
                  <a:lnTo>
                    <a:pt x="1153610" y="200024"/>
                  </a:lnTo>
                  <a:lnTo>
                    <a:pt x="27489" y="200024"/>
                  </a:lnTo>
                  <a:lnTo>
                    <a:pt x="23844" y="200024"/>
                  </a:lnTo>
                  <a:lnTo>
                    <a:pt x="20337" y="199327"/>
                  </a:lnTo>
                  <a:lnTo>
                    <a:pt x="16969" y="197932"/>
                  </a:lnTo>
                  <a:lnTo>
                    <a:pt x="13601" y="196537"/>
                  </a:lnTo>
                  <a:lnTo>
                    <a:pt x="10629" y="194551"/>
                  </a:lnTo>
                  <a:lnTo>
                    <a:pt x="8051" y="191973"/>
                  </a:lnTo>
                  <a:lnTo>
                    <a:pt x="5473" y="189395"/>
                  </a:lnTo>
                  <a:lnTo>
                    <a:pt x="3487" y="186422"/>
                  </a:lnTo>
                  <a:lnTo>
                    <a:pt x="2092" y="183055"/>
                  </a:lnTo>
                  <a:lnTo>
                    <a:pt x="697" y="179687"/>
                  </a:lnTo>
                  <a:lnTo>
                    <a:pt x="0" y="176180"/>
                  </a:lnTo>
                  <a:lnTo>
                    <a:pt x="0" y="172535"/>
                  </a:lnTo>
                  <a:close/>
                </a:path>
              </a:pathLst>
            </a:custGeom>
            <a:ln w="9524">
              <a:solidFill>
                <a:srgbClr val="494F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284" y="776645"/>
              <a:ext cx="96205" cy="81883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24160" y="742918"/>
            <a:ext cx="925194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spc="20" dirty="0">
                <a:solidFill>
                  <a:srgbClr val="494FBC"/>
                </a:solidFill>
                <a:latin typeface="Tahoma"/>
                <a:cs typeface="Tahoma"/>
              </a:rPr>
              <a:t>ACADEMIC</a:t>
            </a:r>
            <a:r>
              <a:rPr sz="700" spc="90" dirty="0">
                <a:solidFill>
                  <a:srgbClr val="494FBC"/>
                </a:solidFill>
                <a:latin typeface="Tahoma"/>
                <a:cs typeface="Tahoma"/>
              </a:rPr>
              <a:t> </a:t>
            </a:r>
            <a:r>
              <a:rPr sz="700" spc="40" dirty="0">
                <a:solidFill>
                  <a:srgbClr val="494FBC"/>
                </a:solidFill>
                <a:latin typeface="Tahoma"/>
                <a:cs typeface="Tahoma"/>
              </a:rPr>
              <a:t>PROJECT</a:t>
            </a:r>
            <a:endParaRPr sz="7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74814" y="928084"/>
            <a:ext cx="4089400" cy="371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-125" dirty="0"/>
              <a:t>Future</a:t>
            </a:r>
            <a:r>
              <a:rPr sz="2250" spc="-235" dirty="0"/>
              <a:t> </a:t>
            </a:r>
            <a:r>
              <a:rPr sz="2250" spc="-20" dirty="0"/>
              <a:t>Scope</a:t>
            </a:r>
            <a:r>
              <a:rPr sz="2250" spc="-229" dirty="0"/>
              <a:t> </a:t>
            </a:r>
            <a:r>
              <a:rPr sz="2250" spc="360" dirty="0"/>
              <a:t>s</a:t>
            </a:r>
            <a:r>
              <a:rPr sz="2250" spc="-229" dirty="0"/>
              <a:t> </a:t>
            </a:r>
            <a:r>
              <a:rPr sz="2250" spc="-65" dirty="0"/>
              <a:t>Enhancements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346499" y="1415002"/>
            <a:ext cx="47396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Charting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path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45" dirty="0">
                <a:solidFill>
                  <a:srgbClr val="FFFFFF"/>
                </a:solidFill>
                <a:latin typeface="Tahoma"/>
                <a:cs typeface="Tahoma"/>
              </a:rPr>
              <a:t>continuous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innovation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misinformation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detection.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9124" y="1762346"/>
            <a:ext cx="10191750" cy="19050"/>
            <a:chOff x="619124" y="1762346"/>
            <a:chExt cx="10191750" cy="19050"/>
          </a:xfrm>
        </p:grpSpPr>
        <p:sp>
          <p:nvSpPr>
            <p:cNvPr id="9" name="object 9"/>
            <p:cNvSpPr/>
            <p:nvPr/>
          </p:nvSpPr>
          <p:spPr>
            <a:xfrm>
              <a:off x="619124" y="1762346"/>
              <a:ext cx="10191750" cy="19050"/>
            </a:xfrm>
            <a:custGeom>
              <a:avLst/>
              <a:gdLst/>
              <a:ahLst/>
              <a:cxnLst/>
              <a:rect l="l" t="t" r="r" b="b"/>
              <a:pathLst>
                <a:path w="10191750" h="19050">
                  <a:moveTo>
                    <a:pt x="1019174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0191749" y="0"/>
                  </a:lnTo>
                  <a:lnTo>
                    <a:pt x="10191749" y="19049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9124" y="1771871"/>
              <a:ext cx="10191750" cy="9525"/>
            </a:xfrm>
            <a:custGeom>
              <a:avLst/>
              <a:gdLst/>
              <a:ahLst/>
              <a:cxnLst/>
              <a:rect l="l" t="t" r="r" b="b"/>
              <a:pathLst>
                <a:path w="10191750" h="9525">
                  <a:moveTo>
                    <a:pt x="101917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0191749" y="0"/>
                  </a:lnTo>
                  <a:lnTo>
                    <a:pt x="10191749" y="9524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372" y="1861800"/>
            <a:ext cx="237696" cy="24043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07466" y="2097384"/>
            <a:ext cx="3234055" cy="61531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100" b="1" spc="-40" dirty="0">
                <a:solidFill>
                  <a:srgbClr val="FFFFFF"/>
                </a:solidFill>
                <a:latin typeface="Tahoma"/>
                <a:cs typeface="Tahoma"/>
              </a:rPr>
              <a:t>Multi-</a:t>
            </a:r>
            <a:r>
              <a:rPr sz="1100" b="1" spc="-35" dirty="0">
                <a:solidFill>
                  <a:srgbClr val="FFFFFF"/>
                </a:solidFill>
                <a:latin typeface="Tahoma"/>
                <a:cs typeface="Tahoma"/>
              </a:rPr>
              <a:t>language</a:t>
            </a:r>
            <a:r>
              <a:rPr sz="11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Support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1100"/>
              </a:lnSpc>
              <a:spcBef>
                <a:spcPts val="335"/>
              </a:spcBef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Extend</a:t>
            </a:r>
            <a:r>
              <a:rPr sz="9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9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detect</a:t>
            </a:r>
            <a:r>
              <a:rPr sz="9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fake</a:t>
            </a:r>
            <a:r>
              <a:rPr sz="9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9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9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multiple</a:t>
            </a:r>
            <a:r>
              <a:rPr sz="9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languages,</a:t>
            </a:r>
            <a:r>
              <a:rPr sz="9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broadening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global</a:t>
            </a:r>
            <a:r>
              <a:rPr sz="9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reach.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43026" y="1885053"/>
            <a:ext cx="240434" cy="19393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035127" y="2097384"/>
            <a:ext cx="3115310" cy="61531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100" b="1" spc="-75" dirty="0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r>
              <a:rPr sz="110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19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1100" b="1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Video</a:t>
            </a:r>
            <a:r>
              <a:rPr sz="110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1100"/>
              </a:lnSpc>
              <a:spcBef>
                <a:spcPts val="335"/>
              </a:spcBef>
            </a:pP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Detect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manipulated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images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deepfakes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using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advanced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visual</a:t>
            </a:r>
            <a:r>
              <a:rPr sz="9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analysis.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72024" y="1862998"/>
            <a:ext cx="240436" cy="23815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462787" y="2097384"/>
            <a:ext cx="3155315" cy="61531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100" b="1" spc="-25" dirty="0">
                <a:solidFill>
                  <a:srgbClr val="FFFFFF"/>
                </a:solidFill>
                <a:latin typeface="Tahoma"/>
                <a:cs typeface="Tahoma"/>
              </a:rPr>
              <a:t>Social</a:t>
            </a:r>
            <a:r>
              <a:rPr sz="11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Tahoma"/>
                <a:cs typeface="Tahoma"/>
              </a:rPr>
              <a:t>Media</a:t>
            </a:r>
            <a:r>
              <a:rPr sz="11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Integration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1100"/>
              </a:lnSpc>
              <a:spcBef>
                <a:spcPts val="335"/>
              </a:spcBef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Real-time</a:t>
            </a:r>
            <a:r>
              <a:rPr sz="9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monitoring</a:t>
            </a:r>
            <a:r>
              <a:rPr sz="9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9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social</a:t>
            </a:r>
            <a:r>
              <a:rPr sz="9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media</a:t>
            </a:r>
            <a:r>
              <a:rPr sz="9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platforms</a:t>
            </a:r>
            <a:r>
              <a:rPr sz="9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9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emerging narratives.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4016" y="2872857"/>
            <a:ext cx="240454" cy="21857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07466" y="3085605"/>
            <a:ext cx="3303270" cy="6369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100" b="1" spc="-30" dirty="0">
                <a:solidFill>
                  <a:srgbClr val="FFFFFF"/>
                </a:solidFill>
                <a:latin typeface="Tahoma"/>
                <a:cs typeface="Tahoma"/>
              </a:rPr>
              <a:t>Blockchain</a:t>
            </a:r>
            <a:r>
              <a:rPr sz="110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Integration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1100"/>
              </a:lnSpc>
              <a:spcBef>
                <a:spcPts val="414"/>
              </a:spcBef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Implement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immutable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record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verification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enhanced transparency.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87084" y="2861925"/>
            <a:ext cx="152097" cy="24043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035127" y="3085605"/>
            <a:ext cx="3126105" cy="6369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100" b="1" spc="-30" dirty="0">
                <a:solidFill>
                  <a:srgbClr val="FFFFFF"/>
                </a:solidFill>
                <a:latin typeface="Tahoma"/>
                <a:cs typeface="Tahoma"/>
              </a:rPr>
              <a:t>Mobile</a:t>
            </a:r>
            <a:r>
              <a:rPr sz="11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Tahoma"/>
                <a:cs typeface="Tahoma"/>
              </a:rPr>
              <a:t>App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1100"/>
              </a:lnSpc>
              <a:spcBef>
                <a:spcPts val="414"/>
              </a:spcBef>
            </a:pP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Develop</a:t>
            </a:r>
            <a:r>
              <a:rPr sz="9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dedicated</a:t>
            </a:r>
            <a:r>
              <a:rPr sz="9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mobile</a:t>
            </a:r>
            <a:r>
              <a:rPr sz="9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9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9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on-the-go</a:t>
            </a:r>
            <a:r>
              <a:rPr sz="9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news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verification.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72026" y="2868909"/>
            <a:ext cx="240434" cy="226467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462787" y="3085605"/>
            <a:ext cx="2814320" cy="6369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100" b="1" spc="-70" dirty="0">
                <a:solidFill>
                  <a:srgbClr val="FFFFFF"/>
                </a:solidFill>
                <a:latin typeface="Tahoma"/>
                <a:cs typeface="Tahoma"/>
              </a:rPr>
              <a:t>API</a:t>
            </a:r>
            <a:r>
              <a:rPr sz="110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Integration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1100"/>
              </a:lnSpc>
              <a:spcBef>
                <a:spcPts val="414"/>
              </a:spcBef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Provide</a:t>
            </a:r>
            <a:r>
              <a:rPr sz="9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robust</a:t>
            </a:r>
            <a:r>
              <a:rPr sz="9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API</a:t>
            </a:r>
            <a:r>
              <a:rPr sz="9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9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third-party</a:t>
            </a:r>
            <a:r>
              <a:rPr sz="9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platforms</a:t>
            </a:r>
            <a:r>
              <a:rPr sz="9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9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news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organizations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integrate.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3474" y="3870745"/>
            <a:ext cx="241538" cy="222963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07466" y="4085730"/>
            <a:ext cx="3283585" cy="6369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Advanced</a:t>
            </a:r>
            <a:r>
              <a:rPr sz="11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Tahoma"/>
                <a:cs typeface="Tahoma"/>
              </a:rPr>
              <a:t>NLP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1100"/>
              </a:lnSpc>
              <a:spcBef>
                <a:spcPts val="414"/>
              </a:spcBef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Incorporate</a:t>
            </a:r>
            <a:r>
              <a:rPr sz="9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9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latest</a:t>
            </a:r>
            <a:r>
              <a:rPr sz="9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transformer</a:t>
            </a:r>
            <a:r>
              <a:rPr sz="9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models</a:t>
            </a:r>
            <a:r>
              <a:rPr sz="9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9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deeper</a:t>
            </a:r>
            <a:r>
              <a:rPr sz="9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language understanding.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60410" y="3861972"/>
            <a:ext cx="205665" cy="240515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4035127" y="4085730"/>
            <a:ext cx="3237230" cy="6369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100" b="1" spc="-45" dirty="0">
                <a:solidFill>
                  <a:srgbClr val="FFFFFF"/>
                </a:solidFill>
                <a:latin typeface="Tahoma"/>
                <a:cs typeface="Tahoma"/>
              </a:rPr>
              <a:t>Sentiment</a:t>
            </a:r>
            <a:r>
              <a:rPr sz="11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1100"/>
              </a:lnSpc>
              <a:spcBef>
                <a:spcPts val="414"/>
              </a:spcBef>
            </a:pP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Analyze</a:t>
            </a:r>
            <a:r>
              <a:rPr sz="9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emotional</a:t>
            </a:r>
            <a:r>
              <a:rPr sz="9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manipulation</a:t>
            </a:r>
            <a:r>
              <a:rPr sz="9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9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persuasive</a:t>
            </a:r>
            <a:r>
              <a:rPr sz="9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techniques</a:t>
            </a:r>
            <a:r>
              <a:rPr sz="9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Tahoma"/>
                <a:cs typeface="Tahoma"/>
              </a:rPr>
              <a:t>in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fake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news.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72183" y="3862091"/>
            <a:ext cx="240246" cy="240354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7462787" y="4085730"/>
            <a:ext cx="2764790" cy="6369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Source</a:t>
            </a:r>
            <a:r>
              <a:rPr sz="1100" b="1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Credibility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1100"/>
              </a:lnSpc>
              <a:spcBef>
                <a:spcPts val="414"/>
              </a:spcBef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Evaluate</a:t>
            </a:r>
            <a:r>
              <a:rPr sz="9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source</a:t>
            </a:r>
            <a:r>
              <a:rPr sz="900" spc="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reliability</a:t>
            </a:r>
            <a:r>
              <a:rPr sz="9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900" spc="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historical</a:t>
            </a:r>
            <a:r>
              <a:rPr sz="900" spc="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accuracy</a:t>
            </a:r>
            <a:r>
              <a:rPr sz="9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Tahoma"/>
                <a:cs typeface="Tahoma"/>
              </a:rPr>
              <a:t>for 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comprehensive</a:t>
            </a:r>
            <a:r>
              <a:rPr sz="9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context.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14068" y="4862332"/>
            <a:ext cx="240508" cy="240121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607466" y="5085855"/>
            <a:ext cx="3350260" cy="6369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100" b="1" spc="-35" dirty="0">
                <a:solidFill>
                  <a:srgbClr val="FFFFFF"/>
                </a:solidFill>
                <a:latin typeface="Tahoma"/>
                <a:cs typeface="Tahoma"/>
              </a:rPr>
              <a:t>Community</a:t>
            </a:r>
            <a:r>
              <a:rPr sz="11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Feedback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1100"/>
              </a:lnSpc>
              <a:spcBef>
                <a:spcPts val="414"/>
              </a:spcBef>
            </a:pP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Integrate</a:t>
            </a:r>
            <a:r>
              <a:rPr sz="9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900" spc="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feedback</a:t>
            </a:r>
            <a:r>
              <a:rPr sz="9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900" spc="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continuous</a:t>
            </a:r>
            <a:r>
              <a:rPr sz="900" spc="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improvement</a:t>
            </a:r>
            <a:r>
              <a:rPr sz="9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900" spc="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model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refinement.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01262"/>
            <a:ext cx="11296650" cy="38100"/>
          </a:xfrm>
          <a:custGeom>
            <a:avLst/>
            <a:gdLst/>
            <a:ahLst/>
            <a:cxnLst/>
            <a:rect l="l" t="t" r="r" b="b"/>
            <a:pathLst>
              <a:path w="11296650" h="38100">
                <a:moveTo>
                  <a:pt x="0" y="37654"/>
                </a:moveTo>
                <a:lnTo>
                  <a:pt x="11296346" y="37654"/>
                </a:lnTo>
                <a:lnTo>
                  <a:pt x="11296346" y="0"/>
                </a:lnTo>
                <a:lnTo>
                  <a:pt x="0" y="0"/>
                </a:lnTo>
                <a:lnTo>
                  <a:pt x="0" y="37654"/>
                </a:lnTo>
                <a:close/>
              </a:path>
            </a:pathLst>
          </a:custGeom>
          <a:solidFill>
            <a:srgbClr val="F5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1296650" cy="6401435"/>
            <a:chOff x="0" y="0"/>
            <a:chExt cx="11296650" cy="640143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1296650" cy="47625"/>
            </a:xfrm>
            <a:custGeom>
              <a:avLst/>
              <a:gdLst/>
              <a:ahLst/>
              <a:cxnLst/>
              <a:rect l="l" t="t" r="r" b="b"/>
              <a:pathLst>
                <a:path w="11296650" h="47625">
                  <a:moveTo>
                    <a:pt x="0" y="47068"/>
                  </a:moveTo>
                  <a:lnTo>
                    <a:pt x="11296346" y="47068"/>
                  </a:lnTo>
                  <a:lnTo>
                    <a:pt x="11296346" y="0"/>
                  </a:lnTo>
                  <a:lnTo>
                    <a:pt x="0" y="0"/>
                  </a:lnTo>
                  <a:lnTo>
                    <a:pt x="0" y="47068"/>
                  </a:lnTo>
                  <a:close/>
                </a:path>
              </a:pathLst>
            </a:custGeom>
            <a:solidFill>
              <a:srgbClr val="F5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7068"/>
              <a:ext cx="11296650" cy="6354445"/>
            </a:xfrm>
            <a:custGeom>
              <a:avLst/>
              <a:gdLst/>
              <a:ahLst/>
              <a:cxnLst/>
              <a:rect l="l" t="t" r="r" b="b"/>
              <a:pathLst>
                <a:path w="11296650" h="6354445">
                  <a:moveTo>
                    <a:pt x="11296346" y="6354194"/>
                  </a:moveTo>
                  <a:lnTo>
                    <a:pt x="0" y="6354194"/>
                  </a:lnTo>
                  <a:lnTo>
                    <a:pt x="0" y="0"/>
                  </a:lnTo>
                  <a:lnTo>
                    <a:pt x="11296346" y="0"/>
                  </a:lnTo>
                  <a:lnTo>
                    <a:pt x="11296346" y="63541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7749" y="758383"/>
              <a:ext cx="68580" cy="57785"/>
            </a:xfrm>
            <a:custGeom>
              <a:avLst/>
              <a:gdLst/>
              <a:ahLst/>
              <a:cxnLst/>
              <a:rect l="l" t="t" r="r" b="b"/>
              <a:pathLst>
                <a:path w="68579" h="57784">
                  <a:moveTo>
                    <a:pt x="62607" y="57479"/>
                  </a:moveTo>
                  <a:lnTo>
                    <a:pt x="68095" y="51414"/>
                  </a:lnTo>
                  <a:lnTo>
                    <a:pt x="68101" y="49274"/>
                  </a:lnTo>
                </a:path>
                <a:path w="68579" h="57784">
                  <a:moveTo>
                    <a:pt x="59129" y="3628"/>
                  </a:moveTo>
                  <a:lnTo>
                    <a:pt x="55420" y="1"/>
                  </a:lnTo>
                  <a:lnTo>
                    <a:pt x="54548" y="0"/>
                  </a:lnTo>
                </a:path>
                <a:path w="68579" h="57784">
                  <a:moveTo>
                    <a:pt x="3924" y="0"/>
                  </a:moveTo>
                  <a:lnTo>
                    <a:pt x="57" y="2330"/>
                  </a:lnTo>
                  <a:lnTo>
                    <a:pt x="0" y="2756"/>
                  </a:lnTo>
                </a:path>
                <a:path w="68579" h="57784">
                  <a:moveTo>
                    <a:pt x="2" y="42067"/>
                  </a:moveTo>
                  <a:lnTo>
                    <a:pt x="10254" y="57504"/>
                  </a:lnTo>
                  <a:lnTo>
                    <a:pt x="14362" y="57514"/>
                  </a:lnTo>
                </a:path>
                <a:path w="68579" h="57784">
                  <a:moveTo>
                    <a:pt x="62631" y="57446"/>
                  </a:moveTo>
                  <a:lnTo>
                    <a:pt x="59975" y="55522"/>
                  </a:lnTo>
                  <a:lnTo>
                    <a:pt x="58829" y="52930"/>
                  </a:lnTo>
                  <a:lnTo>
                    <a:pt x="59191" y="49671"/>
                  </a:lnTo>
                </a:path>
                <a:path w="68579" h="57784">
                  <a:moveTo>
                    <a:pt x="31187" y="31790"/>
                  </a:moveTo>
                  <a:lnTo>
                    <a:pt x="31144" y="8859"/>
                  </a:lnTo>
                </a:path>
                <a:path w="68579" h="57784">
                  <a:moveTo>
                    <a:pt x="31187" y="31790"/>
                  </a:moveTo>
                  <a:lnTo>
                    <a:pt x="8109" y="31636"/>
                  </a:lnTo>
                </a:path>
                <a:path w="68579" h="57784">
                  <a:moveTo>
                    <a:pt x="8143" y="8762"/>
                  </a:moveTo>
                  <a:lnTo>
                    <a:pt x="8109" y="31636"/>
                  </a:lnTo>
                </a:path>
                <a:path w="68579" h="57784">
                  <a:moveTo>
                    <a:pt x="37084" y="17906"/>
                  </a:moveTo>
                  <a:lnTo>
                    <a:pt x="51099" y="17958"/>
                  </a:lnTo>
                </a:path>
                <a:path w="68579" h="57784">
                  <a:moveTo>
                    <a:pt x="37084" y="27198"/>
                  </a:moveTo>
                  <a:lnTo>
                    <a:pt x="51091" y="27278"/>
                  </a:lnTo>
                </a:path>
                <a:path w="68579" h="57784">
                  <a:moveTo>
                    <a:pt x="0" y="2756"/>
                  </a:moveTo>
                  <a:lnTo>
                    <a:pt x="2" y="42067"/>
                  </a:lnTo>
                </a:path>
                <a:path w="68579" h="57784">
                  <a:moveTo>
                    <a:pt x="8374" y="39314"/>
                  </a:moveTo>
                  <a:lnTo>
                    <a:pt x="51091" y="39353"/>
                  </a:lnTo>
                </a:path>
                <a:path w="68579" h="57784">
                  <a:moveTo>
                    <a:pt x="8255" y="47523"/>
                  </a:moveTo>
                  <a:lnTo>
                    <a:pt x="51091" y="47547"/>
                  </a:lnTo>
                </a:path>
                <a:path w="68579" h="57784">
                  <a:moveTo>
                    <a:pt x="59150" y="49666"/>
                  </a:moveTo>
                  <a:lnTo>
                    <a:pt x="59129" y="3628"/>
                  </a:lnTo>
                </a:path>
                <a:path w="68579" h="57784">
                  <a:moveTo>
                    <a:pt x="14362" y="57514"/>
                  </a:moveTo>
                  <a:lnTo>
                    <a:pt x="62473" y="57504"/>
                  </a:lnTo>
                </a:path>
                <a:path w="68579" h="57784">
                  <a:moveTo>
                    <a:pt x="68101" y="49274"/>
                  </a:moveTo>
                  <a:lnTo>
                    <a:pt x="68099" y="11891"/>
                  </a:lnTo>
                </a:path>
              </a:pathLst>
            </a:custGeom>
            <a:ln w="3175">
              <a:solidFill>
                <a:srgbClr val="494F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65974" y="720141"/>
            <a:ext cx="875665" cy="141605"/>
          </a:xfrm>
          <a:prstGeom prst="rect">
            <a:avLst/>
          </a:prstGeom>
          <a:ln w="15021">
            <a:solidFill>
              <a:srgbClr val="494FBC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30"/>
              </a:spcBef>
            </a:pPr>
            <a:r>
              <a:rPr sz="500" spc="30" dirty="0">
                <a:solidFill>
                  <a:srgbClr val="494FBC"/>
                </a:solidFill>
                <a:latin typeface="Tahoma"/>
                <a:cs typeface="Tahoma"/>
              </a:rPr>
              <a:t>ACADEMIC</a:t>
            </a:r>
            <a:r>
              <a:rPr sz="500" spc="40" dirty="0">
                <a:solidFill>
                  <a:srgbClr val="494FBC"/>
                </a:solidFill>
                <a:latin typeface="Tahoma"/>
                <a:cs typeface="Tahoma"/>
              </a:rPr>
              <a:t> PROJECT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784" rIns="0" bIns="0" rtlCol="0">
            <a:spAutoFit/>
          </a:bodyPr>
          <a:lstStyle/>
          <a:p>
            <a:pPr marL="387985">
              <a:lnSpc>
                <a:spcPct val="100000"/>
              </a:lnSpc>
              <a:spcBef>
                <a:spcPts val="125"/>
              </a:spcBef>
            </a:pPr>
            <a:r>
              <a:rPr spc="-20" dirty="0"/>
              <a:t>Conclusion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461267" y="1423927"/>
            <a:ext cx="10373995" cy="19050"/>
            <a:chOff x="461267" y="1423927"/>
            <a:chExt cx="10373995" cy="19050"/>
          </a:xfrm>
        </p:grpSpPr>
        <p:sp>
          <p:nvSpPr>
            <p:cNvPr id="10" name="object 10"/>
            <p:cNvSpPr/>
            <p:nvPr/>
          </p:nvSpPr>
          <p:spPr>
            <a:xfrm>
              <a:off x="461267" y="1423927"/>
              <a:ext cx="10373995" cy="19050"/>
            </a:xfrm>
            <a:custGeom>
              <a:avLst/>
              <a:gdLst/>
              <a:ahLst/>
              <a:cxnLst/>
              <a:rect l="l" t="t" r="r" b="b"/>
              <a:pathLst>
                <a:path w="10373995" h="19050">
                  <a:moveTo>
                    <a:pt x="10373811" y="18827"/>
                  </a:moveTo>
                  <a:lnTo>
                    <a:pt x="0" y="18827"/>
                  </a:lnTo>
                  <a:lnTo>
                    <a:pt x="0" y="0"/>
                  </a:lnTo>
                  <a:lnTo>
                    <a:pt x="10373811" y="0"/>
                  </a:lnTo>
                  <a:lnTo>
                    <a:pt x="10373811" y="18827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1267" y="1433341"/>
              <a:ext cx="10373995" cy="9525"/>
            </a:xfrm>
            <a:custGeom>
              <a:avLst/>
              <a:gdLst/>
              <a:ahLst/>
              <a:cxnLst/>
              <a:rect l="l" t="t" r="r" b="b"/>
              <a:pathLst>
                <a:path w="10373995" h="9525">
                  <a:moveTo>
                    <a:pt x="10373811" y="9413"/>
                  </a:moveTo>
                  <a:lnTo>
                    <a:pt x="0" y="9413"/>
                  </a:lnTo>
                  <a:lnTo>
                    <a:pt x="0" y="0"/>
                  </a:lnTo>
                  <a:lnTo>
                    <a:pt x="10373811" y="0"/>
                  </a:lnTo>
                  <a:lnTo>
                    <a:pt x="10373811" y="9413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13070" y="1179911"/>
            <a:ext cx="7397750" cy="4972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86610">
              <a:lnSpc>
                <a:spcPct val="100000"/>
              </a:lnSpc>
              <a:spcBef>
                <a:spcPts val="135"/>
              </a:spcBef>
            </a:pPr>
            <a:r>
              <a:rPr sz="800" spc="30" dirty="0">
                <a:solidFill>
                  <a:srgbClr val="FFFFFF"/>
                </a:solidFill>
                <a:latin typeface="Tahoma"/>
                <a:cs typeface="Tahoma"/>
              </a:rPr>
              <a:t>Our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30" dirty="0">
                <a:solidFill>
                  <a:srgbClr val="FFFFFF"/>
                </a:solidFill>
                <a:latin typeface="Tahoma"/>
                <a:cs typeface="Tahoma"/>
              </a:rPr>
              <a:t>Fake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60" dirty="0">
                <a:solidFill>
                  <a:srgbClr val="FFFFFF"/>
                </a:solidFill>
                <a:latin typeface="Tahoma"/>
                <a:cs typeface="Tahoma"/>
              </a:rPr>
              <a:t>News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30" dirty="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30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30" dirty="0">
                <a:solidFill>
                  <a:srgbClr val="FFFFFF"/>
                </a:solidFill>
                <a:latin typeface="Tahoma"/>
                <a:cs typeface="Tahoma"/>
              </a:rPr>
              <a:t>offers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30" dirty="0">
                <a:solidFill>
                  <a:srgbClr val="FFFFFF"/>
                </a:solidFill>
                <a:latin typeface="Tahoma"/>
                <a:cs typeface="Tahoma"/>
              </a:rPr>
              <a:t>powerful</a:t>
            </a:r>
            <a:r>
              <a:rPr sz="8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3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30" dirty="0">
                <a:solidFill>
                  <a:srgbClr val="FFFFFF"/>
                </a:solidFill>
                <a:latin typeface="Tahoma"/>
                <a:cs typeface="Tahoma"/>
              </a:rPr>
              <a:t>comprehensive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30" dirty="0">
                <a:solidFill>
                  <a:srgbClr val="FFFFFF"/>
                </a:solidFill>
                <a:latin typeface="Tahoma"/>
                <a:cs typeface="Tahoma"/>
              </a:rPr>
              <a:t>solution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30" dirty="0">
                <a:solidFill>
                  <a:srgbClr val="FFFFFF"/>
                </a:solidFill>
                <a:latin typeface="Tahoma"/>
                <a:cs typeface="Tahoma"/>
              </a:rPr>
              <a:t>critical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30" dirty="0">
                <a:solidFill>
                  <a:srgbClr val="FFFFFF"/>
                </a:solidFill>
                <a:latin typeface="Tahoma"/>
                <a:cs typeface="Tahoma"/>
              </a:rPr>
              <a:t>global</a:t>
            </a:r>
            <a:r>
              <a:rPr sz="8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challenge.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Fake news</a:t>
            </a:r>
            <a:r>
              <a:rPr sz="6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6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a critical</a:t>
            </a:r>
            <a:r>
              <a:rPr sz="6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challenge</a:t>
            </a:r>
            <a:r>
              <a:rPr sz="6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in the</a:t>
            </a:r>
            <a:r>
              <a:rPr sz="6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digital</a:t>
            </a:r>
            <a:r>
              <a:rPr sz="6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-20" dirty="0">
                <a:solidFill>
                  <a:srgbClr val="FFFFFF"/>
                </a:solidFill>
                <a:latin typeface="Tahoma"/>
                <a:cs typeface="Tahoma"/>
              </a:rPr>
              <a:t>age.</a:t>
            </a:r>
            <a:endParaRPr sz="6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3070" y="2067333"/>
            <a:ext cx="2862580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Automated</a:t>
            </a:r>
            <a:r>
              <a:rPr sz="65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systems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essential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combating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misinformation.</a:t>
            </a:r>
            <a:endParaRPr sz="6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3070" y="2575669"/>
            <a:ext cx="278955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Our</a:t>
            </a:r>
            <a:r>
              <a:rPr sz="650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proposed</a:t>
            </a:r>
            <a:r>
              <a:rPr sz="650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650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combines</a:t>
            </a:r>
            <a:r>
              <a:rPr sz="650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ML,</a:t>
            </a:r>
            <a:r>
              <a:rPr sz="650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NLP,</a:t>
            </a:r>
            <a:r>
              <a:rPr sz="650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650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AI</a:t>
            </a:r>
            <a:r>
              <a:rPr sz="650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650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effective</a:t>
            </a:r>
            <a:r>
              <a:rPr sz="650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detection.</a:t>
            </a:r>
            <a:endParaRPr sz="65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605" y="1484689"/>
            <a:ext cx="431287" cy="409363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13070" y="3084005"/>
            <a:ext cx="3162300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High</a:t>
            </a:r>
            <a:r>
              <a:rPr sz="65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accuracy,</a:t>
            </a:r>
            <a:r>
              <a:rPr sz="65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speed,</a:t>
            </a:r>
            <a:r>
              <a:rPr sz="65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65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scalability</a:t>
            </a:r>
            <a:r>
              <a:rPr sz="65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make</a:t>
            </a:r>
            <a:r>
              <a:rPr sz="65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65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practical</a:t>
            </a:r>
            <a:r>
              <a:rPr sz="65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65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real-world</a:t>
            </a:r>
            <a:r>
              <a:rPr sz="65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deployment.</a:t>
            </a:r>
            <a:endParaRPr sz="6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3070" y="3592340"/>
            <a:ext cx="3302000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Continuous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improvement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adaptation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staying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ahead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evolving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tactics.</a:t>
            </a:r>
            <a:endParaRPr sz="6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3070" y="4110089"/>
            <a:ext cx="250634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Collaboration</a:t>
            </a:r>
            <a:r>
              <a:rPr sz="65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between</a:t>
            </a:r>
            <a:r>
              <a:rPr sz="65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technology, media,</a:t>
            </a:r>
            <a:r>
              <a:rPr sz="65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65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society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65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crucial.</a:t>
            </a:r>
            <a:endParaRPr sz="6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3070" y="4618425"/>
            <a:ext cx="258635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65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65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65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significantly</a:t>
            </a:r>
            <a:r>
              <a:rPr sz="65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reduce</a:t>
            </a:r>
            <a:r>
              <a:rPr sz="65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65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spread</a:t>
            </a:r>
            <a:r>
              <a:rPr sz="65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65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misinformation.</a:t>
            </a:r>
            <a:endParaRPr sz="6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3070" y="5126761"/>
            <a:ext cx="2914015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Future</a:t>
            </a:r>
            <a:r>
              <a:rPr sz="65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enhancements</a:t>
            </a:r>
            <a:r>
              <a:rPr sz="65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65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make</a:t>
            </a:r>
            <a:r>
              <a:rPr sz="65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65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even</a:t>
            </a:r>
            <a:r>
              <a:rPr sz="65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more</a:t>
            </a:r>
            <a:r>
              <a:rPr sz="65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powerful</a:t>
            </a:r>
            <a:r>
              <a:rPr sz="65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65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comprehensive.</a:t>
            </a:r>
            <a:endParaRPr sz="6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50727" y="5606855"/>
            <a:ext cx="6396990" cy="127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leveraging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cutting-edge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technology,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we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foster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more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informed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society</a:t>
            </a:r>
            <a:r>
              <a:rPr sz="6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build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greater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trust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digital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information.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Join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us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6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FFFFFF"/>
                </a:solidFill>
                <a:latin typeface="Tahoma"/>
                <a:cs typeface="Tahoma"/>
              </a:rPr>
              <a:t>fight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50" spc="20" dirty="0">
                <a:solidFill>
                  <a:srgbClr val="FFFFFF"/>
                </a:solidFill>
                <a:latin typeface="Tahoma"/>
                <a:cs typeface="Tahoma"/>
              </a:rPr>
              <a:t>against</a:t>
            </a:r>
            <a:r>
              <a:rPr sz="650" spc="-10" dirty="0">
                <a:solidFill>
                  <a:srgbClr val="FFFFFF"/>
                </a:solidFill>
                <a:latin typeface="Tahoma"/>
                <a:cs typeface="Tahoma"/>
              </a:rPr>
              <a:t> misinformation.</a:t>
            </a:r>
            <a:endParaRPr sz="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1327</Words>
  <Application>Microsoft Office PowerPoint</Application>
  <PresentationFormat>Custom</PresentationFormat>
  <Paragraphs>166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Fake News Detection System</vt:lpstr>
      <vt:lpstr>Introduction</vt:lpstr>
      <vt:lpstr>Problem Statement</vt:lpstr>
      <vt:lpstr>Objectives</vt:lpstr>
      <vt:lpstr>Existing System / Literature Review</vt:lpstr>
      <vt:lpstr>Proposed System</vt:lpstr>
      <vt:lpstr>System Architecture</vt:lpstr>
      <vt:lpstr>Technologies Used</vt:lpstr>
      <vt:lpstr>Working Process</vt:lpstr>
      <vt:lpstr>Key Advantages</vt:lpstr>
      <vt:lpstr>Future Scope s Enhancements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Detection System</dc:title>
  <cp:lastModifiedBy>Dilip</cp:lastModifiedBy>
  <cp:revision>1</cp:revision>
  <dcterms:created xsi:type="dcterms:W3CDTF">2026-03-30T08:09:56Z</dcterms:created>
  <dcterms:modified xsi:type="dcterms:W3CDTF">2026-03-30T08:15:14Z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2026-03-30T00:00:00Z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2026-03-30T00:00:00Z</vt:filetime>
  </property>
  <property fmtid="{D5CDD505-2E9C-101B-9397-08002B2CF9AE}" pid="5" name="Producer">
    <vt:lpwstr>pdf-lib (https://github.com/Hopding/pdf-lib)</vt:lpwstr>
  </property>
</Properties>
</file>